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312" r:id="rId5"/>
    <p:sldId id="259" r:id="rId6"/>
    <p:sldId id="262" r:id="rId7"/>
    <p:sldId id="342" r:id="rId8"/>
    <p:sldId id="346" r:id="rId9"/>
    <p:sldId id="360" r:id="rId10"/>
    <p:sldId id="343" r:id="rId11"/>
    <p:sldId id="344" r:id="rId12"/>
    <p:sldId id="345" r:id="rId13"/>
    <p:sldId id="341" r:id="rId14"/>
    <p:sldId id="347" r:id="rId15"/>
    <p:sldId id="348" r:id="rId16"/>
    <p:sldId id="350" r:id="rId17"/>
    <p:sldId id="349" r:id="rId18"/>
    <p:sldId id="351" r:id="rId19"/>
    <p:sldId id="266" r:id="rId20"/>
    <p:sldId id="338" r:id="rId21"/>
    <p:sldId id="352" r:id="rId22"/>
    <p:sldId id="353" r:id="rId23"/>
    <p:sldId id="354" r:id="rId24"/>
    <p:sldId id="356" r:id="rId25"/>
    <p:sldId id="357" r:id="rId26"/>
    <p:sldId id="358" r:id="rId27"/>
    <p:sldId id="277" r:id="rId28"/>
    <p:sldId id="339" r:id="rId29"/>
    <p:sldId id="359" r:id="rId30"/>
    <p:sldId id="340" r:id="rId31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D92"/>
    <a:srgbClr val="2D2D2D"/>
    <a:srgbClr val="911D22"/>
    <a:srgbClr val="174C97"/>
    <a:srgbClr val="164A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6" autoAdjust="0"/>
    <p:restoredTop sz="94660"/>
  </p:normalViewPr>
  <p:slideViewPr>
    <p:cSldViewPr snapToGrid="0">
      <p:cViewPr varScale="1">
        <p:scale>
          <a:sx n="90" d="100"/>
          <a:sy n="90" d="100"/>
        </p:scale>
        <p:origin x="5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314E2-A75A-45EE-B762-7C579B62090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AC9B3-17F0-4CF5-AE08-AF48CCEFC6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AC9B3-17F0-4CF5-AE08-AF48CCEFC6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327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C8BB-A191-BF80-14AA-01FDC9F5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94C738-24FF-111F-DB9A-F4A27D493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029034-508F-C716-BCFD-EE8BA659F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CD863-5A59-2CDC-887A-1E5AC5422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AC9B3-17F0-4CF5-AE08-AF48CCEFC6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3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6FE46-3282-4FE5-A19D-DA485E7CACE0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1" y="0"/>
            <a:ext cx="3453493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53078" y="240847"/>
            <a:ext cx="3147333" cy="63763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FCE4-2DA6-457D-BA37-68BCE5610346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单独校徽有白底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327660"/>
            <a:ext cx="1569085" cy="15538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1722813" y="6388700"/>
            <a:ext cx="469187" cy="46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DED40751-9FE2-4F1B-9189-005C4FB38AE8}" type="slidenum"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4FF1-20AD-4FFA-80BE-15B41F6C55D2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 descr="单独校徽800白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05" y="22860"/>
            <a:ext cx="734060" cy="734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A4C46-66D2-4D12-A5AE-966D77A87E98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6F79-A950-47CB-BAB9-41DABECD36FC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08882-A0CB-4515-A813-CDD57D0E29B8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DD77-F247-4988-AAC1-3116286C42C1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4038-09A8-4D68-ADB6-953C3996EFED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4D80-E918-445E-B3F0-4942A2195E5B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C68F-8937-4B31-8034-26313EFFB16F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5ADD-6BE2-4253-87C5-A9AF464AD185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3D04-B03C-480C-AA70-A3BDA32E106D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0DA9-7DAE-4470-B04C-75D51F509C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tags" Target="../tags/tag9.xml"/><Relationship Id="rId7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2.xml"/><Relationship Id="rId7" Type="http://schemas.openxmlformats.org/officeDocument/2006/relationships/image" Target="../media/image27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1936377"/>
            <a:ext cx="12192000" cy="28315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67806" y="226679"/>
            <a:ext cx="11695099" cy="640464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987675" y="2464435"/>
            <a:ext cx="6691630" cy="1373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zh-CN" altLang="en-US" sz="4400" i="0" dirty="0">
                <a:solidFill>
                  <a:schemeClr val="bg1"/>
                </a:solidFill>
                <a:effectLst/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电话拨号音合成与识别</a:t>
            </a:r>
          </a:p>
          <a:p>
            <a:pPr algn="ctr">
              <a:lnSpc>
                <a:spcPts val="5000"/>
              </a:lnSpc>
            </a:pPr>
            <a:r>
              <a:rPr lang="en-US" altLang="zh-CN" sz="2800" i="0" dirty="0">
                <a:solidFill>
                  <a:schemeClr val="bg1"/>
                </a:solidFill>
                <a:effectLst/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   </a:t>
            </a:r>
            <a:r>
              <a:rPr lang="zh-CN" altLang="en-US" sz="2800" i="0" dirty="0">
                <a:solidFill>
                  <a:schemeClr val="bg1"/>
                </a:solidFill>
                <a:effectLst/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数字信号处理课设</a:t>
            </a: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931475" y="5133122"/>
            <a:ext cx="6772931" cy="955295"/>
            <a:chOff x="2975670" y="5258853"/>
            <a:chExt cx="6772931" cy="955295"/>
          </a:xfrm>
        </p:grpSpPr>
        <p:sp>
          <p:nvSpPr>
            <p:cNvPr id="3" name="teacher-reading-a-book-sitting-behind-his-desk_42916"/>
            <p:cNvSpPr/>
            <p:nvPr/>
          </p:nvSpPr>
          <p:spPr>
            <a:xfrm>
              <a:off x="3029860" y="5258853"/>
              <a:ext cx="283357" cy="329485"/>
            </a:xfrm>
            <a:custGeom>
              <a:avLst/>
              <a:gdLst>
                <a:gd name="connsiteX0" fmla="*/ 193784 w 523934"/>
                <a:gd name="connsiteY0" fmla="*/ 190536 h 609225"/>
                <a:gd name="connsiteX1" fmla="*/ 193784 w 523934"/>
                <a:gd name="connsiteY1" fmla="*/ 227817 h 609225"/>
                <a:gd name="connsiteX2" fmla="*/ 205267 w 523934"/>
                <a:gd name="connsiteY2" fmla="*/ 227817 h 609225"/>
                <a:gd name="connsiteX3" fmla="*/ 205267 w 523934"/>
                <a:gd name="connsiteY3" fmla="*/ 273700 h 609225"/>
                <a:gd name="connsiteX4" fmla="*/ 193784 w 523934"/>
                <a:gd name="connsiteY4" fmla="*/ 273700 h 609225"/>
                <a:gd name="connsiteX5" fmla="*/ 193784 w 523934"/>
                <a:gd name="connsiteY5" fmla="*/ 283737 h 609225"/>
                <a:gd name="connsiteX6" fmla="*/ 256943 w 523934"/>
                <a:gd name="connsiteY6" fmla="*/ 295208 h 609225"/>
                <a:gd name="connsiteX7" fmla="*/ 320102 w 523934"/>
                <a:gd name="connsiteY7" fmla="*/ 283737 h 609225"/>
                <a:gd name="connsiteX8" fmla="*/ 320102 w 523934"/>
                <a:gd name="connsiteY8" fmla="*/ 273700 h 609225"/>
                <a:gd name="connsiteX9" fmla="*/ 308619 w 523934"/>
                <a:gd name="connsiteY9" fmla="*/ 273700 h 609225"/>
                <a:gd name="connsiteX10" fmla="*/ 308619 w 523934"/>
                <a:gd name="connsiteY10" fmla="*/ 227817 h 609225"/>
                <a:gd name="connsiteX11" fmla="*/ 320102 w 523934"/>
                <a:gd name="connsiteY11" fmla="*/ 227817 h 609225"/>
                <a:gd name="connsiteX12" fmla="*/ 320102 w 523934"/>
                <a:gd name="connsiteY12" fmla="*/ 190536 h 609225"/>
                <a:gd name="connsiteX13" fmla="*/ 256943 w 523934"/>
                <a:gd name="connsiteY13" fmla="*/ 202007 h 609225"/>
                <a:gd name="connsiteX14" fmla="*/ 175123 w 523934"/>
                <a:gd name="connsiteY14" fmla="*/ 167594 h 609225"/>
                <a:gd name="connsiteX15" fmla="*/ 256943 w 523934"/>
                <a:gd name="connsiteY15" fmla="*/ 181933 h 609225"/>
                <a:gd name="connsiteX16" fmla="*/ 340198 w 523934"/>
                <a:gd name="connsiteY16" fmla="*/ 167594 h 609225"/>
                <a:gd name="connsiteX17" fmla="*/ 340198 w 523934"/>
                <a:gd name="connsiteY17" fmla="*/ 184801 h 609225"/>
                <a:gd name="connsiteX18" fmla="*/ 384697 w 523934"/>
                <a:gd name="connsiteY18" fmla="*/ 190536 h 609225"/>
                <a:gd name="connsiteX19" fmla="*/ 394745 w 523934"/>
                <a:gd name="connsiteY19" fmla="*/ 227817 h 609225"/>
                <a:gd name="connsiteX20" fmla="*/ 409099 w 523934"/>
                <a:gd name="connsiteY20" fmla="*/ 273700 h 609225"/>
                <a:gd name="connsiteX21" fmla="*/ 348811 w 523934"/>
                <a:gd name="connsiteY21" fmla="*/ 273700 h 609225"/>
                <a:gd name="connsiteX22" fmla="*/ 350246 w 523934"/>
                <a:gd name="connsiteY22" fmla="*/ 308113 h 609225"/>
                <a:gd name="connsiteX23" fmla="*/ 523934 w 523934"/>
                <a:gd name="connsiteY23" fmla="*/ 308113 h 609225"/>
                <a:gd name="connsiteX24" fmla="*/ 523934 w 523934"/>
                <a:gd name="connsiteY24" fmla="*/ 376939 h 609225"/>
                <a:gd name="connsiteX25" fmla="*/ 482306 w 523934"/>
                <a:gd name="connsiteY25" fmla="*/ 376939 h 609225"/>
                <a:gd name="connsiteX26" fmla="*/ 482306 w 523934"/>
                <a:gd name="connsiteY26" fmla="*/ 609225 h 609225"/>
                <a:gd name="connsiteX27" fmla="*/ 41628 w 523934"/>
                <a:gd name="connsiteY27" fmla="*/ 609225 h 609225"/>
                <a:gd name="connsiteX28" fmla="*/ 41628 w 523934"/>
                <a:gd name="connsiteY28" fmla="*/ 376939 h 609225"/>
                <a:gd name="connsiteX29" fmla="*/ 0 w 523934"/>
                <a:gd name="connsiteY29" fmla="*/ 376939 h 609225"/>
                <a:gd name="connsiteX30" fmla="*/ 0 w 523934"/>
                <a:gd name="connsiteY30" fmla="*/ 308113 h 609225"/>
                <a:gd name="connsiteX31" fmla="*/ 170817 w 523934"/>
                <a:gd name="connsiteY31" fmla="*/ 308113 h 609225"/>
                <a:gd name="connsiteX32" fmla="*/ 170817 w 523934"/>
                <a:gd name="connsiteY32" fmla="*/ 273700 h 609225"/>
                <a:gd name="connsiteX33" fmla="*/ 99045 w 523934"/>
                <a:gd name="connsiteY33" fmla="*/ 273700 h 609225"/>
                <a:gd name="connsiteX34" fmla="*/ 104787 w 523934"/>
                <a:gd name="connsiteY34" fmla="*/ 262229 h 609225"/>
                <a:gd name="connsiteX35" fmla="*/ 103351 w 523934"/>
                <a:gd name="connsiteY35" fmla="*/ 262229 h 609225"/>
                <a:gd name="connsiteX36" fmla="*/ 139237 w 523934"/>
                <a:gd name="connsiteY36" fmla="*/ 190536 h 609225"/>
                <a:gd name="connsiteX37" fmla="*/ 175123 w 523934"/>
                <a:gd name="connsiteY37" fmla="*/ 186235 h 609225"/>
                <a:gd name="connsiteX38" fmla="*/ 261393 w 523934"/>
                <a:gd name="connsiteY38" fmla="*/ 0 h 609225"/>
                <a:gd name="connsiteX39" fmla="*/ 344616 w 523934"/>
                <a:gd name="connsiteY39" fmla="*/ 83108 h 609225"/>
                <a:gd name="connsiteX40" fmla="*/ 261393 w 523934"/>
                <a:gd name="connsiteY40" fmla="*/ 166216 h 609225"/>
                <a:gd name="connsiteX41" fmla="*/ 178170 w 523934"/>
                <a:gd name="connsiteY41" fmla="*/ 83108 h 609225"/>
                <a:gd name="connsiteX42" fmla="*/ 261393 w 523934"/>
                <a:gd name="connsiteY42" fmla="*/ 0 h 60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23934" h="609225">
                  <a:moveTo>
                    <a:pt x="193784" y="190536"/>
                  </a:moveTo>
                  <a:lnTo>
                    <a:pt x="193784" y="227817"/>
                  </a:lnTo>
                  <a:lnTo>
                    <a:pt x="205267" y="227817"/>
                  </a:lnTo>
                  <a:lnTo>
                    <a:pt x="205267" y="273700"/>
                  </a:lnTo>
                  <a:lnTo>
                    <a:pt x="193784" y="273700"/>
                  </a:lnTo>
                  <a:lnTo>
                    <a:pt x="193784" y="283737"/>
                  </a:lnTo>
                  <a:lnTo>
                    <a:pt x="256943" y="295208"/>
                  </a:lnTo>
                  <a:lnTo>
                    <a:pt x="320102" y="283737"/>
                  </a:lnTo>
                  <a:lnTo>
                    <a:pt x="320102" y="273700"/>
                  </a:lnTo>
                  <a:lnTo>
                    <a:pt x="308619" y="273700"/>
                  </a:lnTo>
                  <a:lnTo>
                    <a:pt x="308619" y="227817"/>
                  </a:lnTo>
                  <a:lnTo>
                    <a:pt x="320102" y="227817"/>
                  </a:lnTo>
                  <a:lnTo>
                    <a:pt x="320102" y="190536"/>
                  </a:lnTo>
                  <a:lnTo>
                    <a:pt x="256943" y="202007"/>
                  </a:lnTo>
                  <a:close/>
                  <a:moveTo>
                    <a:pt x="175123" y="167594"/>
                  </a:moveTo>
                  <a:lnTo>
                    <a:pt x="256943" y="181933"/>
                  </a:lnTo>
                  <a:lnTo>
                    <a:pt x="340198" y="167594"/>
                  </a:lnTo>
                  <a:lnTo>
                    <a:pt x="340198" y="184801"/>
                  </a:lnTo>
                  <a:lnTo>
                    <a:pt x="384697" y="190536"/>
                  </a:lnTo>
                  <a:lnTo>
                    <a:pt x="394745" y="227817"/>
                  </a:lnTo>
                  <a:lnTo>
                    <a:pt x="409099" y="273700"/>
                  </a:lnTo>
                  <a:lnTo>
                    <a:pt x="348811" y="273700"/>
                  </a:lnTo>
                  <a:lnTo>
                    <a:pt x="350246" y="308113"/>
                  </a:lnTo>
                  <a:lnTo>
                    <a:pt x="523934" y="308113"/>
                  </a:lnTo>
                  <a:lnTo>
                    <a:pt x="523934" y="376939"/>
                  </a:lnTo>
                  <a:lnTo>
                    <a:pt x="482306" y="376939"/>
                  </a:lnTo>
                  <a:lnTo>
                    <a:pt x="482306" y="609225"/>
                  </a:lnTo>
                  <a:lnTo>
                    <a:pt x="41628" y="609225"/>
                  </a:lnTo>
                  <a:lnTo>
                    <a:pt x="41628" y="376939"/>
                  </a:lnTo>
                  <a:lnTo>
                    <a:pt x="0" y="376939"/>
                  </a:lnTo>
                  <a:lnTo>
                    <a:pt x="0" y="308113"/>
                  </a:lnTo>
                  <a:lnTo>
                    <a:pt x="170817" y="308113"/>
                  </a:lnTo>
                  <a:lnTo>
                    <a:pt x="170817" y="273700"/>
                  </a:lnTo>
                  <a:lnTo>
                    <a:pt x="99045" y="273700"/>
                  </a:lnTo>
                  <a:lnTo>
                    <a:pt x="104787" y="262229"/>
                  </a:lnTo>
                  <a:lnTo>
                    <a:pt x="103351" y="262229"/>
                  </a:lnTo>
                  <a:lnTo>
                    <a:pt x="139237" y="190536"/>
                  </a:lnTo>
                  <a:lnTo>
                    <a:pt x="175123" y="186235"/>
                  </a:lnTo>
                  <a:close/>
                  <a:moveTo>
                    <a:pt x="261393" y="0"/>
                  </a:moveTo>
                  <a:cubicBezTo>
                    <a:pt x="307356" y="0"/>
                    <a:pt x="344616" y="37209"/>
                    <a:pt x="344616" y="83108"/>
                  </a:cubicBezTo>
                  <a:cubicBezTo>
                    <a:pt x="344616" y="129007"/>
                    <a:pt x="307356" y="166216"/>
                    <a:pt x="261393" y="166216"/>
                  </a:cubicBezTo>
                  <a:cubicBezTo>
                    <a:pt x="215430" y="166216"/>
                    <a:pt x="178170" y="129007"/>
                    <a:pt x="178170" y="83108"/>
                  </a:cubicBezTo>
                  <a:cubicBezTo>
                    <a:pt x="178170" y="37209"/>
                    <a:pt x="215430" y="0"/>
                    <a:pt x="26139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alpha val="80000"/>
                  </a:schemeClr>
                </a:solidFill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3437752" y="5270254"/>
              <a:ext cx="360426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汇报人：樊博文</a:t>
              </a:r>
              <a:r>
                <a:rPr lang="en-US" altLang="zh-CN" sz="2000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  8207230322</a:t>
              </a: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3458112" y="5845848"/>
              <a:ext cx="220599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班  级：电信</a:t>
              </a:r>
              <a:r>
                <a:rPr lang="en-US" altLang="zh-CN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2303</a:t>
              </a:r>
              <a:r>
                <a:rPr lang="zh-CN" altLang="en-US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班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7198441" y="5831333"/>
              <a:ext cx="255016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日  期：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2025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年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9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月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19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日</a:t>
              </a:r>
            </a:p>
          </p:txBody>
        </p:sp>
        <p:pic>
          <p:nvPicPr>
            <p:cNvPr id="9" name="图形 8" descr="主页 纯色填充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75670" y="5828577"/>
              <a:ext cx="370997" cy="370997"/>
            </a:xfrm>
            <a:prstGeom prst="rect">
              <a:avLst/>
            </a:prstGeom>
          </p:spPr>
        </p:pic>
        <p:sp>
          <p:nvSpPr>
            <p:cNvPr id="10" name="iconfont-11122-3633784"/>
            <p:cNvSpPr/>
            <p:nvPr>
              <p:custDataLst>
                <p:tags r:id="rId5"/>
              </p:custDataLst>
            </p:nvPr>
          </p:nvSpPr>
          <p:spPr>
            <a:xfrm>
              <a:off x="6863115" y="5897695"/>
              <a:ext cx="254701" cy="254655"/>
            </a:xfrm>
            <a:custGeom>
              <a:avLst/>
              <a:gdLst>
                <a:gd name="T0" fmla="*/ 5601 w 11203"/>
                <a:gd name="T1" fmla="*/ 0 h 11202"/>
                <a:gd name="T2" fmla="*/ 0 w 11203"/>
                <a:gd name="T3" fmla="*/ 5601 h 11202"/>
                <a:gd name="T4" fmla="*/ 5603 w 11203"/>
                <a:gd name="T5" fmla="*/ 11202 h 11202"/>
                <a:gd name="T6" fmla="*/ 11203 w 11203"/>
                <a:gd name="T7" fmla="*/ 5601 h 11202"/>
                <a:gd name="T8" fmla="*/ 5601 w 11203"/>
                <a:gd name="T9" fmla="*/ 0 h 11202"/>
                <a:gd name="T10" fmla="*/ 8403 w 11203"/>
                <a:gd name="T11" fmla="*/ 6218 h 11202"/>
                <a:gd name="T12" fmla="*/ 5429 w 11203"/>
                <a:gd name="T13" fmla="*/ 6218 h 11202"/>
                <a:gd name="T14" fmla="*/ 5250 w 11203"/>
                <a:gd name="T15" fmla="*/ 6182 h 11202"/>
                <a:gd name="T16" fmla="*/ 4970 w 11203"/>
                <a:gd name="T17" fmla="*/ 5760 h 11202"/>
                <a:gd name="T18" fmla="*/ 4970 w 11203"/>
                <a:gd name="T19" fmla="*/ 2786 h 11202"/>
                <a:gd name="T20" fmla="*/ 5429 w 11203"/>
                <a:gd name="T21" fmla="*/ 2327 h 11202"/>
                <a:gd name="T22" fmla="*/ 5889 w 11203"/>
                <a:gd name="T23" fmla="*/ 2786 h 11202"/>
                <a:gd name="T24" fmla="*/ 5889 w 11203"/>
                <a:gd name="T25" fmla="*/ 5301 h 11202"/>
                <a:gd name="T26" fmla="*/ 8404 w 11203"/>
                <a:gd name="T27" fmla="*/ 5301 h 11202"/>
                <a:gd name="T28" fmla="*/ 8863 w 11203"/>
                <a:gd name="T29" fmla="*/ 5760 h 11202"/>
                <a:gd name="T30" fmla="*/ 8403 w 11203"/>
                <a:gd name="T31" fmla="*/ 6218 h 1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203" h="11202">
                  <a:moveTo>
                    <a:pt x="5601" y="0"/>
                  </a:moveTo>
                  <a:cubicBezTo>
                    <a:pt x="2507" y="0"/>
                    <a:pt x="0" y="2507"/>
                    <a:pt x="0" y="5601"/>
                  </a:cubicBezTo>
                  <a:cubicBezTo>
                    <a:pt x="0" y="8695"/>
                    <a:pt x="2509" y="11202"/>
                    <a:pt x="5603" y="11202"/>
                  </a:cubicBezTo>
                  <a:cubicBezTo>
                    <a:pt x="8695" y="11202"/>
                    <a:pt x="11203" y="8695"/>
                    <a:pt x="11203" y="5601"/>
                  </a:cubicBezTo>
                  <a:cubicBezTo>
                    <a:pt x="11203" y="2507"/>
                    <a:pt x="8695" y="0"/>
                    <a:pt x="5601" y="0"/>
                  </a:cubicBezTo>
                  <a:close/>
                  <a:moveTo>
                    <a:pt x="8403" y="6218"/>
                  </a:moveTo>
                  <a:lnTo>
                    <a:pt x="5429" y="6218"/>
                  </a:lnTo>
                  <a:cubicBezTo>
                    <a:pt x="5366" y="6218"/>
                    <a:pt x="5305" y="6206"/>
                    <a:pt x="5250" y="6182"/>
                  </a:cubicBezTo>
                  <a:cubicBezTo>
                    <a:pt x="5085" y="6112"/>
                    <a:pt x="4970" y="5950"/>
                    <a:pt x="4970" y="5760"/>
                  </a:cubicBezTo>
                  <a:lnTo>
                    <a:pt x="4970" y="2786"/>
                  </a:lnTo>
                  <a:cubicBezTo>
                    <a:pt x="4970" y="2532"/>
                    <a:pt x="5175" y="2327"/>
                    <a:pt x="5429" y="2327"/>
                  </a:cubicBezTo>
                  <a:cubicBezTo>
                    <a:pt x="5683" y="2327"/>
                    <a:pt x="5889" y="2532"/>
                    <a:pt x="5889" y="2786"/>
                  </a:cubicBezTo>
                  <a:lnTo>
                    <a:pt x="5889" y="5301"/>
                  </a:lnTo>
                  <a:lnTo>
                    <a:pt x="8404" y="5301"/>
                  </a:lnTo>
                  <a:cubicBezTo>
                    <a:pt x="8657" y="5301"/>
                    <a:pt x="8863" y="5506"/>
                    <a:pt x="8863" y="5760"/>
                  </a:cubicBezTo>
                  <a:cubicBezTo>
                    <a:pt x="8863" y="6013"/>
                    <a:pt x="8656" y="6218"/>
                    <a:pt x="8403" y="6218"/>
                  </a:cubicBez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 descr="中南大学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6380" y="492125"/>
            <a:ext cx="3916680" cy="1232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2635" y="2773692"/>
            <a:ext cx="2215671" cy="1310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5000"/>
              </a:lnSpc>
            </a:pPr>
            <a:r>
              <a:rPr lang="en-US" altLang="zh-CN" sz="32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4400" b="1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45688" y="1003606"/>
            <a:ext cx="723900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b="1" dirty="0">
                <a:solidFill>
                  <a:schemeClr val="accent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600" b="1" kern="1200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kern="1200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题目设计要求</a:t>
            </a:r>
          </a:p>
          <a:p>
            <a:pPr>
              <a:lnSpc>
                <a:spcPct val="200000"/>
              </a:lnSpc>
            </a:pPr>
            <a:r>
              <a:rPr lang="en-US" altLang="zh-CN" sz="3600" b="1" dirty="0">
                <a:solidFill>
                  <a:schemeClr val="accent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 </a:t>
            </a:r>
            <a:r>
              <a:rPr lang="zh-CN" altLang="en-US" sz="3600" b="1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  <a:p>
            <a:pPr>
              <a:lnSpc>
                <a:spcPct val="200000"/>
              </a:lnSpc>
            </a:pPr>
            <a:r>
              <a:rPr lang="en-US" altLang="zh-CN" sz="3600" b="1" dirty="0">
                <a:solidFill>
                  <a:schemeClr val="accent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 </a:t>
            </a:r>
            <a:r>
              <a:rPr lang="zh-CN" altLang="en-US" sz="3600" b="1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系统功能分析</a:t>
            </a:r>
          </a:p>
          <a:p>
            <a:pPr>
              <a:lnSpc>
                <a:spcPct val="200000"/>
              </a:lnSpc>
            </a:pPr>
            <a:r>
              <a:rPr lang="en-US" altLang="zh-CN" sz="3600" b="1" dirty="0">
                <a:solidFill>
                  <a:schemeClr val="accent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结果分析</a:t>
            </a:r>
            <a:endParaRPr lang="zh-CN" altLang="en-US" sz="36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6523" y="2816012"/>
            <a:ext cx="2486514" cy="1164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  <a:endParaRPr lang="zh-CN" altLang="en-US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9115" y="2226852"/>
            <a:ext cx="609600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5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题目设计要求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65960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9" name="矩形 8"/>
          <p:cNvSpPr/>
          <p:nvPr/>
        </p:nvSpPr>
        <p:spPr>
          <a:xfrm>
            <a:off x="6613233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0" name="矩形 9"/>
          <p:cNvSpPr/>
          <p:nvPr/>
        </p:nvSpPr>
        <p:spPr>
          <a:xfrm>
            <a:off x="84605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1149000" y="141351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问题背景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76680" y="2773045"/>
            <a:ext cx="9691370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近年来，智能手机深度融入日常生活：我们常在拨号、输入密码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验证码、编辑微信短信、办理手机银行与网购等场景中频繁敲击键盘。每次按键都会发出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嘟、滴、答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等声音，长期听来会觉得这些声音很熟悉。本案例指出，这种熟悉并非错觉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电话（含手机与座机）键盘上的数字与其对应的按键声（双音多频信号，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DTMF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）是严格一一对应的。</a:t>
            </a: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65960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9" name="矩形 8"/>
          <p:cNvSpPr/>
          <p:nvPr/>
        </p:nvSpPr>
        <p:spPr>
          <a:xfrm>
            <a:off x="6613233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0" name="矩形 9"/>
          <p:cNvSpPr/>
          <p:nvPr/>
        </p:nvSpPr>
        <p:spPr>
          <a:xfrm>
            <a:off x="84605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18" name="椭圆 17"/>
          <p:cNvSpPr/>
          <p:nvPr/>
        </p:nvSpPr>
        <p:spPr>
          <a:xfrm>
            <a:off x="1544940" y="2765723"/>
            <a:ext cx="2086794" cy="20867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题目设计要求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81487" y="1979396"/>
            <a:ext cx="3659448" cy="3659448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107603" y="3531745"/>
            <a:ext cx="507126" cy="507126"/>
          </a:xfrm>
          <a:prstGeom prst="ellipse">
            <a:avLst/>
          </a:prstGeom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213695" y="2011812"/>
            <a:ext cx="507126" cy="507126"/>
          </a:xfrm>
          <a:prstGeom prst="ellipse">
            <a:avLst/>
          </a:prstGeom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395998" y="4977642"/>
            <a:ext cx="507126" cy="507126"/>
          </a:xfrm>
          <a:prstGeom prst="ellipse">
            <a:avLst/>
          </a:prstGeom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" name="图形 15" descr="下降趋势条形图 纯色填充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1828" y="2118997"/>
            <a:ext cx="309906" cy="309906"/>
          </a:xfrm>
          <a:prstGeom prst="rect">
            <a:avLst/>
          </a:prstGeom>
        </p:spPr>
      </p:pic>
      <p:pic>
        <p:nvPicPr>
          <p:cNvPr id="33" name="图形 17" descr="下降趋势条形图 纯色填充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19015" y="3637065"/>
            <a:ext cx="299615" cy="299615"/>
          </a:xfrm>
          <a:prstGeom prst="rect">
            <a:avLst/>
          </a:prstGeom>
        </p:spPr>
      </p:pic>
      <p:pic>
        <p:nvPicPr>
          <p:cNvPr id="35" name="图形 19" descr="信封 纯色填充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1755" y="5093500"/>
            <a:ext cx="264579" cy="264579"/>
          </a:xfrm>
          <a:prstGeom prst="rect">
            <a:avLst/>
          </a:prstGeom>
        </p:spPr>
      </p:pic>
      <p:sp>
        <p:nvSpPr>
          <p:cNvPr id="36" name="矩形: 圆角 12"/>
          <p:cNvSpPr/>
          <p:nvPr>
            <p:custDataLst>
              <p:tags r:id="rId1"/>
            </p:custDataLst>
          </p:nvPr>
        </p:nvSpPr>
        <p:spPr>
          <a:xfrm>
            <a:off x="4267835" y="5222240"/>
            <a:ext cx="4002405" cy="3676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4218911" y="5222526"/>
          <a:ext cx="6505331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5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GUI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界面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(3)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（选做）采用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GUI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界面封装，实现对手机拨号界面的模拟。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矩形: 圆角 12"/>
          <p:cNvSpPr/>
          <p:nvPr>
            <p:custDataLst>
              <p:tags r:id="rId2"/>
            </p:custDataLst>
          </p:nvPr>
        </p:nvSpPr>
        <p:spPr>
          <a:xfrm>
            <a:off x="4268470" y="1482725"/>
            <a:ext cx="5031740" cy="3676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4267754" y="1482494"/>
          <a:ext cx="6505575" cy="1030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拨号音的合成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(1) </a:t>
                      </a:r>
                      <a:r>
                        <a:rPr lang="zh-CN" altLang="en-US"/>
                        <a:t>用</a:t>
                      </a:r>
                      <a:r>
                        <a:rPr lang="en-US" altLang="zh-CN"/>
                        <a:t> MATLAB </a:t>
                      </a:r>
                      <a:r>
                        <a:rPr lang="zh-CN" altLang="en-US"/>
                        <a:t>实现对电话拨号音的合成，用</a:t>
                      </a:r>
                      <a:r>
                        <a:rPr lang="en-US" altLang="zh-CN"/>
                        <a:t> sound </a:t>
                      </a:r>
                      <a:r>
                        <a:rPr lang="zh-CN" altLang="en-US"/>
                        <a:t>函数模拟发出该按键的拨号音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矩形: 圆角 12"/>
          <p:cNvSpPr/>
          <p:nvPr>
            <p:custDataLst>
              <p:tags r:id="rId3"/>
            </p:custDataLst>
          </p:nvPr>
        </p:nvSpPr>
        <p:spPr>
          <a:xfrm>
            <a:off x="4822825" y="3352165"/>
            <a:ext cx="6247130" cy="3676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4810909" y="3352244"/>
          <a:ext cx="650533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5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拨号音的识别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(2) </a:t>
                      </a:r>
                      <a:r>
                        <a:rPr lang="zh-CN" altLang="en-US" sz="1800" b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用</a:t>
                      </a:r>
                      <a:r>
                        <a:rPr lang="en-US" altLang="zh-CN" sz="1800" b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MATLAB </a:t>
                      </a:r>
                      <a:r>
                        <a:rPr lang="zh-CN" altLang="en-US" sz="1800" b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实现对合成的一段双音多频信号波形，通过估计频率值来推断其按键值。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00488" y="2816012"/>
            <a:ext cx="2558585" cy="1164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TWO</a:t>
            </a:r>
            <a:endParaRPr lang="zh-CN" altLang="en-US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33807" y="2226723"/>
            <a:ext cx="605599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5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/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87566" y="2350742"/>
                <a:ext cx="11345407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电话拨号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是一种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双音多频（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DTMF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技术，简单来说，它利用两个不同频率的音频信号来代表一个数字或符号，每个按键用两路纯音同时发声来表示，如图分别来自行频组与列频组。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低频组（行）：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{697, 770, 852, 941} 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高频组（列）：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{1209, 1336, 1477, 1633}</a:t>
                </a:r>
              </a:p>
              <a:p>
                <a:endPara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某个按键的连续时间信号：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𝑨𝒔𝒊𝒏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400" b="1" i="1" baseline="-2500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4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)+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𝑩𝒔𝒊𝒏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4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​)</m:t>
                      </m:r>
                    </m:oMath>
                  </m:oMathPara>
                </a14:m>
                <a:endParaRPr lang="en-US" altLang="zh-CN" sz="2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endParaRPr lang="en-US" altLang="zh-CN" sz="24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z="2400" dirty="0"/>
                  <a:t>来自低频组、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ar-AE" altLang="zh-CN" sz="2400" dirty="0"/>
                  <a:t> </a:t>
                </a:r>
                <a:r>
                  <a:rPr lang="zh-CN" altLang="en-US" sz="2400" dirty="0"/>
                  <a:t>来自高频组；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 是幅度，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AE" altLang="zh-CN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ar-AE" altLang="zh-CN" sz="2400" dirty="0"/>
                  <a:t> </a:t>
                </a:r>
                <a:r>
                  <a:rPr lang="zh-CN" altLang="en-US" sz="2400" dirty="0"/>
                  <a:t>是初相。</a:t>
                </a:r>
              </a:p>
              <a:p>
                <a:pPr algn="l"/>
                <a:endParaRPr lang="en-US" altLang="zh-CN" sz="28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algn="l"/>
                <a:endParaRPr lang="en-US" altLang="zh-CN" sz="28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66" y="2350742"/>
                <a:ext cx="11345407" cy="4216539"/>
              </a:xfrm>
              <a:prstGeom prst="rect">
                <a:avLst/>
              </a:prstGeom>
              <a:blipFill rotWithShape="1">
                <a:blip r:embed="rId2"/>
                <a:stretch>
                  <a:fillRect l="-4" t="-14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9" t="10548" b="7242"/>
          <a:stretch>
            <a:fillRect/>
          </a:stretch>
        </p:blipFill>
        <p:spPr>
          <a:xfrm>
            <a:off x="8156300" y="3279912"/>
            <a:ext cx="3447526" cy="2022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A152F-60EF-3A1A-61A8-4190C315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7858C39-163F-FC90-3F01-05CC555549E5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E0C81D-4E79-D8A6-27CD-9869D3112B21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028FFD-3DC0-CD8F-5382-970DB2F6521C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C2F106-768B-B735-FA88-F60A2FEED017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A16CCF-F280-7B07-1534-6E88AEFF26FF}"/>
              </a:ext>
            </a:extLst>
          </p:cNvPr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6F6055-3734-245C-05BF-58C868518640}"/>
                  </a:ext>
                </a:extLst>
              </p:cNvPr>
              <p:cNvSpPr txBox="1"/>
              <p:nvPr/>
            </p:nvSpPr>
            <p:spPr>
              <a:xfrm>
                <a:off x="1009015" y="2068830"/>
                <a:ext cx="10962005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低频组（行）：{697, 770, 852, 941}       高频组（列）：{1209, 1336, 1477, 1633}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)+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​)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6F6055-3734-245C-05BF-58C868518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15" y="2068830"/>
                <a:ext cx="10962005" cy="677108"/>
              </a:xfrm>
              <a:prstGeom prst="rect">
                <a:avLst/>
              </a:prstGeom>
              <a:blipFill>
                <a:blip r:embed="rId3"/>
                <a:stretch>
                  <a:fillRect l="-501" t="-4505"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FE201A27-C470-BB75-57BE-4B7E7BDF774B}"/>
              </a:ext>
            </a:extLst>
          </p:cNvPr>
          <p:cNvSpPr txBox="1"/>
          <p:nvPr/>
        </p:nvSpPr>
        <p:spPr>
          <a:xfrm>
            <a:off x="2148704" y="5949158"/>
            <a:ext cx="205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697+1209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4ABF1B-1B0F-A248-FE14-F5A816B6D024}"/>
              </a:ext>
            </a:extLst>
          </p:cNvPr>
          <p:cNvSpPr txBox="1"/>
          <p:nvPr/>
        </p:nvSpPr>
        <p:spPr>
          <a:xfrm>
            <a:off x="8443611" y="5967968"/>
            <a:ext cx="205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697+1336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6ECD31-BAD4-E725-96E3-6D90AFA0C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54" y="2791124"/>
            <a:ext cx="5533713" cy="306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C291C27-3FEE-EB17-B7CE-CE51F58CC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993" y="2791124"/>
            <a:ext cx="5881059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6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B618-A3FF-BEAC-8248-E1B067E4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8ADAFC5-7068-4D3D-FB3B-2C6E9A1DBE48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3085A6-807F-67CB-327D-14AE743F0CC9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9CD101-B899-6B44-9160-F5BEB0E4F81F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7866EF-18E9-99BA-FFAC-B49C015B032A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F4E577-A180-34B4-732D-B7386BEA865C}"/>
              </a:ext>
            </a:extLst>
          </p:cNvPr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F26818A-B7B9-D9FE-9C53-D656F11C91C3}"/>
                  </a:ext>
                </a:extLst>
              </p:cNvPr>
              <p:cNvSpPr txBox="1"/>
              <p:nvPr/>
            </p:nvSpPr>
            <p:spPr>
              <a:xfrm>
                <a:off x="1009015" y="2068830"/>
                <a:ext cx="10962005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低频组（行）：{697, 770, 852, 941}       高频组（列）：{1209, 1336, 1477, 1633}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)+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​)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6F6055-3734-245C-05BF-58C868518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15" y="2068830"/>
                <a:ext cx="10962005" cy="677108"/>
              </a:xfrm>
              <a:prstGeom prst="rect">
                <a:avLst/>
              </a:prstGeom>
              <a:blipFill>
                <a:blip r:embed="rId3"/>
                <a:stretch>
                  <a:fillRect l="-501" t="-4505"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15387B8-899E-D954-9FD4-43E05102C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19" y="2745938"/>
            <a:ext cx="7397983" cy="39383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D18847E-754F-97F8-339D-AB5CBF035FEB}"/>
              </a:ext>
            </a:extLst>
          </p:cNvPr>
          <p:cNvSpPr txBox="1"/>
          <p:nvPr/>
        </p:nvSpPr>
        <p:spPr>
          <a:xfrm>
            <a:off x="8757684" y="3284109"/>
            <a:ext cx="1959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按键 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 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具有相同的低频信号（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697Hz)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，而它们的高频信号是逐个上升的，其他 按键频率的变换关系与此类似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46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/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09015" y="2068830"/>
                <a:ext cx="10962005" cy="4209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低频组（行）：{697, 770, 852, 941}       高频组（列）：{1209, 1336, 1477, 1633}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)+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𝑩𝒔𝒊𝒏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r>
                        <m:rPr>
                          <m:lit/>
                        </m:rPr>
                        <a:rPr lang="en-US" altLang="zh-CN" sz="2000" b="1" i="1" baseline="-25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𝒕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𝝓</m:t>
                      </m:r>
                      <m:r>
                        <m:rPr>
                          <m:lit/>
                        </m:rPr>
                        <a:rPr lang="el-GR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m:rPr>
                          <m:lit/>
                        </m:rP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​)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endParaRPr lang="en-US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这些频率的取值是经过特别设计的： 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这些频率都处于人的可听范围内，因此按键下去时人可以听到； 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这 8 个频率中没有一个频率是其他任意一个频率的倍数； 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任意两个频率的组合，相加或相减都不等于其他任意一个频率。 </a:t>
                </a:r>
              </a:p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因此这些特性不仅简化了双音多频信号的解码,同时也降低了双音多频误检的概率。 根据国际电报电话咨询委员会的规定，要求每 100ms 传输一个键盘数字或符号，代表 数字的音频信号持续时间必须为 45~55ms。为了区分两个连续的按键信号，在 100ms 内其 他时间应该为静音（无信号），电话信号的抽样频率应该为 8kHz。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buClrTx/>
                  <a:buSzTx/>
                  <a:buFontTx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/>
                  <a:t>在采样率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zh-CN" sz="2000" dirty="0"/>
                  <a:t>kHz </a:t>
                </a:r>
                <a:r>
                  <a:rPr lang="zh-CN" altLang="en-US" sz="2000" dirty="0"/>
                  <a:t>下，按键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000" dirty="0"/>
                  <a:t>的离散信号为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ar-AE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e>
                      </m:d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</m:t>
                      </m:r>
                      <m:func>
                        <m:funcPr>
                          <m:ctrl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𝒔𝒊𝒏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 </m:t>
                          </m:r>
                        </m:e>
                      </m:func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f>
                        <m:fPr>
                          <m:ctrl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𝑳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𝒏</m:t>
                      </m:r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)+</m:t>
                      </m:r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𝑩</m:t>
                      </m:r>
                      <m:func>
                        <m:funcPr>
                          <m:ctrl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𝒔𝒊𝒏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 </m:t>
                          </m:r>
                        </m:e>
                      </m:func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f>
                        <m:fPr>
                          <m:ctrlPr>
                            <a:rPr lang="ar-AE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𝑯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zh-CN" altLang="ar-AE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r>
                        <a:rPr lang="zh-CN" altLang="ar-AE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𝒏</m:t>
                      </m:r>
                      <m:r>
                        <a:rPr lang="ar-AE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ar-AE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algn="l">
                  <a:buClrTx/>
                  <a:buSzTx/>
                  <a:buFontTx/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15" y="2068830"/>
                <a:ext cx="10962005" cy="4209294"/>
              </a:xfrm>
              <a:prstGeom prst="rect">
                <a:avLst/>
              </a:prstGeom>
              <a:blipFill>
                <a:blip r:embed="rId2"/>
                <a:stretch>
                  <a:fillRect l="-612" t="-724" r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7DB9-705A-56EC-E4D9-6FAB9F41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9BE33B-CB33-8C32-9432-2ACF547088C8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CF7502-2877-1EBA-9984-DDAE7BC88659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8B4D8D-DFF9-D1CD-18D9-35302BB2D127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DD038B-45CD-95BB-AC90-6C72CFFC5EDA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A7175F-625B-9E47-83BE-44F231B96395}"/>
              </a:ext>
            </a:extLst>
          </p:cNvPr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5227DB-A287-1B8C-B25D-C44D2395AEF0}"/>
              </a:ext>
            </a:extLst>
          </p:cNvPr>
          <p:cNvSpPr txBox="1"/>
          <p:nvPr/>
        </p:nvSpPr>
        <p:spPr>
          <a:xfrm>
            <a:off x="737347" y="2327247"/>
            <a:ext cx="42388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low_freq</a:t>
            </a:r>
            <a:r>
              <a:rPr lang="en-US" altLang="zh-CN" dirty="0"/>
              <a:t> = [697, 770, 852, 941]; </a:t>
            </a:r>
          </a:p>
          <a:p>
            <a:r>
              <a:rPr lang="en-US" altLang="zh-CN" dirty="0" err="1"/>
              <a:t>high_freq</a:t>
            </a:r>
            <a:r>
              <a:rPr lang="en-US" altLang="zh-CN" dirty="0"/>
              <a:t> = [1209, 1336, 1477, 1633];</a:t>
            </a:r>
          </a:p>
          <a:p>
            <a:r>
              <a:rPr lang="en-US" altLang="zh-CN" dirty="0"/>
              <a:t>keypad = </a:t>
            </a:r>
          </a:p>
          <a:p>
            <a:r>
              <a:rPr lang="en-US" altLang="zh-CN" dirty="0"/>
              <a:t>{'1', '2', '3', 'A';</a:t>
            </a:r>
          </a:p>
          <a:p>
            <a:r>
              <a:rPr lang="en-US" altLang="zh-CN" dirty="0"/>
              <a:t>'4', '5', '6', 'B';</a:t>
            </a:r>
          </a:p>
          <a:p>
            <a:r>
              <a:rPr lang="en-US" altLang="zh-CN" dirty="0"/>
              <a:t>'7', '8', '9', 'C';</a:t>
            </a:r>
          </a:p>
          <a:p>
            <a:r>
              <a:rPr lang="en-US" altLang="zh-CN" dirty="0"/>
              <a:t>'*', '0', '#', 'D';};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fs = 8000; </a:t>
            </a:r>
          </a:p>
          <a:p>
            <a:r>
              <a:rPr lang="en-US" altLang="zh-CN" dirty="0" err="1"/>
              <a:t>tone_duration</a:t>
            </a:r>
            <a:r>
              <a:rPr lang="en-US" altLang="zh-CN" dirty="0"/>
              <a:t> = 0.05; </a:t>
            </a:r>
          </a:p>
          <a:p>
            <a:r>
              <a:rPr lang="en-US" altLang="zh-CN" dirty="0" err="1"/>
              <a:t>silence_duration</a:t>
            </a:r>
            <a:r>
              <a:rPr lang="en-US" altLang="zh-CN" dirty="0"/>
              <a:t> = 0.05;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90665-33E0-CA3F-D8E3-4ACACD7AC498}"/>
                  </a:ext>
                </a:extLst>
              </p:cNvPr>
              <p:cNvSpPr txBox="1"/>
              <p:nvPr/>
            </p:nvSpPr>
            <p:spPr>
              <a:xfrm>
                <a:off x="4690956" y="2088411"/>
                <a:ext cx="707745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构建</a:t>
                </a:r>
                <a:r>
                  <a:rPr lang="en-US" altLang="zh-CN" dirty="0"/>
                  <a:t>4×4 </a:t>
                </a:r>
                <a:r>
                  <a:rPr lang="zh-CN" altLang="en-US" dirty="0"/>
                  <a:t>矩阵对应按键   </a:t>
                </a:r>
                <a:endParaRPr lang="en-US" altLang="zh-CN" dirty="0"/>
              </a:p>
              <a:p>
                <a:r>
                  <a:rPr lang="zh-CN" altLang="en-US" dirty="0"/>
                  <a:t>行索引决定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b="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CN" altLang="en-US" dirty="0"/>
                  <a:t>列索引决定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b="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根据国际电报电话咨询委员会的规定，要求每 100ms 传输一个键盘数字或符号，代表 数字的音频信号持续时间必须为 45~55ms。为了区分两个连续的按键信号，在 100ms 内其 他时间应该为静音（无信号），电话信号的抽样频率应该为 8kHz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890665-33E0-CA3F-D8E3-4ACACD7AC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956" y="2088411"/>
                <a:ext cx="7077452" cy="2862322"/>
              </a:xfrm>
              <a:prstGeom prst="rect">
                <a:avLst/>
              </a:prstGeom>
              <a:blipFill>
                <a:blip r:embed="rId2"/>
                <a:stretch>
                  <a:fillRect l="-775" t="-1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DFB2508-E4BB-95C4-C182-C95340C63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8126" y="4273003"/>
                <a:ext cx="7077452" cy="1833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b="1" dirty="0">
                    <a:latin typeface="Arial" panose="020B0604020202020204" pitchFamily="34" charset="0"/>
                  </a:rPr>
                  <a:t>采样率 8 kHz</a:t>
                </a:r>
                <a:r>
                  <a:rPr lang="zh-CN" altLang="zh-CN" dirty="0">
                    <a:latin typeface="Arial" panose="020B0604020202020204" pitchFamily="34" charset="0"/>
                  </a:rPr>
                  <a:t>：话音系统的经典配置，满足奈奎斯特条件（覆盖到 1633 Hz 的最高 DTMF 频率</a:t>
                </a:r>
                <a:r>
                  <a:rPr lang="en-US" altLang="zh-CN" dirty="0">
                    <a:latin typeface="Arial" panose="020B0604020202020204" pitchFamily="34" charset="0"/>
                  </a:rPr>
                  <a:t>   </a:t>
                </a:r>
                <a:r>
                  <a:rPr lang="de-DE" altLang="zh-CN" dirty="0"/>
                  <a:t>fs​=8 kHz (&gt;3266 Hz)  </a:t>
                </a:r>
                <a:r>
                  <a:rPr lang="zh-CN" altLang="zh-CN" dirty="0">
                    <a:latin typeface="Arial" panose="020B0604020202020204" pitchFamily="34" charset="0"/>
                  </a:rPr>
                  <a:t>）。</a:t>
                </a:r>
                <a:endPara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每键 100 ms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： </a:t>
                </a:r>
                <a:r>
                  <a:rPr kumimoji="0" lang="zh-CN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采用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发音 ~50 ms + 静音 ~50 ms，便于分隔相邻键、提高解码稳健性。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这对应离散样本数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0" lang="zh-CN" altLang="zh-CN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tone</m:t>
                          </m:r>
                        </m:sub>
                      </m:sSub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8000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400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0" lang="zh-CN" altLang="zh-CN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gap</m:t>
                          </m:r>
                        </m:sub>
                      </m:sSub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8000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400</m:t>
                      </m:r>
                    </m:oMath>
                  </m:oMathPara>
                </a14:m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DFB2508-E4BB-95C4-C182-C95340C63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8126" y="4273003"/>
                <a:ext cx="7077452" cy="1833131"/>
              </a:xfrm>
              <a:prstGeom prst="rect">
                <a:avLst/>
              </a:prstGeom>
              <a:blipFill>
                <a:blip r:embed="rId3"/>
                <a:stretch>
                  <a:fillRect l="-517" t="-1661" r="-775" b="-19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1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4E0B-CCE0-3D7C-C1E7-F1052096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F087701-E666-E138-88C3-B0C9F1EDBF58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8F3704-928E-7B72-3946-C5498AF4280D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9F38DF-41ED-0EBE-843C-EEB3543F0F87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F1EBD7-3EED-5A1B-F438-89BD5D487386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ABDCA0-89FA-5963-1650-32BDED1D7C85}"/>
              </a:ext>
            </a:extLst>
          </p:cNvPr>
          <p:cNvSpPr/>
          <p:nvPr/>
        </p:nvSpPr>
        <p:spPr>
          <a:xfrm>
            <a:off x="69215" y="14135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拨号音合成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CF5249-4D59-4CFE-C117-9B071C269DF8}"/>
              </a:ext>
            </a:extLst>
          </p:cNvPr>
          <p:cNvSpPr txBox="1"/>
          <p:nvPr/>
        </p:nvSpPr>
        <p:spPr>
          <a:xfrm>
            <a:off x="727951" y="2077118"/>
            <a:ext cx="42609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for k = 1:length(</a:t>
            </a:r>
            <a:r>
              <a:rPr lang="en-US" altLang="zh-CN" sz="1200" dirty="0" err="1"/>
              <a:t>input_string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key = </a:t>
            </a:r>
            <a:r>
              <a:rPr lang="en-US" altLang="zh-CN" sz="1200" dirty="0" err="1"/>
              <a:t>input_string</a:t>
            </a:r>
            <a:r>
              <a:rPr lang="en-US" altLang="zh-CN" sz="1200" dirty="0"/>
              <a:t>(k); </a:t>
            </a:r>
          </a:p>
          <a:p>
            <a:br>
              <a:rPr lang="en-US" altLang="zh-CN" sz="1200" dirty="0"/>
            </a:br>
            <a:endParaRPr lang="en-US" altLang="zh-CN" sz="1200" dirty="0"/>
          </a:p>
          <a:p>
            <a:r>
              <a:rPr lang="en-US" altLang="zh-CN" sz="1200" dirty="0"/>
              <a:t>for k = 1:length(</a:t>
            </a:r>
            <a:r>
              <a:rPr lang="en-US" altLang="zh-CN" sz="1200" dirty="0" err="1"/>
              <a:t>key_sequence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key = </a:t>
            </a:r>
            <a:r>
              <a:rPr lang="en-US" altLang="zh-CN" sz="1200" dirty="0" err="1"/>
              <a:t>key_sequence</a:t>
            </a:r>
            <a:r>
              <a:rPr lang="en-US" altLang="zh-CN" sz="1200" dirty="0"/>
              <a:t>(k); </a:t>
            </a:r>
          </a:p>
          <a:p>
            <a:r>
              <a:rPr lang="en-US" altLang="zh-CN" sz="1200" dirty="0"/>
              <a:t>[row, col] = find(</a:t>
            </a:r>
            <a:r>
              <a:rPr lang="en-US" altLang="zh-CN" sz="1200" dirty="0" err="1"/>
              <a:t>strcmp</a:t>
            </a:r>
            <a:r>
              <a:rPr lang="en-US" altLang="zh-CN" sz="1200" dirty="0"/>
              <a:t>(keypad, key));</a:t>
            </a:r>
          </a:p>
          <a:p>
            <a:r>
              <a:rPr lang="en-US" altLang="zh-CN" sz="1200" dirty="0"/>
              <a:t>if ~</a:t>
            </a:r>
            <a:r>
              <a:rPr lang="en-US" altLang="zh-CN" sz="1200" dirty="0" err="1"/>
              <a:t>isempty</a:t>
            </a:r>
            <a:r>
              <a:rPr lang="en-US" altLang="zh-CN" sz="1200" dirty="0"/>
              <a:t>(row) &amp;&amp; ~</a:t>
            </a:r>
            <a:r>
              <a:rPr lang="en-US" altLang="zh-CN" sz="1200" dirty="0" err="1"/>
              <a:t>isempty</a:t>
            </a:r>
            <a:r>
              <a:rPr lang="en-US" altLang="zh-CN" sz="1200" dirty="0"/>
              <a:t>(col)</a:t>
            </a:r>
          </a:p>
          <a:p>
            <a:r>
              <a:rPr lang="en-US" altLang="zh-CN" sz="1200" dirty="0" err="1"/>
              <a:t>fL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low_freq</a:t>
            </a:r>
            <a:r>
              <a:rPr lang="en-US" altLang="zh-CN" sz="1200" dirty="0"/>
              <a:t>(row);</a:t>
            </a:r>
          </a:p>
          <a:p>
            <a:r>
              <a:rPr lang="en-US" altLang="zh-CN" sz="1200" dirty="0" err="1"/>
              <a:t>fH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high_freq</a:t>
            </a:r>
            <a:r>
              <a:rPr lang="en-US" altLang="zh-CN" sz="1200" dirty="0"/>
              <a:t>(col); </a:t>
            </a:r>
          </a:p>
          <a:p>
            <a:r>
              <a:rPr lang="en-US" altLang="zh-CN" sz="1200" dirty="0"/>
              <a:t>t = 0:1/</a:t>
            </a:r>
            <a:r>
              <a:rPr lang="en-US" altLang="zh-CN" sz="1200" dirty="0" err="1"/>
              <a:t>fs:tone_duration</a:t>
            </a:r>
            <a:r>
              <a:rPr lang="en-US" altLang="zh-CN" sz="1200" dirty="0"/>
              <a:t>; </a:t>
            </a:r>
          </a:p>
          <a:p>
            <a:r>
              <a:rPr lang="en-US" altLang="zh-CN" sz="1200" dirty="0"/>
              <a:t>signal = sin(2*pi*</a:t>
            </a:r>
            <a:r>
              <a:rPr lang="en-US" altLang="zh-CN" sz="1200" dirty="0" err="1"/>
              <a:t>fL</a:t>
            </a:r>
            <a:r>
              <a:rPr lang="en-US" altLang="zh-CN" sz="1200" dirty="0"/>
              <a:t>*t) + sin(2*pi*</a:t>
            </a:r>
            <a:r>
              <a:rPr lang="en-US" altLang="zh-CN" sz="1200" dirty="0" err="1"/>
              <a:t>fH</a:t>
            </a:r>
            <a:r>
              <a:rPr lang="en-US" altLang="zh-CN" sz="1200" dirty="0"/>
              <a:t>*t); </a:t>
            </a:r>
          </a:p>
          <a:p>
            <a:r>
              <a:rPr lang="en-US" altLang="zh-CN" sz="1200" dirty="0" err="1"/>
              <a:t>noise_signal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noise_level</a:t>
            </a:r>
            <a:r>
              <a:rPr lang="en-US" altLang="zh-CN" sz="1200" dirty="0"/>
              <a:t> * </a:t>
            </a:r>
            <a:r>
              <a:rPr lang="en-US" altLang="zh-CN" sz="1200" dirty="0" err="1"/>
              <a:t>randn</a:t>
            </a:r>
            <a:r>
              <a:rPr lang="en-US" altLang="zh-CN" sz="1200" dirty="0"/>
              <a:t>(size(signal)); </a:t>
            </a:r>
            <a:endParaRPr lang="zh-CN" altLang="en-US" sz="1200" dirty="0"/>
          </a:p>
          <a:p>
            <a:r>
              <a:rPr lang="en-US" altLang="zh-CN" sz="1200" dirty="0" err="1"/>
              <a:t>signal_with_noise</a:t>
            </a:r>
            <a:r>
              <a:rPr lang="en-US" altLang="zh-CN" sz="1200" dirty="0"/>
              <a:t> = signal + </a:t>
            </a:r>
            <a:r>
              <a:rPr lang="en-US" altLang="zh-CN" sz="1200" dirty="0" err="1"/>
              <a:t>noise_signal</a:t>
            </a:r>
            <a:r>
              <a:rPr lang="en-US" altLang="zh-CN" sz="1200" dirty="0"/>
              <a:t>; </a:t>
            </a:r>
            <a:r>
              <a:rPr lang="zh-CN" altLang="en-US" sz="1200" dirty="0"/>
              <a:t>上</a:t>
            </a:r>
          </a:p>
          <a:p>
            <a:r>
              <a:rPr lang="en-US" altLang="zh-CN" sz="1200" dirty="0"/>
              <a:t>silence = zeros(1, round(</a:t>
            </a:r>
            <a:r>
              <a:rPr lang="en-US" altLang="zh-CN" sz="1200" dirty="0" err="1"/>
              <a:t>silence_duration</a:t>
            </a:r>
            <a:r>
              <a:rPr lang="en-US" altLang="zh-CN" sz="1200" dirty="0"/>
              <a:t> * fs)); </a:t>
            </a:r>
          </a:p>
          <a:p>
            <a:r>
              <a:rPr lang="en-US" altLang="zh-CN" sz="1200" dirty="0" err="1"/>
              <a:t>noise_silence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noise_level</a:t>
            </a:r>
            <a:r>
              <a:rPr lang="en-US" altLang="zh-CN" sz="1200" dirty="0"/>
              <a:t> * </a:t>
            </a:r>
            <a:r>
              <a:rPr lang="en-US" altLang="zh-CN" sz="1200" dirty="0" err="1"/>
              <a:t>randn</a:t>
            </a:r>
            <a:r>
              <a:rPr lang="en-US" altLang="zh-CN" sz="1200" dirty="0"/>
              <a:t>(size(silence)); </a:t>
            </a:r>
            <a:endParaRPr lang="zh-CN" altLang="en-US" sz="1200" dirty="0"/>
          </a:p>
          <a:p>
            <a:r>
              <a:rPr lang="en-US" altLang="zh-CN" sz="1200" dirty="0" err="1"/>
              <a:t>silence_with_noise</a:t>
            </a:r>
            <a:r>
              <a:rPr lang="en-US" altLang="zh-CN" sz="1200" dirty="0"/>
              <a:t> = silence + </a:t>
            </a:r>
            <a:r>
              <a:rPr lang="en-US" altLang="zh-CN" sz="1200" dirty="0" err="1"/>
              <a:t>noise_silence</a:t>
            </a:r>
            <a:r>
              <a:rPr lang="en-US" altLang="zh-CN" sz="1200" dirty="0"/>
              <a:t>; 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altLang="zh-CN" sz="1200" dirty="0"/>
              <a:t>% </a:t>
            </a:r>
            <a:r>
              <a:rPr lang="zh-CN" altLang="en-US" sz="1200" dirty="0"/>
              <a:t>合并信号和静音段</a:t>
            </a:r>
          </a:p>
          <a:p>
            <a:r>
              <a:rPr lang="en-US" altLang="zh-CN" sz="1200" dirty="0" err="1"/>
              <a:t>sound_signal</a:t>
            </a:r>
            <a:r>
              <a:rPr lang="en-US" altLang="zh-CN" sz="1200" dirty="0"/>
              <a:t> = [</a:t>
            </a:r>
            <a:r>
              <a:rPr lang="en-US" altLang="zh-CN" sz="1200" dirty="0" err="1"/>
              <a:t>sound_signal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signal_with_noise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silence_with_noise</a:t>
            </a:r>
            <a:r>
              <a:rPr lang="en-US" altLang="zh-CN" sz="1200" dirty="0"/>
              <a:t>]; </a:t>
            </a:r>
          </a:p>
          <a:p>
            <a:r>
              <a:rPr lang="en-US" altLang="zh-CN" sz="1200" dirty="0"/>
              <a:t>end</a:t>
            </a:r>
          </a:p>
          <a:p>
            <a:r>
              <a:rPr lang="en-US" altLang="zh-CN" sz="1200" dirty="0"/>
              <a:t>end </a:t>
            </a:r>
          </a:p>
          <a:p>
            <a:endParaRPr lang="en-US" altLang="zh-CN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936F90-3D95-17B5-7206-55FB86DE976A}"/>
                  </a:ext>
                </a:extLst>
              </p:cNvPr>
              <p:cNvSpPr txBox="1"/>
              <p:nvPr/>
            </p:nvSpPr>
            <p:spPr>
              <a:xfrm>
                <a:off x="4733751" y="2198370"/>
                <a:ext cx="7389034" cy="393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在 </a:t>
                </a:r>
                <a:r>
                  <a:rPr lang="en-US" altLang="zh-CN" sz="1600" dirty="0"/>
                  <a:t>4×4 </a:t>
                </a:r>
                <a:r>
                  <a:rPr lang="zh-CN" altLang="en-US" sz="1600" dirty="0"/>
                  <a:t>键盘矩阵 中定位字符 </a:t>
                </a:r>
                <a:r>
                  <a:rPr lang="en-US" altLang="zh-CN" sz="1600" dirty="0"/>
                  <a:t>key </a:t>
                </a:r>
                <a:r>
                  <a:rPr lang="zh-CN" altLang="en-US" sz="1600" dirty="0"/>
                  <a:t>所在的行</a:t>
                </a:r>
                <a:r>
                  <a:rPr lang="en-US" altLang="zh-CN" sz="1600" dirty="0"/>
                  <a:t>/</a:t>
                </a:r>
                <a:r>
                  <a:rPr lang="zh-CN" altLang="en-US" sz="1600" dirty="0"/>
                  <a:t>列索引</a:t>
                </a:r>
                <a:endParaRPr lang="en-US" altLang="zh-CN" sz="1600" dirty="0"/>
              </a:p>
              <a:p>
                <a:r>
                  <a:rPr lang="zh-CN" altLang="en-US" dirty="0"/>
                  <a:t>根据索引，从预定义的频率集合中取出一对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/>
                  <a:t>构造从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ar-AE" sz="16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600"/>
                          <m:t>tone</m:t>
                        </m:r>
                      </m:sub>
                    </m:sSub>
                  </m:oMath>
                </a14:m>
                <a:r>
                  <a:rPr lang="zh-CN" altLang="en-US" dirty="0"/>
                  <a:t>的离散时间序列，采样间隔为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1600" i="1" dirty="0"/>
              </a:p>
              <a:p>
                <a:endParaRPr lang="en-US" altLang="zh-CN" sz="1600" i="1" dirty="0"/>
              </a:p>
              <a:p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/>
                        <m:t>合成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拨号音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发音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段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r>
                  <a:rPr lang="zh-CN" altLang="en-US" dirty="0"/>
                  <a:t>将当前按键的发音段 </a:t>
                </a:r>
                <a:r>
                  <a:rPr lang="en-US" altLang="zh-CN" sz="1600" dirty="0"/>
                  <a:t>signal</a:t>
                </a:r>
                <a:r>
                  <a:rPr lang="zh-CN" altLang="en-US" dirty="0"/>
                  <a:t> 与静音段添加噪声后拼接到输出序列尾部，合成完整的拨号音</a:t>
                </a:r>
                <a:r>
                  <a:rPr lang="en-US" altLang="zh-CN" dirty="0" err="1"/>
                  <a:t>sound_signal</a:t>
                </a:r>
                <a:r>
                  <a:rPr lang="en-US" altLang="zh-CN" dirty="0"/>
                  <a:t> </a:t>
                </a:r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/>
                  <a:t>实现与 </a:t>
                </a:r>
                <a:r>
                  <a:rPr lang="en-US" altLang="zh-CN" dirty="0"/>
                  <a:t>DTMF </a:t>
                </a:r>
                <a:r>
                  <a:rPr lang="zh-CN" altLang="en-US" dirty="0"/>
                  <a:t>标准一致，保证每键对应一低一高两根稳定谱线，同时通过键间隔提供清晰的时间边界，便于接收端稳健识别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936F90-3D95-17B5-7206-55FB86DE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751" y="2198370"/>
                <a:ext cx="7389034" cy="3939540"/>
              </a:xfrm>
              <a:prstGeom prst="rect">
                <a:avLst/>
              </a:prstGeom>
              <a:blipFill>
                <a:blip r:embed="rId2"/>
                <a:stretch>
                  <a:fillRect l="-743" t="-464" b="-1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19D25B2-6926-905A-A218-097761A678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9" t="10548" b="7242"/>
          <a:stretch>
            <a:fillRect/>
          </a:stretch>
        </p:blipFill>
        <p:spPr>
          <a:xfrm>
            <a:off x="9951969" y="1578252"/>
            <a:ext cx="2114492" cy="12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3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/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103335" y="933714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D85082-45F2-B62E-9A2C-AC70115AB8BD}"/>
              </a:ext>
            </a:extLst>
          </p:cNvPr>
          <p:cNvSpPr txBox="1"/>
          <p:nvPr/>
        </p:nvSpPr>
        <p:spPr>
          <a:xfrm>
            <a:off x="725556" y="1641421"/>
            <a:ext cx="10247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根据前面的分析可知，根据拨号音识别号码的关键就在于准确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估计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DTMF 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信号的频率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有很多种方法可以估计 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DTMF 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信号的频率值，按照要求用两种方法实现， 一种是基于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带通滤波器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的方法，另一种是基于 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Goertzel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9CF344-82A3-F070-FD6E-8F2DEEB5DB9A}"/>
              </a:ext>
            </a:extLst>
          </p:cNvPr>
          <p:cNvSpPr/>
          <p:nvPr/>
        </p:nvSpPr>
        <p:spPr>
          <a:xfrm>
            <a:off x="207967" y="2487598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D9A4A-EABB-8854-86AB-21B6FFEA787D}"/>
              </a:ext>
            </a:extLst>
          </p:cNvPr>
          <p:cNvSpPr txBox="1"/>
          <p:nvPr/>
        </p:nvSpPr>
        <p:spPr>
          <a:xfrm>
            <a:off x="725556" y="3208672"/>
            <a:ext cx="114664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滤波器法的核心是利用 带通滤波器 来检测信号中是否存在某些特定频率成分：</a:t>
            </a:r>
          </a:p>
          <a:p>
            <a:pPr>
              <a:buFont typeface="+mj-lt"/>
              <a:buAutoNum type="arabicPeriod"/>
            </a:pPr>
            <a:r>
              <a:rPr lang="zh-CN" altLang="en-US" b="1" u="sng" dirty="0"/>
              <a:t>设计 </a:t>
            </a:r>
            <a:r>
              <a:rPr lang="en-US" altLang="zh-CN" b="1" u="sng" dirty="0"/>
              <a:t>8 </a:t>
            </a:r>
            <a:r>
              <a:rPr lang="zh-CN" altLang="en-US" b="1" u="sng" dirty="0"/>
              <a:t>个带通滤波器</a:t>
            </a:r>
          </a:p>
          <a:p>
            <a:pPr lvl="1"/>
            <a:r>
              <a:rPr lang="zh-CN" altLang="en-US" dirty="0"/>
              <a:t>每个滤波器的中心频率对应一个 </a:t>
            </a:r>
            <a:r>
              <a:rPr lang="en-US" altLang="zh-CN" dirty="0"/>
              <a:t>DTMF </a:t>
            </a:r>
            <a:r>
              <a:rPr lang="zh-CN" altLang="en-US" dirty="0"/>
              <a:t>标准频率。</a:t>
            </a:r>
          </a:p>
          <a:p>
            <a:pPr lvl="1"/>
            <a:r>
              <a:rPr lang="zh-CN" altLang="en-US" dirty="0"/>
              <a:t>带宽要足够窄，以抑制非目标频率。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将 </a:t>
            </a:r>
            <a:r>
              <a:rPr lang="en-US" altLang="zh-CN" b="1" dirty="0"/>
              <a:t>DTMF </a:t>
            </a:r>
            <a:r>
              <a:rPr lang="zh-CN" altLang="en-US" b="1" dirty="0"/>
              <a:t>信号依次输入到这 </a:t>
            </a:r>
            <a:r>
              <a:rPr lang="en-US" altLang="zh-CN" b="1" dirty="0"/>
              <a:t>8 </a:t>
            </a:r>
            <a:r>
              <a:rPr lang="zh-CN" altLang="en-US" b="1" dirty="0"/>
              <a:t>个滤波器中</a:t>
            </a:r>
            <a:endParaRPr lang="zh-CN" altLang="en-US" dirty="0"/>
          </a:p>
          <a:p>
            <a:pPr lvl="1"/>
            <a:r>
              <a:rPr lang="zh-CN" altLang="en-US" dirty="0"/>
              <a:t>如果输入信号包含与滤波器中心频率接近的频率，该滤波器的输出就会增强。</a:t>
            </a:r>
          </a:p>
          <a:p>
            <a:pPr lvl="1"/>
            <a:r>
              <a:rPr lang="zh-CN" altLang="en-US" dirty="0"/>
              <a:t>反之，其他滤波器输出很小。</a:t>
            </a:r>
          </a:p>
          <a:p>
            <a:pPr>
              <a:buFont typeface="+mj-lt"/>
              <a:buAutoNum type="arabicPeriod"/>
            </a:pPr>
            <a:r>
              <a:rPr lang="zh-CN" altLang="en-US" b="1" u="sng" dirty="0"/>
              <a:t>检测能量最大值</a:t>
            </a:r>
            <a:endParaRPr lang="zh-CN" altLang="en-US" u="sng" dirty="0"/>
          </a:p>
          <a:p>
            <a:pPr lvl="1"/>
            <a:r>
              <a:rPr lang="zh-CN" altLang="en-US" dirty="0"/>
              <a:t>对低频组的 </a:t>
            </a:r>
            <a:r>
              <a:rPr lang="en-US" altLang="zh-CN" dirty="0"/>
              <a:t>4 </a:t>
            </a:r>
            <a:r>
              <a:rPr lang="zh-CN" altLang="en-US" dirty="0"/>
              <a:t>个滤波器输出求最大值，得到一个低频候选频率；</a:t>
            </a:r>
          </a:p>
          <a:p>
            <a:pPr lvl="1"/>
            <a:r>
              <a:rPr lang="zh-CN" altLang="en-US" dirty="0"/>
              <a:t>对高频组的 </a:t>
            </a:r>
            <a:r>
              <a:rPr lang="en-US" altLang="zh-CN" dirty="0"/>
              <a:t>4 </a:t>
            </a:r>
            <a:r>
              <a:rPr lang="zh-CN" altLang="en-US" dirty="0"/>
              <a:t>个滤波器输出求最大值，得到一个高频候选频率。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映射到键盘矩阵</a:t>
            </a:r>
            <a:endParaRPr lang="zh-CN" altLang="en-US" dirty="0"/>
          </a:p>
          <a:p>
            <a:pPr lvl="1"/>
            <a:r>
              <a:rPr lang="zh-CN" altLang="en-US" dirty="0"/>
              <a:t>低频和高频对应关系与键盘矩阵一一对应，从而得到最终的按键值。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80F8-535B-5930-079A-A64045BF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6E3B4FB-94F2-6D70-2DA6-2B67B7023AF1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EFD987-D4BE-B362-5AC6-E62BC031DBA5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EA7A65-CD03-FCAF-D785-CA6DA3329EBB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2F079-7F69-7863-2E9F-F2F25305573D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54E937-66FD-7BB6-181B-1848FB1C6109}"/>
              </a:ext>
            </a:extLst>
          </p:cNvPr>
          <p:cNvSpPr/>
          <p:nvPr/>
        </p:nvSpPr>
        <p:spPr>
          <a:xfrm>
            <a:off x="208363" y="98944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0D654A-E2E6-83E5-8224-AC6EAB7057DB}"/>
              </a:ext>
            </a:extLst>
          </p:cNvPr>
          <p:cNvSpPr txBox="1"/>
          <p:nvPr/>
        </p:nvSpPr>
        <p:spPr>
          <a:xfrm>
            <a:off x="714003" y="1711218"/>
            <a:ext cx="50936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BW = 40; </a:t>
            </a:r>
          </a:p>
          <a:p>
            <a:r>
              <a:rPr lang="en-US" altLang="zh-CN" sz="1200" dirty="0"/>
              <a:t>ORD = 4; </a:t>
            </a:r>
          </a:p>
          <a:p>
            <a:r>
              <a:rPr lang="en-US" altLang="zh-CN" sz="1200" dirty="0"/>
              <a:t>MIN_DOM_RATIO = 3; </a:t>
            </a:r>
          </a:p>
          <a:p>
            <a:r>
              <a:rPr lang="en-US" altLang="zh-CN" sz="1200" dirty="0"/>
              <a:t>ABS_THR = 1e-2; </a:t>
            </a:r>
          </a:p>
          <a:p>
            <a:r>
              <a:rPr lang="en-US" altLang="zh-CN" sz="1200" dirty="0"/>
              <a:t>x = signal(:);</a:t>
            </a:r>
          </a:p>
          <a:p>
            <a:r>
              <a:rPr lang="en-US" altLang="zh-CN" sz="1200" dirty="0" err="1"/>
              <a:t>Ptot</a:t>
            </a:r>
            <a:r>
              <a:rPr lang="en-US" altLang="zh-CN" sz="1200" dirty="0"/>
              <a:t> = mean(x.^2) + eps; </a:t>
            </a:r>
          </a:p>
          <a:p>
            <a:endParaRPr lang="en-US" altLang="zh-CN" sz="1200" dirty="0"/>
          </a:p>
          <a:p>
            <a:r>
              <a:rPr lang="en-US" altLang="zh-CN" sz="1200" dirty="0" err="1"/>
              <a:t>lowE</a:t>
            </a:r>
            <a:r>
              <a:rPr lang="en-US" altLang="zh-CN" sz="1200" dirty="0"/>
              <a:t> = zeros(1, </a:t>
            </a:r>
            <a:r>
              <a:rPr lang="en-US" altLang="zh-CN" sz="1200" dirty="0" err="1"/>
              <a:t>numel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low_freq</a:t>
            </a:r>
            <a:r>
              <a:rPr lang="en-US" altLang="zh-CN" sz="1200" dirty="0"/>
              <a:t>));</a:t>
            </a:r>
          </a:p>
          <a:p>
            <a:r>
              <a:rPr lang="en-US" altLang="zh-CN" sz="1200" dirty="0" err="1"/>
              <a:t>highE</a:t>
            </a:r>
            <a:r>
              <a:rPr lang="en-US" altLang="zh-CN" sz="1200" dirty="0"/>
              <a:t> = zeros(1, </a:t>
            </a:r>
            <a:r>
              <a:rPr lang="en-US" altLang="zh-CN" sz="1200" dirty="0" err="1"/>
              <a:t>numel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high_freq</a:t>
            </a:r>
            <a:r>
              <a:rPr lang="en-US" altLang="zh-CN" sz="1200" dirty="0"/>
              <a:t>));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for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= 1:numel(</a:t>
            </a:r>
            <a:r>
              <a:rPr lang="en-US" altLang="zh-CN" sz="1200" dirty="0" err="1"/>
              <a:t>low_freq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y = </a:t>
            </a:r>
            <a:r>
              <a:rPr lang="en-US" altLang="zh-CN" sz="1200" dirty="0" err="1"/>
              <a:t>bandpass_narrow</a:t>
            </a:r>
            <a:r>
              <a:rPr lang="en-US" altLang="zh-CN" sz="1200" dirty="0"/>
              <a:t>(x, fs, </a:t>
            </a:r>
            <a:r>
              <a:rPr lang="en-US" altLang="zh-CN" sz="1200" dirty="0" err="1"/>
              <a:t>low_freq</a:t>
            </a:r>
            <a:r>
              <a:rPr lang="en-US" altLang="zh-CN" sz="1200" dirty="0"/>
              <a:t>(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), BW, ORD);</a:t>
            </a:r>
          </a:p>
          <a:p>
            <a:r>
              <a:rPr lang="en-US" altLang="zh-CN" sz="1200" dirty="0" err="1"/>
              <a:t>lowE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 = mean(y.^2) / </a:t>
            </a:r>
            <a:r>
              <a:rPr lang="en-US" altLang="zh-CN" sz="1200" dirty="0" err="1"/>
              <a:t>Ptot</a:t>
            </a:r>
            <a:r>
              <a:rPr lang="en-US" altLang="zh-CN" sz="1200" dirty="0"/>
              <a:t>;</a:t>
            </a:r>
          </a:p>
          <a:p>
            <a:endParaRPr lang="en-US" altLang="zh-CN" sz="1200" dirty="0"/>
          </a:p>
          <a:p>
            <a:r>
              <a:rPr lang="en-US" altLang="zh-CN" sz="1200" dirty="0"/>
              <a:t>function y = </a:t>
            </a:r>
            <a:r>
              <a:rPr lang="en-US" altLang="zh-CN" sz="1200" dirty="0" err="1"/>
              <a:t>bandpass_narrow</a:t>
            </a:r>
            <a:r>
              <a:rPr lang="en-US" altLang="zh-CN" sz="1200" dirty="0"/>
              <a:t>(x, fs, f0, BW, ORD)</a:t>
            </a:r>
          </a:p>
          <a:p>
            <a:r>
              <a:rPr lang="en-US" altLang="zh-CN" sz="1200" dirty="0"/>
              <a:t>f1 = max(1, f0 - BW);</a:t>
            </a:r>
          </a:p>
          <a:p>
            <a:r>
              <a:rPr lang="en-US" altLang="zh-CN" sz="1200" dirty="0"/>
              <a:t>f2 = min(fs/2-1, f0 + BW);</a:t>
            </a:r>
          </a:p>
          <a:p>
            <a:r>
              <a:rPr lang="en-US" altLang="zh-CN" sz="1200" dirty="0" err="1"/>
              <a:t>Wn</a:t>
            </a:r>
            <a:r>
              <a:rPr lang="en-US" altLang="zh-CN" sz="1200" dirty="0"/>
              <a:t> = [f1, f2] / (fs/2);</a:t>
            </a:r>
          </a:p>
          <a:p>
            <a:r>
              <a:rPr lang="en-US" altLang="zh-CN" sz="1200" dirty="0" err="1"/>
              <a:t>Wn</a:t>
            </a:r>
            <a:r>
              <a:rPr lang="en-US" altLang="zh-CN" sz="1200" dirty="0"/>
              <a:t> = min(max(</a:t>
            </a:r>
            <a:r>
              <a:rPr lang="en-US" altLang="zh-CN" sz="1200" dirty="0" err="1"/>
              <a:t>Wn</a:t>
            </a:r>
            <a:r>
              <a:rPr lang="en-US" altLang="zh-CN" sz="1200" dirty="0"/>
              <a:t>, 1e-6), 0.999999); </a:t>
            </a:r>
          </a:p>
          <a:p>
            <a:r>
              <a:rPr lang="en-US" altLang="zh-CN" sz="1200" dirty="0"/>
              <a:t>if </a:t>
            </a:r>
            <a:r>
              <a:rPr lang="en-US" altLang="zh-CN" sz="1200" dirty="0" err="1"/>
              <a:t>Wn</a:t>
            </a:r>
            <a:r>
              <a:rPr lang="en-US" altLang="zh-CN" sz="1200" dirty="0"/>
              <a:t>(2) &lt;= </a:t>
            </a:r>
            <a:r>
              <a:rPr lang="en-US" altLang="zh-CN" sz="1200" dirty="0" err="1"/>
              <a:t>Wn</a:t>
            </a:r>
            <a:r>
              <a:rPr lang="en-US" altLang="zh-CN" sz="1200" dirty="0"/>
              <a:t>(1)</a:t>
            </a:r>
          </a:p>
          <a:p>
            <a:r>
              <a:rPr lang="en-US" altLang="zh-CN" sz="1200" dirty="0" err="1"/>
              <a:t>Wn</a:t>
            </a:r>
            <a:r>
              <a:rPr lang="en-US" altLang="zh-CN" sz="1200" dirty="0"/>
              <a:t>(2) = min(0.999999, </a:t>
            </a:r>
            <a:r>
              <a:rPr lang="en-US" altLang="zh-CN" sz="1200" dirty="0" err="1"/>
              <a:t>Wn</a:t>
            </a:r>
            <a:r>
              <a:rPr lang="en-US" altLang="zh-CN" sz="1200" dirty="0"/>
              <a:t>(1) + 1e-3);</a:t>
            </a:r>
          </a:p>
          <a:p>
            <a:r>
              <a:rPr lang="en-US" altLang="zh-CN" sz="1200" dirty="0"/>
              <a:t>end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b,a</a:t>
            </a:r>
            <a:r>
              <a:rPr lang="en-US" altLang="zh-CN" sz="1200" dirty="0"/>
              <a:t>] = butter(ORD, </a:t>
            </a:r>
            <a:r>
              <a:rPr lang="en-US" altLang="zh-CN" sz="1200" dirty="0" err="1"/>
              <a:t>Wn</a:t>
            </a:r>
            <a:r>
              <a:rPr lang="en-US" altLang="zh-CN" sz="1200" dirty="0"/>
              <a:t>, 'bandpass');</a:t>
            </a:r>
          </a:p>
          <a:p>
            <a:r>
              <a:rPr lang="en-US" altLang="zh-CN" sz="1200" dirty="0"/>
              <a:t>y = </a:t>
            </a:r>
            <a:r>
              <a:rPr lang="en-US" altLang="zh-CN" sz="1200" dirty="0" err="1"/>
              <a:t>filtfilt</a:t>
            </a:r>
            <a:r>
              <a:rPr lang="en-US" altLang="zh-CN" sz="1200" dirty="0"/>
              <a:t>(b, a, x); </a:t>
            </a:r>
          </a:p>
          <a:p>
            <a:r>
              <a:rPr lang="en-US" altLang="zh-CN" sz="1200" dirty="0"/>
              <a:t>end</a:t>
            </a:r>
          </a:p>
          <a:p>
            <a:endParaRPr lang="en-US" altLang="zh-CN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CE2763-3CF1-DD88-FA7F-6D59F1C53941}"/>
              </a:ext>
            </a:extLst>
          </p:cNvPr>
          <p:cNvSpPr txBox="1"/>
          <p:nvPr/>
        </p:nvSpPr>
        <p:spPr>
          <a:xfrm>
            <a:off x="4676472" y="1774300"/>
            <a:ext cx="73890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</a:t>
            </a:r>
            <a:r>
              <a:rPr lang="en-US" altLang="zh-CN" b="1" dirty="0"/>
              <a:t>IIR </a:t>
            </a:r>
            <a:r>
              <a:rPr lang="zh-CN" altLang="en-US" b="1" dirty="0"/>
              <a:t>巴特沃斯带通滤波器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/>
          </a:p>
          <a:p>
            <a:r>
              <a:rPr lang="zh-CN" altLang="en-US" sz="1600" dirty="0"/>
              <a:t>通带平滑、实现简便、低阶计算量相对小即可满足分辨率要求</a:t>
            </a:r>
            <a:endParaRPr lang="en-US" altLang="zh-CN" sz="1600" dirty="0"/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主要参数设置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B7C841-3779-E152-F76B-9C80B341A2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47813" y="3191599"/>
            <a:ext cx="6369214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b="1" dirty="0"/>
              <a:t>中心频率 f0</a:t>
            </a:r>
            <a:r>
              <a:rPr lang="zh-CN" altLang="zh-CN" sz="1600" dirty="0"/>
              <a:t>：取自 DTMF 的 8 个标准频率（697, 770, 852, 941, 1209, 1336, 1477, 1633 Hz）。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b="1" dirty="0"/>
              <a:t>带宽 BW</a:t>
            </a:r>
            <a:r>
              <a:rPr lang="zh-CN" altLang="zh-CN" sz="1600" dirty="0"/>
              <a:t>：代码里设定为 40 Hz，即每个滤波器的通带范围大约是 [f0-40, f0+40]，这样既能覆盖目标频率，又能抑制其它频率。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b="1" dirty="0"/>
              <a:t>阶数 ORD</a:t>
            </a:r>
            <a:r>
              <a:rPr lang="zh-CN" altLang="zh-CN" sz="1600" dirty="0"/>
              <a:t>：设为 4 阶，属于低阶 IIR 滤波器，能保证较好阻带衰减，同时计算量不大。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b="1" dirty="0"/>
              <a:t>归一化频率 Wn</a:t>
            </a:r>
            <a:r>
              <a:rPr lang="zh-CN" altLang="zh-CN" sz="1600" dirty="0"/>
              <a:t>：通过Wn = [f1</a:t>
            </a:r>
            <a:r>
              <a:rPr lang="zh-CN" altLang="en-US" sz="1600" dirty="0"/>
              <a:t>，</a:t>
            </a:r>
            <a:r>
              <a:rPr lang="zh-CN" altLang="zh-CN" sz="1600" dirty="0"/>
              <a:t>f2] / (fs/2);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/>
              <a:t>把物理频率转换成数字滤波器的归一化频率，保证设计正确。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b="1" dirty="0"/>
              <a:t>滤波方式：</a:t>
            </a:r>
            <a:r>
              <a:rPr lang="zh-CN" altLang="zh-CN" sz="1600" dirty="0"/>
              <a:t>用 filtfilt(b,a,x) 做双向滤波，消除相位延迟，</a:t>
            </a:r>
            <a:r>
              <a:rPr lang="zh-CN" altLang="en-US" sz="1600" dirty="0"/>
              <a:t>确保信号的时序没有相位失真</a:t>
            </a:r>
            <a:r>
              <a:rPr lang="en-US" altLang="zh-CN" sz="1600" dirty="0"/>
              <a:t>,</a:t>
            </a:r>
            <a:r>
              <a:rPr lang="zh-CN" altLang="zh-CN" sz="1600" dirty="0"/>
              <a:t>保证检测结果不偏移。</a:t>
            </a:r>
          </a:p>
        </p:txBody>
      </p:sp>
    </p:spTree>
    <p:extLst>
      <p:ext uri="{BB962C8B-B14F-4D97-AF65-F5344CB8AC3E}">
        <p14:creationId xmlns:p14="http://schemas.microsoft.com/office/powerpoint/2010/main" val="252293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DC9F-62AB-4586-F9B4-7EB94A69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B2F9496-F5E4-8326-5137-D43FDA87E1C2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2B7ACE-D3EA-5ED1-BD44-A3FCE4708794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A6E0B5-0DC2-95DD-87CF-59AE440AE774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43BC0E-2FB6-0AF9-A47B-6E4EB6F0A71E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F191D-0BB3-42C1-2FC1-70BB1C5A05BB}"/>
              </a:ext>
            </a:extLst>
          </p:cNvPr>
          <p:cNvSpPr/>
          <p:nvPr/>
        </p:nvSpPr>
        <p:spPr>
          <a:xfrm>
            <a:off x="208363" y="98944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429C69-6A70-7D8C-4F8F-01C706312248}"/>
              </a:ext>
            </a:extLst>
          </p:cNvPr>
          <p:cNvSpPr txBox="1"/>
          <p:nvPr/>
        </p:nvSpPr>
        <p:spPr>
          <a:xfrm>
            <a:off x="714003" y="1711218"/>
            <a:ext cx="509361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ABS_THR = 1e-2; </a:t>
            </a:r>
          </a:p>
          <a:p>
            <a:r>
              <a:rPr lang="en-US" altLang="zh-CN" sz="1200" dirty="0"/>
              <a:t>x = signal(:);</a:t>
            </a:r>
          </a:p>
          <a:p>
            <a:r>
              <a:rPr lang="en-US" altLang="zh-CN" sz="1200" dirty="0" err="1"/>
              <a:t>Ptot</a:t>
            </a:r>
            <a:r>
              <a:rPr lang="en-US" altLang="zh-CN" sz="1200" dirty="0"/>
              <a:t> = mean(x.^2) + eps; </a:t>
            </a:r>
          </a:p>
          <a:p>
            <a:endParaRPr lang="en-US" altLang="zh-CN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maxL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idxL</a:t>
            </a:r>
            <a:r>
              <a:rPr lang="en-US" altLang="zh-CN" sz="1200" dirty="0"/>
              <a:t>] = max(</a:t>
            </a:r>
            <a:r>
              <a:rPr lang="en-US" altLang="zh-CN" sz="1200" dirty="0" err="1"/>
              <a:t>lowE</a:t>
            </a:r>
            <a:r>
              <a:rPr lang="en-US" altLang="zh-CN" sz="1200" dirty="0"/>
              <a:t>);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err="1"/>
              <a:t>maxH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idxH</a:t>
            </a:r>
            <a:r>
              <a:rPr lang="en-US" altLang="zh-CN" sz="1200" dirty="0"/>
              <a:t>] = max(</a:t>
            </a:r>
            <a:r>
              <a:rPr lang="en-US" altLang="zh-CN" sz="1200" dirty="0" err="1"/>
              <a:t>highE</a:t>
            </a:r>
            <a:r>
              <a:rPr lang="en-US" altLang="zh-CN" sz="1200" dirty="0"/>
              <a:t>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if </a:t>
            </a:r>
            <a:r>
              <a:rPr lang="en-US" altLang="zh-CN" sz="1200" dirty="0" err="1"/>
              <a:t>numel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lowE</a:t>
            </a:r>
            <a:r>
              <a:rPr lang="en-US" altLang="zh-CN" sz="1200" dirty="0"/>
              <a:t>) &gt; 1</a:t>
            </a:r>
          </a:p>
          <a:p>
            <a:r>
              <a:rPr lang="en-US" altLang="zh-CN" sz="1200" dirty="0" err="1"/>
              <a:t>secL</a:t>
            </a:r>
            <a:r>
              <a:rPr lang="en-US" altLang="zh-CN" sz="1200" dirty="0"/>
              <a:t> = max(</a:t>
            </a:r>
            <a:r>
              <a:rPr lang="en-US" altLang="zh-CN" sz="1200" dirty="0" err="1"/>
              <a:t>lowE</a:t>
            </a:r>
            <a:r>
              <a:rPr lang="en-US" altLang="zh-CN" sz="1200" dirty="0"/>
              <a:t>([1:idxL-1, idxL+1:end]));</a:t>
            </a:r>
          </a:p>
          <a:p>
            <a:r>
              <a:rPr lang="en-US" altLang="zh-CN" sz="1200" dirty="0"/>
              <a:t>else</a:t>
            </a:r>
          </a:p>
          <a:p>
            <a:r>
              <a:rPr lang="en-US" altLang="zh-CN" sz="1200" dirty="0" err="1"/>
              <a:t>secL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end</a:t>
            </a:r>
          </a:p>
          <a:p>
            <a:r>
              <a:rPr lang="en-US" altLang="zh-CN" sz="1200" dirty="0"/>
              <a:t>if </a:t>
            </a:r>
            <a:r>
              <a:rPr lang="en-US" altLang="zh-CN" sz="1200" dirty="0" err="1"/>
              <a:t>numel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highE</a:t>
            </a:r>
            <a:r>
              <a:rPr lang="en-US" altLang="zh-CN" sz="1200" dirty="0"/>
              <a:t>) &gt; 1</a:t>
            </a:r>
          </a:p>
          <a:p>
            <a:r>
              <a:rPr lang="en-US" altLang="zh-CN" sz="1200" dirty="0" err="1"/>
              <a:t>secH</a:t>
            </a:r>
            <a:r>
              <a:rPr lang="en-US" altLang="zh-CN" sz="1200" dirty="0"/>
              <a:t> = max(</a:t>
            </a:r>
            <a:r>
              <a:rPr lang="en-US" altLang="zh-CN" sz="1200" dirty="0" err="1"/>
              <a:t>highE</a:t>
            </a:r>
            <a:r>
              <a:rPr lang="en-US" altLang="zh-CN" sz="1200" dirty="0"/>
              <a:t>([1:idxH-1, idxH+1:end]));</a:t>
            </a:r>
          </a:p>
          <a:p>
            <a:r>
              <a:rPr lang="en-US" altLang="zh-CN" sz="1200" dirty="0"/>
              <a:t>else</a:t>
            </a:r>
          </a:p>
          <a:p>
            <a:r>
              <a:rPr lang="en-US" altLang="zh-CN" sz="1200" dirty="0" err="1"/>
              <a:t>secH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end</a:t>
            </a:r>
          </a:p>
          <a:p>
            <a:endParaRPr lang="en-US" altLang="zh-CN" sz="1200" dirty="0"/>
          </a:p>
          <a:p>
            <a:r>
              <a:rPr lang="en-US" altLang="zh-CN" sz="1200" dirty="0"/>
              <a:t>ok = (</a:t>
            </a:r>
            <a:r>
              <a:rPr lang="en-US" altLang="zh-CN" sz="1200" dirty="0" err="1"/>
              <a:t>maxL</a:t>
            </a:r>
            <a:r>
              <a:rPr lang="en-US" altLang="zh-CN" sz="1200" dirty="0"/>
              <a:t> &gt; ABS_THR) &amp;&amp; (</a:t>
            </a:r>
            <a:r>
              <a:rPr lang="en-US" altLang="zh-CN" sz="1200" dirty="0" err="1"/>
              <a:t>maxH</a:t>
            </a:r>
            <a:r>
              <a:rPr lang="en-US" altLang="zh-CN" sz="1200" dirty="0"/>
              <a:t> &gt; ABS_THR) &amp;&amp; ...</a:t>
            </a:r>
          </a:p>
          <a:p>
            <a:r>
              <a:rPr lang="en-US" altLang="zh-CN" sz="1200" dirty="0"/>
              <a:t>(</a:t>
            </a:r>
            <a:r>
              <a:rPr lang="en-US" altLang="zh-CN" sz="1200" dirty="0" err="1"/>
              <a:t>maxL</a:t>
            </a:r>
            <a:r>
              <a:rPr lang="en-US" altLang="zh-CN" sz="1200" dirty="0"/>
              <a:t>/(</a:t>
            </a:r>
            <a:r>
              <a:rPr lang="en-US" altLang="zh-CN" sz="1200" dirty="0" err="1"/>
              <a:t>secL</a:t>
            </a:r>
            <a:r>
              <a:rPr lang="en-US" altLang="zh-CN" sz="1200" dirty="0"/>
              <a:t> + eps) &gt;= MIN_DOM_RATIO) &amp;&amp; ...</a:t>
            </a:r>
          </a:p>
          <a:p>
            <a:r>
              <a:rPr lang="en-US" altLang="zh-CN" sz="1200" dirty="0"/>
              <a:t>(</a:t>
            </a:r>
            <a:r>
              <a:rPr lang="en-US" altLang="zh-CN" sz="1200" dirty="0" err="1"/>
              <a:t>maxH</a:t>
            </a:r>
            <a:r>
              <a:rPr lang="en-US" altLang="zh-CN" sz="1200" dirty="0"/>
              <a:t>/(</a:t>
            </a:r>
            <a:r>
              <a:rPr lang="en-US" altLang="zh-CN" sz="1200" dirty="0" err="1"/>
              <a:t>secH</a:t>
            </a:r>
            <a:r>
              <a:rPr lang="en-US" altLang="zh-CN" sz="1200" dirty="0"/>
              <a:t> + eps) &gt;= MIN_DOM_RATIO);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if ok</a:t>
            </a:r>
          </a:p>
          <a:p>
            <a:r>
              <a:rPr lang="en-US" altLang="zh-CN" sz="1200" dirty="0" err="1"/>
              <a:t>detected_key</a:t>
            </a:r>
            <a:r>
              <a:rPr lang="en-US" altLang="zh-CN" sz="1200" dirty="0"/>
              <a:t> = keypad{</a:t>
            </a:r>
            <a:r>
              <a:rPr lang="en-US" altLang="zh-CN" sz="1200" dirty="0" err="1"/>
              <a:t>idxL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idxH</a:t>
            </a:r>
            <a:r>
              <a:rPr lang="en-US" altLang="zh-CN" sz="1200" dirty="0"/>
              <a:t>};</a:t>
            </a:r>
          </a:p>
          <a:p>
            <a:r>
              <a:rPr lang="en-US" altLang="zh-CN" sz="1200" dirty="0"/>
              <a:t>else</a:t>
            </a:r>
          </a:p>
          <a:p>
            <a:r>
              <a:rPr lang="en-US" altLang="zh-CN" sz="1200" dirty="0" err="1"/>
              <a:t>detected_key</a:t>
            </a:r>
            <a:r>
              <a:rPr lang="en-US" altLang="zh-CN" sz="1200" dirty="0"/>
              <a:t> = '';</a:t>
            </a:r>
          </a:p>
          <a:p>
            <a:r>
              <a:rPr lang="en-US" altLang="zh-CN" sz="1200" dirty="0"/>
              <a:t>end</a:t>
            </a:r>
          </a:p>
          <a:p>
            <a:endParaRPr lang="en-US" altLang="zh-CN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8EB352-3E48-7F08-7D78-A7C50B699C26}"/>
                  </a:ext>
                </a:extLst>
              </p:cNvPr>
              <p:cNvSpPr txBox="1"/>
              <p:nvPr/>
            </p:nvSpPr>
            <p:spPr>
              <a:xfrm>
                <a:off x="4449266" y="1381870"/>
                <a:ext cx="7028732" cy="2431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选出能量最大的频点，并通过双阈值</a:t>
                </a:r>
                <a:endParaRPr lang="en-US" altLang="zh-CN" b="1" dirty="0"/>
              </a:p>
              <a:p>
                <a:endParaRPr lang="zh-CN" altLang="en-US" sz="1600" b="1" dirty="0"/>
              </a:p>
              <a:p>
                <a:r>
                  <a:rPr lang="zh-CN" altLang="en-US" sz="1600" dirty="0"/>
                  <a:t>对每个频点的滤波输出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600" dirty="0"/>
                  <a:t>计算能量</a:t>
                </a:r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altLang="zh-CN" sz="1600" dirty="0"/>
              </a:p>
              <a:p>
                <a:r>
                  <a:rPr lang="zh-CN" altLang="en-US" sz="1600" dirty="0"/>
                  <a:t>再用整段信号功率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600" i="1"/>
                          <m:t>tot</m:t>
                        </m:r>
                      </m:sub>
                    </m:sSub>
                    <m:r>
                      <a:rPr lang="ar-AE" altLang="zh-CN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zh-CN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1600" dirty="0"/>
                  <a:t>做归一化：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sz="1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altLang="zh-CN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altLang="zh-CN" sz="1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altLang="zh-CN" sz="16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600" i="1"/>
                          <m:t>tot</m:t>
                        </m:r>
                      </m:sub>
                    </m:sSub>
                  </m:oMath>
                </a14:m>
                <a:r>
                  <a:rPr lang="zh-CN" altLang="ar-AE" sz="1600" dirty="0"/>
                  <a:t>，</a:t>
                </a:r>
                <a:r>
                  <a:rPr lang="zh-CN" altLang="en-US" sz="1600" dirty="0"/>
                  <a:t>从而消除幅度尺度差异</a:t>
                </a:r>
              </a:p>
              <a:p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8EB352-3E48-7F08-7D78-A7C50B699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66" y="1381870"/>
                <a:ext cx="7028732" cy="2431756"/>
              </a:xfrm>
              <a:prstGeom prst="rect">
                <a:avLst/>
              </a:prstGeom>
              <a:blipFill>
                <a:blip r:embed="rId2"/>
                <a:stretch>
                  <a:fillRect l="-781" t="-1504" b="-6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69F757C7-91C8-E2C1-6224-DA01D8D55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265" y="4112196"/>
            <a:ext cx="730194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ABS_THR = 1e-2（绝对能量阈值）</a:t>
            </a:r>
            <a:b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归一化后，相当于至少要占整段功率的 1%。用来过滤整体太弱的片段（静音或纯噪声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，避免它们即便相对领先也被误认。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MIN_DOM_RATIO = 3（主导比阈值）</a:t>
            </a:r>
            <a:b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组内最大能量 / 第二大能量 ≥3 才算明显领先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抑制相邻通道或噪声导致的并列领先。</a:t>
            </a:r>
          </a:p>
        </p:txBody>
      </p:sp>
    </p:spTree>
    <p:extLst>
      <p:ext uri="{BB962C8B-B14F-4D97-AF65-F5344CB8AC3E}">
        <p14:creationId xmlns:p14="http://schemas.microsoft.com/office/powerpoint/2010/main" val="567990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C138-FB89-251F-0B4D-1DA9AA43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5DCAB58-C5DC-03B6-D5EE-B8D248A2D806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DFEE15-9411-73E8-FB83-5FDE35A0AA87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3D0493-8CED-3A03-DBB7-D4188B73C930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54BC5F-A7B8-383C-2961-2B1DCE081D73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69A96A-B59D-14A1-8978-7A4813D60FE6}"/>
              </a:ext>
            </a:extLst>
          </p:cNvPr>
          <p:cNvSpPr/>
          <p:nvPr/>
        </p:nvSpPr>
        <p:spPr>
          <a:xfrm>
            <a:off x="103335" y="933714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拨号音识别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AD0982-C95F-E141-C66D-91E342D2EAC8}"/>
              </a:ext>
            </a:extLst>
          </p:cNvPr>
          <p:cNvSpPr txBox="1"/>
          <p:nvPr/>
        </p:nvSpPr>
        <p:spPr>
          <a:xfrm>
            <a:off x="725556" y="1641421"/>
            <a:ext cx="10247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根据前面的分析可知，根据拨号音识别号码的关键就在于准确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估计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DTMF 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信号的频率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有很多种方法可以估计 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DTMF 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信号的频率值，按照要求用两种方法实现， 一种是基于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带通滤波器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的方法，另一种是基于 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Goertzel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sz="18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6BE17E-DE7C-8BF4-BFD1-67ED50FE8A72}"/>
              </a:ext>
            </a:extLst>
          </p:cNvPr>
          <p:cNvSpPr/>
          <p:nvPr/>
        </p:nvSpPr>
        <p:spPr>
          <a:xfrm>
            <a:off x="605532" y="2527810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10D49B-EE50-7313-140A-B3047A8F8A1C}"/>
              </a:ext>
            </a:extLst>
          </p:cNvPr>
          <p:cNvSpPr txBox="1"/>
          <p:nvPr/>
        </p:nvSpPr>
        <p:spPr>
          <a:xfrm>
            <a:off x="725556" y="3208672"/>
            <a:ext cx="11466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DTMF </a:t>
            </a:r>
            <a:r>
              <a:rPr lang="zh-CN" altLang="en-US" dirty="0"/>
              <a:t>信号只包含 </a:t>
            </a:r>
            <a:r>
              <a:rPr lang="en-US" altLang="zh-CN" dirty="0"/>
              <a:t>8 </a:t>
            </a:r>
            <a:r>
              <a:rPr lang="zh-CN" altLang="en-US" dirty="0"/>
              <a:t>个固定频率分量，传统的频谱分析方法（如 </a:t>
            </a:r>
            <a:r>
              <a:rPr lang="en-US" altLang="zh-CN" dirty="0"/>
              <a:t>FFT</a:t>
            </a:r>
            <a:r>
              <a:rPr lang="zh-CN" altLang="en-US" dirty="0"/>
              <a:t>）会计算整个频谱，而 </a:t>
            </a:r>
            <a:r>
              <a:rPr lang="en-US" altLang="zh-CN" dirty="0" err="1"/>
              <a:t>Goertzel</a:t>
            </a:r>
            <a:r>
              <a:rPr lang="en-US" altLang="zh-CN" dirty="0"/>
              <a:t> </a:t>
            </a:r>
            <a:r>
              <a:rPr lang="zh-CN" altLang="en-US" dirty="0"/>
              <a:t>算法则</a:t>
            </a:r>
            <a:r>
              <a:rPr lang="zh-CN" altLang="en-US" b="1" dirty="0"/>
              <a:t>只针对感兴趣的几个频率点计算功率谱</a:t>
            </a: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B01574-CFC9-B7EA-B791-238D458EA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556" y="4121906"/>
            <a:ext cx="90280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设置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DTMF 信号8 个固定频率（低频 4 个 + 高频 4 个）；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Goertzel 算法本质是单点 DFT 递推器，可直接计算信号在指定频率上的能量；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通过对 8 个频率逐一计算功率谱，选取低频组和高频组的能量最大值；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按照键盘矩阵映射关系，将（行频，列频）对应为最终的按键值</a:t>
            </a:r>
          </a:p>
        </p:txBody>
      </p:sp>
    </p:spTree>
    <p:extLst>
      <p:ext uri="{BB962C8B-B14F-4D97-AF65-F5344CB8AC3E}">
        <p14:creationId xmlns:p14="http://schemas.microsoft.com/office/powerpoint/2010/main" val="1822538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7FDA-9DDC-F0CD-2A19-322A3F85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7F9FB9-B8AB-73DB-1C2A-440D62F42D83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F0C4A9-31F0-727B-8CA5-B4F017807630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7D8C3E-F94A-9CC7-FDD4-0CF82D9D83B1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340583-A71C-49BB-0BD4-064634B3E96A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BA2148-594F-FD4E-E9F9-DA00CED8E004}"/>
              </a:ext>
            </a:extLst>
          </p:cNvPr>
          <p:cNvSpPr txBox="1"/>
          <p:nvPr/>
        </p:nvSpPr>
        <p:spPr>
          <a:xfrm>
            <a:off x="714003" y="1642896"/>
            <a:ext cx="461337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%</a:t>
            </a:r>
            <a:r>
              <a:rPr lang="en-US" altLang="zh-CN" sz="1100" dirty="0" err="1"/>
              <a:t>Goertzel</a:t>
            </a:r>
            <a:r>
              <a:rPr lang="zh-CN" altLang="en-US" sz="1100" dirty="0"/>
              <a:t>算法</a:t>
            </a:r>
          </a:p>
          <a:p>
            <a:r>
              <a:rPr lang="en-US" altLang="zh-CN" sz="1100" dirty="0"/>
              <a:t>function magnitude = </a:t>
            </a:r>
            <a:r>
              <a:rPr lang="en-US" altLang="zh-CN" sz="1100" dirty="0" err="1"/>
              <a:t>goertzel</a:t>
            </a:r>
            <a:r>
              <a:rPr lang="en-US" altLang="zh-CN" sz="1100" dirty="0"/>
              <a:t>(signal, </a:t>
            </a:r>
            <a:r>
              <a:rPr lang="en-US" altLang="zh-CN" sz="1100" dirty="0" err="1"/>
              <a:t>target_freq</a:t>
            </a:r>
            <a:r>
              <a:rPr lang="en-US" altLang="zh-CN" sz="1100" dirty="0"/>
              <a:t>, fs, N)</a:t>
            </a:r>
          </a:p>
          <a:p>
            <a:r>
              <a:rPr lang="en-US" altLang="zh-CN" sz="1100" dirty="0"/>
              <a:t>k = round(0.5 + ((N * </a:t>
            </a:r>
            <a:r>
              <a:rPr lang="en-US" altLang="zh-CN" sz="1100" dirty="0" err="1"/>
              <a:t>target_freq</a:t>
            </a:r>
            <a:r>
              <a:rPr lang="en-US" altLang="zh-CN" sz="1100" dirty="0"/>
              <a:t>) / fs));</a:t>
            </a:r>
          </a:p>
          <a:p>
            <a:r>
              <a:rPr lang="en-US" altLang="zh-CN" sz="1100" dirty="0"/>
              <a:t>w = 2 * pi * k / N;</a:t>
            </a:r>
          </a:p>
          <a:p>
            <a:r>
              <a:rPr lang="en-US" altLang="zh-CN" sz="1100" dirty="0" err="1"/>
              <a:t>coeff</a:t>
            </a:r>
            <a:r>
              <a:rPr lang="en-US" altLang="zh-CN" sz="1100" dirty="0"/>
              <a:t> = 2 * cos(w);</a:t>
            </a:r>
          </a:p>
          <a:p>
            <a:r>
              <a:rPr lang="en-US" altLang="zh-CN" sz="1100" dirty="0" err="1"/>
              <a:t>s_prev</a:t>
            </a:r>
            <a:r>
              <a:rPr lang="en-US" altLang="zh-CN" sz="1100" dirty="0"/>
              <a:t> = 0;</a:t>
            </a:r>
          </a:p>
          <a:p>
            <a:r>
              <a:rPr lang="en-US" altLang="zh-CN" sz="1100" dirty="0"/>
              <a:t>s_prev2 = 0;</a:t>
            </a:r>
          </a:p>
          <a:p>
            <a:r>
              <a:rPr lang="en-US" altLang="zh-CN" sz="1100" dirty="0"/>
              <a:t>for 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= 1:N</a:t>
            </a:r>
          </a:p>
          <a:p>
            <a:r>
              <a:rPr lang="en-US" altLang="zh-CN" sz="1100" dirty="0"/>
              <a:t>s = signal(</a:t>
            </a:r>
            <a:r>
              <a:rPr lang="en-US" altLang="zh-CN" sz="1100" dirty="0" err="1"/>
              <a:t>i</a:t>
            </a:r>
            <a:r>
              <a:rPr lang="en-US" altLang="zh-CN" sz="1100" dirty="0"/>
              <a:t>) + </a:t>
            </a:r>
            <a:r>
              <a:rPr lang="en-US" altLang="zh-CN" sz="1100" dirty="0" err="1"/>
              <a:t>coeff</a:t>
            </a:r>
            <a:r>
              <a:rPr lang="en-US" altLang="zh-CN" sz="1100" dirty="0"/>
              <a:t> * </a:t>
            </a:r>
            <a:r>
              <a:rPr lang="en-US" altLang="zh-CN" sz="1100" dirty="0" err="1"/>
              <a:t>s_prev</a:t>
            </a:r>
            <a:r>
              <a:rPr lang="en-US" altLang="zh-CN" sz="1100" dirty="0"/>
              <a:t> - s_prev2;</a:t>
            </a:r>
          </a:p>
          <a:p>
            <a:r>
              <a:rPr lang="en-US" altLang="zh-CN" sz="1100" dirty="0"/>
              <a:t>s_prev2 = </a:t>
            </a:r>
            <a:r>
              <a:rPr lang="en-US" altLang="zh-CN" sz="1100" dirty="0" err="1"/>
              <a:t>s_prev</a:t>
            </a:r>
            <a:r>
              <a:rPr lang="en-US" altLang="zh-CN" sz="1100" dirty="0"/>
              <a:t>;</a:t>
            </a:r>
          </a:p>
          <a:p>
            <a:r>
              <a:rPr lang="en-US" altLang="zh-CN" sz="1100" dirty="0" err="1"/>
              <a:t>s_prev</a:t>
            </a:r>
            <a:r>
              <a:rPr lang="en-US" altLang="zh-CN" sz="1100" dirty="0"/>
              <a:t> = s;</a:t>
            </a:r>
          </a:p>
          <a:p>
            <a:r>
              <a:rPr lang="en-US" altLang="zh-CN" sz="1100" dirty="0"/>
              <a:t>end</a:t>
            </a:r>
          </a:p>
          <a:p>
            <a:r>
              <a:rPr lang="en-US" altLang="zh-CN" sz="1100" dirty="0"/>
              <a:t>magnitude = sqrt(s_prev^2 + s_prev2^2 - </a:t>
            </a:r>
            <a:r>
              <a:rPr lang="en-US" altLang="zh-CN" sz="1100" dirty="0" err="1"/>
              <a:t>s_prev</a:t>
            </a:r>
            <a:r>
              <a:rPr lang="en-US" altLang="zh-CN" sz="1100" dirty="0"/>
              <a:t> * s_prev2 * </a:t>
            </a:r>
            <a:r>
              <a:rPr lang="en-US" altLang="zh-CN" sz="1100" dirty="0" err="1"/>
              <a:t>coeff</a:t>
            </a:r>
            <a:r>
              <a:rPr lang="en-US" altLang="zh-CN" sz="1100" dirty="0"/>
              <a:t>);</a:t>
            </a:r>
          </a:p>
          <a:p>
            <a:r>
              <a:rPr lang="en-US" altLang="zh-CN" sz="1100" dirty="0"/>
              <a:t>end</a:t>
            </a:r>
          </a:p>
          <a:p>
            <a:r>
              <a:rPr lang="en-US" altLang="zh-CN" sz="1100" dirty="0"/>
              <a:t>N = length(signal); </a:t>
            </a:r>
          </a:p>
          <a:p>
            <a:r>
              <a:rPr lang="en-US" altLang="zh-CN" sz="1100" dirty="0"/>
              <a:t>threshold = 0.1; </a:t>
            </a:r>
          </a:p>
          <a:p>
            <a:r>
              <a:rPr lang="en-US" altLang="zh-CN" sz="1100" dirty="0" err="1"/>
              <a:t>detected_key</a:t>
            </a:r>
            <a:r>
              <a:rPr lang="en-US" altLang="zh-CN" sz="1100" dirty="0"/>
              <a:t> = '';</a:t>
            </a:r>
          </a:p>
          <a:p>
            <a:endParaRPr lang="en-US" altLang="zh-CN" sz="1100" dirty="0"/>
          </a:p>
          <a:p>
            <a:r>
              <a:rPr lang="en-US" altLang="zh-CN" sz="1100" dirty="0" err="1"/>
              <a:t>low_freq_magnitude</a:t>
            </a:r>
            <a:r>
              <a:rPr lang="en-US" altLang="zh-CN" sz="1100" dirty="0"/>
              <a:t> = zeros(1, length(</a:t>
            </a:r>
            <a:r>
              <a:rPr lang="en-US" altLang="zh-CN" sz="1100" dirty="0" err="1"/>
              <a:t>low_freq</a:t>
            </a:r>
            <a:r>
              <a:rPr lang="en-US" altLang="zh-CN" sz="1100" dirty="0"/>
              <a:t>)); </a:t>
            </a:r>
          </a:p>
          <a:p>
            <a:r>
              <a:rPr lang="en-US" altLang="zh-CN" sz="1100" dirty="0"/>
              <a:t>for 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= 1:length(</a:t>
            </a:r>
            <a:r>
              <a:rPr lang="en-US" altLang="zh-CN" sz="1100" dirty="0" err="1"/>
              <a:t>low_freq</a:t>
            </a:r>
            <a:r>
              <a:rPr lang="en-US" altLang="zh-CN" sz="1100" dirty="0"/>
              <a:t>)</a:t>
            </a:r>
          </a:p>
          <a:p>
            <a:r>
              <a:rPr lang="en-US" altLang="zh-CN" sz="1100" dirty="0" err="1"/>
              <a:t>low_freq_magnitude</a:t>
            </a:r>
            <a:r>
              <a:rPr lang="en-US" altLang="zh-CN" sz="1100" dirty="0"/>
              <a:t>(</a:t>
            </a:r>
            <a:r>
              <a:rPr lang="en-US" altLang="zh-CN" sz="1100" dirty="0" err="1"/>
              <a:t>i</a:t>
            </a:r>
            <a:r>
              <a:rPr lang="en-US" altLang="zh-CN" sz="1100" dirty="0"/>
              <a:t>) = </a:t>
            </a:r>
            <a:r>
              <a:rPr lang="en-US" altLang="zh-CN" sz="1100" dirty="0" err="1"/>
              <a:t>goertzel</a:t>
            </a:r>
            <a:r>
              <a:rPr lang="en-US" altLang="zh-CN" sz="1100" dirty="0"/>
              <a:t>(signal, </a:t>
            </a:r>
            <a:r>
              <a:rPr lang="en-US" altLang="zh-CN" sz="1100" dirty="0" err="1"/>
              <a:t>low_freq</a:t>
            </a:r>
            <a:r>
              <a:rPr lang="en-US" altLang="zh-CN" sz="1100" dirty="0"/>
              <a:t>(</a:t>
            </a:r>
            <a:r>
              <a:rPr lang="en-US" altLang="zh-CN" sz="1100" dirty="0" err="1"/>
              <a:t>i</a:t>
            </a:r>
            <a:r>
              <a:rPr lang="en-US" altLang="zh-CN" sz="1100" dirty="0"/>
              <a:t>), fs, N);</a:t>
            </a:r>
          </a:p>
          <a:p>
            <a:r>
              <a:rPr lang="en-US" altLang="zh-CN" sz="1100" dirty="0"/>
              <a:t>end</a:t>
            </a:r>
          </a:p>
          <a:p>
            <a:r>
              <a:rPr lang="en-US" altLang="zh-CN" sz="1100" dirty="0" err="1"/>
              <a:t>high_freq_magnitude</a:t>
            </a:r>
            <a:r>
              <a:rPr lang="en-US" altLang="zh-CN" sz="1100" dirty="0"/>
              <a:t> = zeros(1, length(</a:t>
            </a:r>
            <a:r>
              <a:rPr lang="en-US" altLang="zh-CN" sz="1100" dirty="0" err="1"/>
              <a:t>high_freq</a:t>
            </a:r>
            <a:r>
              <a:rPr lang="en-US" altLang="zh-CN" sz="1100" dirty="0"/>
              <a:t>)); </a:t>
            </a:r>
          </a:p>
          <a:p>
            <a:r>
              <a:rPr lang="en-US" altLang="zh-CN" sz="1100" dirty="0"/>
              <a:t>for 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= 1:length(</a:t>
            </a:r>
            <a:r>
              <a:rPr lang="en-US" altLang="zh-CN" sz="1100" dirty="0" err="1"/>
              <a:t>high_freq</a:t>
            </a:r>
            <a:r>
              <a:rPr lang="en-US" altLang="zh-CN" sz="1100" dirty="0"/>
              <a:t>)</a:t>
            </a:r>
          </a:p>
          <a:p>
            <a:r>
              <a:rPr lang="en-US" altLang="zh-CN" sz="1100" dirty="0" err="1"/>
              <a:t>high_freq_magnitude</a:t>
            </a:r>
            <a:r>
              <a:rPr lang="en-US" altLang="zh-CN" sz="1100" dirty="0"/>
              <a:t>(</a:t>
            </a:r>
            <a:r>
              <a:rPr lang="en-US" altLang="zh-CN" sz="1100" dirty="0" err="1"/>
              <a:t>i</a:t>
            </a:r>
            <a:r>
              <a:rPr lang="en-US" altLang="zh-CN" sz="1100" dirty="0"/>
              <a:t>) = </a:t>
            </a:r>
            <a:r>
              <a:rPr lang="en-US" altLang="zh-CN" sz="1100" dirty="0" err="1"/>
              <a:t>goertzel</a:t>
            </a:r>
            <a:r>
              <a:rPr lang="en-US" altLang="zh-CN" sz="1100" dirty="0"/>
              <a:t>(signal, </a:t>
            </a:r>
            <a:r>
              <a:rPr lang="en-US" altLang="zh-CN" sz="1100" dirty="0" err="1"/>
              <a:t>high_freq</a:t>
            </a:r>
            <a:r>
              <a:rPr lang="en-US" altLang="zh-CN" sz="1100" dirty="0"/>
              <a:t>(</a:t>
            </a:r>
            <a:r>
              <a:rPr lang="en-US" altLang="zh-CN" sz="1100" dirty="0" err="1"/>
              <a:t>i</a:t>
            </a:r>
            <a:r>
              <a:rPr lang="en-US" altLang="zh-CN" sz="1100" dirty="0"/>
              <a:t>), fs, N);</a:t>
            </a:r>
          </a:p>
          <a:p>
            <a:r>
              <a:rPr lang="en-US" altLang="zh-CN" sz="1100" dirty="0"/>
              <a:t>end</a:t>
            </a:r>
          </a:p>
          <a:p>
            <a:r>
              <a:rPr lang="en-US" altLang="zh-CN" sz="1100" dirty="0"/>
              <a:t>[</a:t>
            </a:r>
            <a:r>
              <a:rPr lang="en-US" altLang="zh-CN" sz="1100" dirty="0" err="1"/>
              <a:t>max_low_freq_value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low_freq_index</a:t>
            </a:r>
            <a:r>
              <a:rPr lang="en-US" altLang="zh-CN" sz="1100" dirty="0"/>
              <a:t>] = max(</a:t>
            </a:r>
            <a:r>
              <a:rPr lang="en-US" altLang="zh-CN" sz="1100" dirty="0" err="1"/>
              <a:t>low_freq_magnitude</a:t>
            </a:r>
            <a:r>
              <a:rPr lang="en-US" altLang="zh-CN" sz="1100" dirty="0"/>
              <a:t>);</a:t>
            </a:r>
          </a:p>
          <a:p>
            <a:r>
              <a:rPr lang="en-US" altLang="zh-CN" sz="1100" dirty="0"/>
              <a:t>[</a:t>
            </a:r>
            <a:r>
              <a:rPr lang="en-US" altLang="zh-CN" sz="1100" dirty="0" err="1"/>
              <a:t>max_high_freq_value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high_freq_index</a:t>
            </a:r>
            <a:r>
              <a:rPr lang="en-US" altLang="zh-CN" sz="1100" dirty="0"/>
              <a:t>] = max(</a:t>
            </a:r>
            <a:r>
              <a:rPr lang="en-US" altLang="zh-CN" sz="1100" dirty="0" err="1"/>
              <a:t>high_freq_magnitude</a:t>
            </a:r>
            <a:r>
              <a:rPr lang="en-US" altLang="zh-CN" sz="1100" dirty="0"/>
              <a:t>);</a:t>
            </a:r>
          </a:p>
          <a:p>
            <a:r>
              <a:rPr lang="en-US" altLang="zh-CN" sz="1100" dirty="0"/>
              <a:t>if </a:t>
            </a:r>
            <a:r>
              <a:rPr lang="en-US" altLang="zh-CN" sz="1100" dirty="0" err="1"/>
              <a:t>max_low_freq_value</a:t>
            </a:r>
            <a:r>
              <a:rPr lang="en-US" altLang="zh-CN" sz="1100" dirty="0"/>
              <a:t> &gt; threshold &amp;&amp; </a:t>
            </a:r>
            <a:r>
              <a:rPr lang="en-US" altLang="zh-CN" sz="1100" dirty="0" err="1"/>
              <a:t>max_high_freq_value</a:t>
            </a:r>
            <a:r>
              <a:rPr lang="en-US" altLang="zh-CN" sz="1100" dirty="0"/>
              <a:t> &gt; threshold</a:t>
            </a:r>
          </a:p>
          <a:p>
            <a:r>
              <a:rPr lang="en-US" altLang="zh-CN" sz="1100" dirty="0" err="1"/>
              <a:t>detected_key</a:t>
            </a:r>
            <a:r>
              <a:rPr lang="en-US" altLang="zh-CN" sz="1100" dirty="0"/>
              <a:t> = keypad{</a:t>
            </a:r>
            <a:r>
              <a:rPr lang="en-US" altLang="zh-CN" sz="1100" dirty="0" err="1"/>
              <a:t>low_freq_index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high_freq_index</a:t>
            </a:r>
            <a:r>
              <a:rPr lang="en-US" altLang="zh-CN" sz="1100" dirty="0"/>
              <a:t>}; </a:t>
            </a:r>
          </a:p>
          <a:p>
            <a:r>
              <a:rPr lang="en-US" altLang="zh-CN" sz="1100" dirty="0"/>
              <a:t>end</a:t>
            </a:r>
          </a:p>
          <a:p>
            <a:br>
              <a:rPr lang="en-US" altLang="zh-CN" sz="1100" dirty="0"/>
            </a:br>
            <a:endParaRPr lang="en-US" altLang="zh-CN" sz="11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6E22B7-43C7-FFDC-DDB8-E682CBD626A0}"/>
              </a:ext>
            </a:extLst>
          </p:cNvPr>
          <p:cNvSpPr txBox="1"/>
          <p:nvPr/>
        </p:nvSpPr>
        <p:spPr>
          <a:xfrm>
            <a:off x="5097226" y="1690477"/>
            <a:ext cx="7972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逐频点能量计算</a:t>
            </a:r>
            <a:endParaRPr lang="zh-CN" altLang="en-US" b="1" dirty="0"/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229648-8936-F2FE-AC65-2DE0A9955998}"/>
              </a:ext>
            </a:extLst>
          </p:cNvPr>
          <p:cNvSpPr/>
          <p:nvPr/>
        </p:nvSpPr>
        <p:spPr>
          <a:xfrm>
            <a:off x="552523" y="858036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97C5926-6E9D-6BFC-251B-AE1700877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7226" y="2395807"/>
                <a:ext cx="6796600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对每个目标频率 f 先换算到 DFT 频点索引 k≈round(N⋅f/fs</a:t>
                </a:r>
                <a:r>
                  <a:rPr lang="en-US" altLang="zh-CN" dirty="0">
                    <a:latin typeface="Arial" panose="020B0604020202020204" pitchFamily="34" charset="0"/>
                  </a:rPr>
                  <a:t>)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，得到角频率ω=2πk/N，再计算系数 coeff=2cos⁡ω</a:t>
                </a: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zh-CN" altLang="zh-CN" dirty="0">
                    <a:latin typeface="Arial" panose="020B0604020202020204" pitchFamily="34" charset="0"/>
                  </a:rPr>
                  <a:t>对输入序列 x(n) 执行二阶递推：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zh-CN" altLang="zh-CN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0" lang="zh-CN" altLang="zh-CN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zh-CN" altLang="zh-CN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0" lang="zh-CN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zh-CN" altLang="zh-CN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只保存两段历史状态 s(n−1),s(n−2)，计算量和内存都很小。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用末两个状态量合成该频点的单点 DFT幅值</a:t>
                </a:r>
              </a:p>
            </p:txBody>
          </p:sp>
        </mc:Choice>
        <mc:Fallback xmlns=""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97C5926-6E9D-6BFC-251B-AE1700877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7226" y="2395807"/>
                <a:ext cx="6796600" cy="2308324"/>
              </a:xfrm>
              <a:prstGeom prst="rect">
                <a:avLst/>
              </a:prstGeom>
              <a:blipFill>
                <a:blip r:embed="rId2"/>
                <a:stretch>
                  <a:fillRect l="-717" t="-1583" b="-36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09BDFDF1-15D5-37F5-D9E4-CBB4210CCF0B}"/>
              </a:ext>
            </a:extLst>
          </p:cNvPr>
          <p:cNvSpPr txBox="1"/>
          <p:nvPr/>
        </p:nvSpPr>
        <p:spPr>
          <a:xfrm>
            <a:off x="5097226" y="5215104"/>
            <a:ext cx="5802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有效性判定</a:t>
            </a:r>
            <a:endParaRPr lang="en-US" altLang="zh-CN" b="1" dirty="0"/>
          </a:p>
          <a:p>
            <a:pPr>
              <a:buNone/>
            </a:pPr>
            <a:endParaRPr lang="zh-CN" altLang="en-US" dirty="0"/>
          </a:p>
          <a:p>
            <a:r>
              <a:rPr lang="zh-CN" altLang="en-US" dirty="0"/>
              <a:t>与设定阈值比较：最大值必须大于阈值</a:t>
            </a:r>
            <a:r>
              <a:rPr lang="en-US" altLang="zh-CN" dirty="0"/>
              <a:t>,</a:t>
            </a:r>
            <a:r>
              <a:rPr lang="zh-CN" altLang="en-US" dirty="0"/>
              <a:t>确定高频和低频的最大值。</a:t>
            </a:r>
          </a:p>
        </p:txBody>
      </p:sp>
    </p:spTree>
    <p:extLst>
      <p:ext uri="{BB962C8B-B14F-4D97-AF65-F5344CB8AC3E}">
        <p14:creationId xmlns:p14="http://schemas.microsoft.com/office/powerpoint/2010/main" val="3912252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9730-2E86-E673-B0CD-297B335E5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2AB3C66-4E0B-E691-56BC-A0A52EB257C2}"/>
              </a:ext>
            </a:extLst>
          </p:cNvPr>
          <p:cNvSpPr/>
          <p:nvPr/>
        </p:nvSpPr>
        <p:spPr>
          <a:xfrm>
            <a:off x="670207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设计思想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D7EC75-F53B-A1DE-3318-757A50407C71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24AAD-C3BB-9B73-892B-3164CC32038C}"/>
              </a:ext>
            </a:extLst>
          </p:cNvPr>
          <p:cNvSpPr/>
          <p:nvPr/>
        </p:nvSpPr>
        <p:spPr>
          <a:xfrm>
            <a:off x="8549406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CE0986-1CDE-1E5B-658A-28373A71CEFF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FE7E92-DD39-F29B-5227-3C82D53290AB}"/>
              </a:ext>
            </a:extLst>
          </p:cNvPr>
          <p:cNvSpPr/>
          <p:nvPr/>
        </p:nvSpPr>
        <p:spPr>
          <a:xfrm>
            <a:off x="552523" y="858036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算法识别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9E5D7B5-599B-B225-ED05-307CC1DB56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23" y="2182282"/>
            <a:ext cx="5021449" cy="27457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2BB88E0-A7B5-3EB5-793C-748A19C06D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59" y="2114569"/>
            <a:ext cx="5269118" cy="288113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E508A9E-6C1D-6A77-9D6B-FE16151B42F3}"/>
              </a:ext>
            </a:extLst>
          </p:cNvPr>
          <p:cNvSpPr txBox="1"/>
          <p:nvPr/>
        </p:nvSpPr>
        <p:spPr>
          <a:xfrm>
            <a:off x="2347486" y="5335033"/>
            <a:ext cx="205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697+1209 —&gt;1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52A752-44E5-A2C4-E69A-C1C5AEF08705}"/>
              </a:ext>
            </a:extLst>
          </p:cNvPr>
          <p:cNvSpPr txBox="1"/>
          <p:nvPr/>
        </p:nvSpPr>
        <p:spPr>
          <a:xfrm>
            <a:off x="8642393" y="5353843"/>
            <a:ext cx="205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697+1336 —&gt;2</a:t>
            </a:r>
          </a:p>
        </p:txBody>
      </p:sp>
    </p:spTree>
    <p:extLst>
      <p:ext uri="{BB962C8B-B14F-4D97-AF65-F5344CB8AC3E}">
        <p14:creationId xmlns:p14="http://schemas.microsoft.com/office/powerpoint/2010/main" val="934431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3627" y="2816012"/>
            <a:ext cx="3052309" cy="1164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  <a:endParaRPr lang="zh-CN" altLang="en-US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3915" y="2285272"/>
            <a:ext cx="609600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5400" b="1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系统功能分析</a:t>
            </a:r>
            <a:endParaRPr lang="zh-CN" altLang="en-US" sz="5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sz="5400" b="1" kern="1200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/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/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pic>
        <p:nvPicPr>
          <p:cNvPr id="3" name="屏幕录制 2025-09-19 104013">
            <a:hlinkClick r:id="" action="ppaction://media"/>
            <a:extLst>
              <a:ext uri="{FF2B5EF4-FFF2-40B4-BE49-F238E27FC236}">
                <a16:creationId xmlns:a16="http://schemas.microsoft.com/office/drawing/2014/main" id="{C9DEBF2C-1FA4-4D4C-3C64-C4CD465523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2699" y="799266"/>
            <a:ext cx="10586601" cy="5625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9227-CCA4-6DFF-C651-F5A7B98B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90436BD-7075-2FB5-E1AB-457A7E63A5B1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2A8F9-678F-9DA5-F614-9103C08E94D9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51B99D-01F1-BC44-EA56-3B9A9C2B068D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863D52-62CE-9D02-FCC6-E9516429C452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A2D94D-B963-2770-8C5C-E01093BC0E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072" y="3187096"/>
            <a:ext cx="2600275" cy="189603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48F33D-BCCB-E8CC-3A3D-B3292592BEB7}"/>
              </a:ext>
            </a:extLst>
          </p:cNvPr>
          <p:cNvSpPr txBox="1"/>
          <p:nvPr/>
        </p:nvSpPr>
        <p:spPr>
          <a:xfrm>
            <a:off x="620089" y="927863"/>
            <a:ext cx="10697818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%%</a:t>
            </a:r>
            <a:r>
              <a:rPr lang="en-US" altLang="zh-CN" sz="1100" b="0" i="0" dirty="0" err="1">
                <a:solidFill>
                  <a:srgbClr val="008013"/>
                </a:solidFill>
                <a:effectLst/>
                <a:latin typeface="Menlo"/>
              </a:rPr>
              <a:t>gui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界面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effectLst/>
                <a:latin typeface="Menlo"/>
              </a:rPr>
              <a:t>f = figure(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[500, 500, 700, 500],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'Name'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'DTMF</a:t>
            </a:r>
            <a:r>
              <a:rPr lang="zh-CN" altLang="en-US" sz="1100" b="0" i="0" dirty="0">
                <a:solidFill>
                  <a:srgbClr val="A709F5"/>
                </a:solidFill>
                <a:effectLst/>
                <a:latin typeface="Menlo"/>
              </a:rPr>
              <a:t>拨号音合成与识别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NumberTitle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'off'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'Color'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'#f0f0f0'</a:t>
            </a:r>
            <a:r>
              <a:rPr lang="en-US" altLang="zh-CN" sz="11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effectLst/>
                <a:latin typeface="Menlo"/>
              </a:rPr>
              <a:t>axes(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[0.1, 0.75, 0.2, 0.2]); </a:t>
            </a: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中南校徽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bg_image</a:t>
            </a:r>
            <a:r>
              <a:rPr lang="en-US" altLang="zh-CN" sz="1100" b="0" i="0" dirty="0">
                <a:effectLst/>
                <a:latin typeface="Menlo"/>
              </a:rPr>
              <a:t> = </a:t>
            </a:r>
            <a:r>
              <a:rPr lang="en-US" altLang="zh-CN" sz="1100" b="0" i="0" dirty="0" err="1">
                <a:effectLst/>
                <a:latin typeface="Menlo"/>
              </a:rPr>
              <a:t>imread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'xiao.jpg'</a:t>
            </a:r>
            <a:r>
              <a:rPr lang="en-US" altLang="zh-CN" sz="1100" b="0" i="0" dirty="0">
                <a:effectLst/>
                <a:latin typeface="Menlo"/>
              </a:rPr>
              <a:t>); </a:t>
            </a: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imshow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 err="1">
                <a:effectLst/>
                <a:latin typeface="Menlo"/>
              </a:rPr>
              <a:t>bg_image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'Border'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'tight'</a:t>
            </a:r>
            <a:r>
              <a:rPr lang="en-US" altLang="zh-CN" sz="1100" b="0" i="0" dirty="0">
                <a:effectLst/>
                <a:latin typeface="Menlo"/>
              </a:rPr>
              <a:t>); </a:t>
            </a: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'text'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[220, 400, 300, 30],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16,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'DTMF</a:t>
            </a:r>
            <a:r>
              <a:rPr lang="zh-CN" altLang="en-US" sz="1100" b="0" i="0" dirty="0">
                <a:solidFill>
                  <a:srgbClr val="A709F5"/>
                </a:solidFill>
                <a:effectLst/>
                <a:latin typeface="Menlo"/>
              </a:rPr>
              <a:t>拨号音合成与识别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'#2A4D72'</a:t>
            </a:r>
            <a:r>
              <a:rPr lang="en-US" altLang="zh-CN" sz="11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输入框 实时显示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input_field</a:t>
            </a:r>
            <a:r>
              <a:rPr lang="en-US" altLang="zh-CN" sz="1100" b="0" i="0" dirty="0">
                <a:effectLst/>
                <a:latin typeface="Menlo"/>
              </a:rPr>
              <a:t> = </a:t>
            </a: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'edit'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[50,320, 180, 30],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100" b="0" i="0" dirty="0">
                <a:effectLst/>
                <a:latin typeface="Menlo"/>
              </a:rPr>
              <a:t>, @(src, event) </a:t>
            </a:r>
            <a:r>
              <a:rPr lang="en-US" altLang="zh-CN" sz="1100" b="0" i="0" dirty="0" err="1">
                <a:effectLst/>
                <a:latin typeface="Menlo"/>
              </a:rPr>
              <a:t>update_input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 err="1">
                <a:effectLst/>
                <a:latin typeface="Menlo"/>
              </a:rPr>
              <a:t>src.String</a:t>
            </a:r>
            <a:r>
              <a:rPr lang="en-US" altLang="zh-CN" sz="1100" b="0" i="0" dirty="0">
                <a:effectLst/>
                <a:latin typeface="Menlo"/>
              </a:rPr>
              <a:t>, f)); </a:t>
            </a: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button_color</a:t>
            </a:r>
            <a:r>
              <a:rPr lang="en-US" altLang="zh-CN" sz="1100" b="0" i="0" dirty="0">
                <a:effectLst/>
                <a:latin typeface="Menlo"/>
              </a:rPr>
              <a:t> = [0.2 0.6 0.8]; </a:t>
            </a:r>
          </a:p>
          <a:p>
            <a:pPr>
              <a:buNone/>
            </a:pP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100" b="0" i="0" dirty="0" err="1">
                <a:effectLst/>
                <a:latin typeface="Menlo"/>
              </a:rPr>
              <a:t>i</a:t>
            </a:r>
            <a:r>
              <a:rPr lang="en-US" altLang="zh-CN" sz="1100" b="0" i="0" dirty="0">
                <a:effectLst/>
                <a:latin typeface="Menlo"/>
              </a:rPr>
              <a:t> = 1:4</a:t>
            </a:r>
          </a:p>
          <a:p>
            <a:pPr>
              <a:buNone/>
            </a:pP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100" b="0" i="0" dirty="0">
                <a:effectLst/>
                <a:latin typeface="Menlo"/>
              </a:rPr>
              <a:t>j = 1:3</a:t>
            </a: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'pushbutton'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keypad{</a:t>
            </a:r>
            <a:r>
              <a:rPr lang="en-US" altLang="zh-CN" sz="1100" b="0" i="0" dirty="0" err="1">
                <a:effectLst/>
                <a:latin typeface="Menlo"/>
              </a:rPr>
              <a:t>i,j</a:t>
            </a:r>
            <a:r>
              <a:rPr lang="en-US" altLang="zh-CN" sz="1100" b="0" i="0" dirty="0">
                <a:effectLst/>
                <a:latin typeface="Menlo"/>
              </a:rPr>
              <a:t>},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[50 + (j-1)*60, 250 - (i-1)*60, 50, 50],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 err="1">
                <a:effectLst/>
                <a:latin typeface="Menlo"/>
              </a:rPr>
              <a:t>button_color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100" b="0" i="0" dirty="0">
                <a:effectLst/>
                <a:latin typeface="Menlo"/>
              </a:rPr>
              <a:t>, @(src, event) </a:t>
            </a:r>
            <a:r>
              <a:rPr lang="en-US" altLang="zh-CN" sz="1100" b="0" i="0" dirty="0" err="1">
                <a:effectLst/>
                <a:latin typeface="Menlo"/>
              </a:rPr>
              <a:t>append_to_input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 err="1">
                <a:effectLst/>
                <a:latin typeface="Menlo"/>
              </a:rPr>
              <a:t>input_field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 err="1">
                <a:effectLst/>
                <a:latin typeface="Menlo"/>
              </a:rPr>
              <a:t>src.String</a:t>
            </a:r>
            <a:r>
              <a:rPr lang="en-US" altLang="zh-CN" sz="1100" b="0" i="0" dirty="0">
                <a:effectLst/>
                <a:latin typeface="Menlo"/>
              </a:rPr>
              <a:t>));</a:t>
            </a:r>
          </a:p>
          <a:p>
            <a:pPr>
              <a:buNone/>
            </a:pP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删除 </a:t>
            </a: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x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'pushbutton'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'x'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[50 + (1)*60, 10, 50, 50],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 err="1">
                <a:effectLst/>
                <a:latin typeface="Menlo"/>
              </a:rPr>
              <a:t>button_color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100" b="0" i="0" dirty="0">
                <a:effectLst/>
                <a:latin typeface="Menlo"/>
              </a:rPr>
              <a:t>, @(src, event) </a:t>
            </a:r>
            <a:r>
              <a:rPr lang="en-US" altLang="zh-CN" sz="1100" b="0" i="0" dirty="0" err="1">
                <a:effectLst/>
                <a:latin typeface="Menlo"/>
              </a:rPr>
              <a:t>delete_last_character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 err="1">
                <a:effectLst/>
                <a:latin typeface="Menlo"/>
              </a:rPr>
              <a:t>input_field</a:t>
            </a:r>
            <a:r>
              <a:rPr lang="en-US" altLang="zh-CN" sz="1100" b="0" i="0" dirty="0">
                <a:effectLst/>
                <a:latin typeface="Menlo"/>
              </a:rPr>
              <a:t>));</a:t>
            </a:r>
          </a:p>
          <a:p>
            <a:pPr>
              <a:buNone/>
            </a:pP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识别结果显示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effectLst/>
                <a:latin typeface="Menlo"/>
              </a:rPr>
              <a:t>recognition_display_1 = </a:t>
            </a: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'text'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[450, 200, 200, 100],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Goertzel</a:t>
            </a:r>
            <a:r>
              <a:rPr lang="zh-CN" altLang="en-US" sz="1100" b="0" i="0" dirty="0">
                <a:solidFill>
                  <a:srgbClr val="A709F5"/>
                </a:solidFill>
                <a:effectLst/>
                <a:latin typeface="Menlo"/>
              </a:rPr>
              <a:t>算法识别结果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:'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'#f0f0f0'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100" b="0" i="0" dirty="0">
                <a:effectLst/>
                <a:latin typeface="Menlo"/>
              </a:rPr>
              <a:t>recognition_display_2 = </a:t>
            </a: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'text'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[450, 100, 200, 100],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100" b="0" i="0" dirty="0">
                <a:solidFill>
                  <a:srgbClr val="A709F5"/>
                </a:solidFill>
                <a:effectLst/>
                <a:latin typeface="Menlo"/>
              </a:rPr>
              <a:t>带通滤波器法识别结果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:'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'#f0f0f0'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100" b="0" i="0" dirty="0">
                <a:solidFill>
                  <a:srgbClr val="008013"/>
                </a:solidFill>
                <a:effectLst/>
                <a:latin typeface="Menlo"/>
              </a:rPr>
              <a:t>确认 保存 绘制 识别 文件</a:t>
            </a:r>
            <a:endParaRPr lang="zh-CN" altLang="en-US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 err="1">
                <a:effectLst/>
                <a:latin typeface="Menlo"/>
              </a:rPr>
              <a:t>uicontrol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'pushbutton'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100" b="0" i="0" dirty="0">
                <a:solidFill>
                  <a:srgbClr val="A709F5"/>
                </a:solidFill>
                <a:effectLst/>
                <a:latin typeface="Menlo"/>
              </a:rPr>
              <a:t>确认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100" b="0" i="0" dirty="0">
                <a:effectLst/>
                <a:latin typeface="Menlo"/>
              </a:rPr>
              <a:t>, [300, 270, 100, 50],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14,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'#4CAF50'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100" b="0" i="0" dirty="0">
                <a:effectLst/>
                <a:latin typeface="Menlo"/>
              </a:rPr>
              <a:t>, </a:t>
            </a:r>
            <a:r>
              <a:rPr lang="en-US" altLang="zh-CN" sz="11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1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1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100" b="0" i="0" dirty="0">
                <a:effectLst/>
                <a:latin typeface="Menlo"/>
              </a:rPr>
              <a:t>, @(src, event) </a:t>
            </a:r>
            <a:r>
              <a:rPr lang="en-US" altLang="zh-CN" sz="1100" b="0" i="0" dirty="0" err="1">
                <a:effectLst/>
                <a:latin typeface="Menlo"/>
              </a:rPr>
              <a:t>play_and_save_dtmf</a:t>
            </a:r>
            <a:r>
              <a:rPr lang="en-US" altLang="zh-CN" sz="1100" b="0" i="0" dirty="0">
                <a:effectLst/>
                <a:latin typeface="Menlo"/>
              </a:rPr>
              <a:t>(</a:t>
            </a:r>
            <a:r>
              <a:rPr lang="en-US" altLang="zh-CN" sz="1100" b="0" i="0" dirty="0" err="1">
                <a:effectLst/>
                <a:latin typeface="Menlo"/>
              </a:rPr>
              <a:t>input_field.String</a:t>
            </a:r>
            <a:r>
              <a:rPr lang="en-US" altLang="zh-CN" sz="1100" b="0" i="0" dirty="0">
                <a:effectLst/>
                <a:latin typeface="Menlo"/>
              </a:rPr>
              <a:t>, f));</a:t>
            </a:r>
          </a:p>
          <a:p>
            <a:pPr>
              <a:buNone/>
            </a:pPr>
            <a:endParaRPr lang="en-US" altLang="zh-CN" sz="1100" b="0" i="0" dirty="0">
              <a:effectLst/>
              <a:latin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D2B02C-68CA-2B6E-391D-8D3B270252A7}"/>
              </a:ext>
            </a:extLst>
          </p:cNvPr>
          <p:cNvSpPr/>
          <p:nvPr/>
        </p:nvSpPr>
        <p:spPr>
          <a:xfrm>
            <a:off x="5915705" y="1606783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904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F4DE-8AFF-1210-F788-EAE149FF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CC9674E-64DB-33B8-D6A8-75945BC835DB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F4D4DB-7940-B052-6D32-B974CE065798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10D60D-28EA-E753-84BF-9E7ECE755079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09A542-AF25-0052-CC04-186D5FA7C123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B5D6C7-2A1A-CA19-1FD5-595E6FB3E80A}"/>
              </a:ext>
            </a:extLst>
          </p:cNvPr>
          <p:cNvSpPr txBox="1"/>
          <p:nvPr/>
        </p:nvSpPr>
        <p:spPr>
          <a:xfrm>
            <a:off x="7066614" y="1158572"/>
            <a:ext cx="70064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08013"/>
                </a:solidFill>
                <a:effectLst/>
                <a:latin typeface="Menlo"/>
              </a:rPr>
              <a:t>每一个数字按键的声音</a:t>
            </a:r>
            <a:endParaRPr lang="en-US" altLang="zh-CN" dirty="0">
              <a:solidFill>
                <a:srgbClr val="008013"/>
              </a:solidFill>
              <a:latin typeface="Menlo"/>
            </a:endParaRPr>
          </a:p>
          <a:p>
            <a:pPr>
              <a:buNone/>
            </a:pPr>
            <a:endParaRPr lang="zh-CN" alt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800" b="0" i="0" dirty="0" err="1">
                <a:effectLst/>
                <a:latin typeface="Menlo"/>
              </a:rPr>
              <a:t>append_to_input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input_field</a:t>
            </a:r>
            <a:r>
              <a:rPr lang="en-US" altLang="zh-CN" sz="1800" b="0" i="0" dirty="0">
                <a:effectLst/>
                <a:latin typeface="Menlo"/>
              </a:rPr>
              <a:t>, key)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current_input</a:t>
            </a:r>
            <a:r>
              <a:rPr lang="en-US" altLang="zh-CN" sz="1800" b="0" i="0" dirty="0">
                <a:effectLst/>
                <a:latin typeface="Menlo"/>
              </a:rPr>
              <a:t> = </a:t>
            </a:r>
            <a:r>
              <a:rPr lang="en-US" altLang="zh-CN" sz="1800" b="0" i="0" dirty="0" err="1">
                <a:effectLst/>
                <a:latin typeface="Menlo"/>
              </a:rPr>
              <a:t>input_field.String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input_field.String</a:t>
            </a:r>
            <a:r>
              <a:rPr lang="en-US" altLang="zh-CN" sz="1800" b="0" i="0" dirty="0">
                <a:effectLst/>
                <a:latin typeface="Menlo"/>
              </a:rPr>
              <a:t> = [</a:t>
            </a:r>
            <a:r>
              <a:rPr lang="en-US" altLang="zh-CN" sz="1800" b="0" i="0" dirty="0" err="1">
                <a:effectLst/>
                <a:latin typeface="Menlo"/>
              </a:rPr>
              <a:t>current_input</a:t>
            </a:r>
            <a:r>
              <a:rPr lang="en-US" altLang="zh-CN" sz="1800" b="0" i="0" dirty="0">
                <a:effectLst/>
                <a:latin typeface="Menlo"/>
              </a:rPr>
              <a:t>, key];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08013"/>
                </a:solidFill>
                <a:effectLst/>
                <a:latin typeface="Menlo"/>
              </a:rPr>
              <a:t>调用播放函数</a:t>
            </a:r>
            <a:endParaRPr lang="zh-CN" alt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play_dtmf</a:t>
            </a:r>
            <a:r>
              <a:rPr lang="en-US" altLang="zh-CN" sz="1800" b="0" i="0" dirty="0">
                <a:effectLst/>
                <a:latin typeface="Menlo"/>
              </a:rPr>
              <a:t>(key);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br>
              <a:rPr lang="en-US" altLang="zh-CN" sz="1800" b="0" i="0" dirty="0">
                <a:effectLst/>
                <a:latin typeface="Menlo"/>
              </a:rPr>
            </a:br>
            <a:endParaRPr lang="en-US" altLang="zh-CN" sz="1800" b="0" i="0" dirty="0">
              <a:effectLst/>
              <a:latin typeface="Menl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BF6EDC-CE57-EDA1-EF91-023FD719CE11}"/>
              </a:ext>
            </a:extLst>
          </p:cNvPr>
          <p:cNvSpPr txBox="1"/>
          <p:nvPr/>
        </p:nvSpPr>
        <p:spPr>
          <a:xfrm>
            <a:off x="6977904" y="4020894"/>
            <a:ext cx="61039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800" b="0" i="0" dirty="0">
                <a:solidFill>
                  <a:srgbClr val="008013"/>
                </a:solidFill>
                <a:effectLst/>
                <a:latin typeface="Menlo"/>
              </a:rPr>
              <a:t>删除</a:t>
            </a:r>
            <a:endParaRPr lang="zh-CN" altLang="en-US" sz="1800" b="0" i="0" dirty="0">
              <a:effectLst/>
              <a:latin typeface="Menlo"/>
            </a:endParaRPr>
          </a:p>
          <a:p>
            <a:pPr>
              <a:buNone/>
            </a:pPr>
            <a:br>
              <a:rPr lang="zh-CN" altLang="en-US" sz="1800" b="0" i="0" dirty="0">
                <a:effectLst/>
                <a:latin typeface="Menlo"/>
              </a:rPr>
            </a:br>
            <a:endParaRPr lang="zh-CN" alt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800" b="0" i="0" dirty="0" err="1">
                <a:effectLst/>
                <a:latin typeface="Menlo"/>
              </a:rPr>
              <a:t>delete_last_character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input_field</a:t>
            </a:r>
            <a:r>
              <a:rPr lang="en-US" altLang="zh-CN" sz="1800" b="0" i="0" dirty="0">
                <a:effectLst/>
                <a:latin typeface="Menlo"/>
              </a:rPr>
              <a:t>)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current_input</a:t>
            </a:r>
            <a:r>
              <a:rPr lang="en-US" altLang="zh-CN" sz="1800" b="0" i="0" dirty="0">
                <a:effectLst/>
                <a:latin typeface="Menlo"/>
              </a:rPr>
              <a:t> = </a:t>
            </a:r>
            <a:r>
              <a:rPr lang="en-US" altLang="zh-CN" sz="1800" b="0" i="0" dirty="0" err="1">
                <a:effectLst/>
                <a:latin typeface="Menlo"/>
              </a:rPr>
              <a:t>input_field.String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>
                <a:effectLst/>
                <a:latin typeface="Menlo"/>
              </a:rPr>
              <a:t>~</a:t>
            </a:r>
            <a:r>
              <a:rPr lang="en-US" altLang="zh-CN" sz="1800" b="0" i="0" dirty="0" err="1">
                <a:effectLst/>
                <a:latin typeface="Menlo"/>
              </a:rPr>
              <a:t>isempty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current_input</a:t>
            </a:r>
            <a:r>
              <a:rPr lang="en-US" altLang="zh-CN" sz="1800" b="0" i="0" dirty="0">
                <a:effectLst/>
                <a:latin typeface="Menlo"/>
              </a:rPr>
              <a:t>)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input_field.String</a:t>
            </a:r>
            <a:r>
              <a:rPr lang="en-US" altLang="zh-CN" sz="1800" b="0" i="0" dirty="0">
                <a:effectLst/>
                <a:latin typeface="Menlo"/>
              </a:rPr>
              <a:t> = </a:t>
            </a:r>
            <a:r>
              <a:rPr lang="en-US" altLang="zh-CN" sz="1800" b="0" i="0" dirty="0" err="1">
                <a:effectLst/>
                <a:latin typeface="Menlo"/>
              </a:rPr>
              <a:t>current_input</a:t>
            </a:r>
            <a:r>
              <a:rPr lang="en-US" altLang="zh-CN" sz="1800" b="0" i="0" dirty="0">
                <a:effectLst/>
                <a:latin typeface="Menlo"/>
              </a:rPr>
              <a:t>(1:end-1); 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br>
              <a:rPr lang="en-US" altLang="zh-CN" sz="1800" b="0" i="0" dirty="0">
                <a:effectLst/>
                <a:latin typeface="Menlo"/>
              </a:rPr>
            </a:br>
            <a:endParaRPr lang="en-US" altLang="zh-CN" sz="1800" b="0" i="0" dirty="0">
              <a:effectLst/>
              <a:latin typeface="Menl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33A598-CB17-3939-ED5F-CB6603739028}"/>
              </a:ext>
            </a:extLst>
          </p:cNvPr>
          <p:cNvSpPr txBox="1"/>
          <p:nvPr/>
        </p:nvSpPr>
        <p:spPr>
          <a:xfrm>
            <a:off x="623694" y="4169727"/>
            <a:ext cx="6103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08013"/>
                </a:solidFill>
                <a:effectLst/>
                <a:latin typeface="Menlo"/>
              </a:rPr>
              <a:t>删除 </a:t>
            </a: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x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uicontrol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'pushbutton'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'x'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800" b="0" i="0" dirty="0">
                <a:effectLst/>
                <a:latin typeface="Menlo"/>
              </a:rPr>
              <a:t>, [50 + (1)*60, 10, 50, 50], </a:t>
            </a: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14,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 err="1">
                <a:effectLst/>
                <a:latin typeface="Menlo"/>
              </a:rPr>
              <a:t>button_color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800" b="0" i="0" dirty="0">
                <a:effectLst/>
                <a:latin typeface="Menlo"/>
              </a:rPr>
              <a:t>, @(src, event) </a:t>
            </a:r>
            <a:r>
              <a:rPr lang="en-US" altLang="zh-CN" sz="1800" b="0" i="0" dirty="0" err="1">
                <a:effectLst/>
                <a:latin typeface="Menlo"/>
              </a:rPr>
              <a:t>delete_last_character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input_field</a:t>
            </a:r>
            <a:r>
              <a:rPr lang="en-US" altLang="zh-CN" sz="1800" b="0" i="0" dirty="0">
                <a:effectLst/>
                <a:latin typeface="Menlo"/>
              </a:rPr>
              <a:t>));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FECA9D-C8A0-7F05-7820-5CF9535DB3BE}"/>
              </a:ext>
            </a:extLst>
          </p:cNvPr>
          <p:cNvSpPr txBox="1"/>
          <p:nvPr/>
        </p:nvSpPr>
        <p:spPr>
          <a:xfrm>
            <a:off x="403096" y="1724568"/>
            <a:ext cx="7038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uicontrol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'Style'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'pushbutton'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800" b="0" i="0" dirty="0">
                <a:effectLst/>
                <a:latin typeface="Menlo"/>
              </a:rPr>
              <a:t>, keypad{</a:t>
            </a:r>
            <a:r>
              <a:rPr lang="en-US" altLang="zh-CN" sz="1800" b="0" i="0" dirty="0" err="1">
                <a:effectLst/>
                <a:latin typeface="Menlo"/>
              </a:rPr>
              <a:t>i,j</a:t>
            </a:r>
            <a:r>
              <a:rPr lang="en-US" altLang="zh-CN" sz="1800" b="0" i="0" dirty="0">
                <a:effectLst/>
                <a:latin typeface="Menlo"/>
              </a:rPr>
              <a:t>},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'Position'</a:t>
            </a:r>
            <a:r>
              <a:rPr lang="en-US" altLang="zh-CN" sz="1800" b="0" i="0" dirty="0">
                <a:effectLst/>
                <a:latin typeface="Menlo"/>
              </a:rPr>
              <a:t>, [50 + (j-1)*60, 250 - (i-1)*60, 50, 50], </a:t>
            </a: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FontSize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14,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FontWeight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'bold'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BackgroundColor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 err="1">
                <a:effectLst/>
                <a:latin typeface="Menlo"/>
              </a:rPr>
              <a:t>button_color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ForegroundColor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'white'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'Callback'</a:t>
            </a:r>
            <a:r>
              <a:rPr lang="en-US" altLang="zh-CN" sz="1800" b="0" i="0" dirty="0">
                <a:effectLst/>
                <a:latin typeface="Menlo"/>
              </a:rPr>
              <a:t>, @(src, event) </a:t>
            </a:r>
            <a:r>
              <a:rPr lang="en-US" altLang="zh-CN" sz="1800" b="0" i="0" dirty="0" err="1">
                <a:effectLst/>
                <a:latin typeface="Menlo"/>
              </a:rPr>
              <a:t>append_to_input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input_field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 err="1">
                <a:effectLst/>
                <a:latin typeface="Menlo"/>
              </a:rPr>
              <a:t>src.String</a:t>
            </a:r>
            <a:r>
              <a:rPr lang="en-US" altLang="zh-CN" sz="1800" b="0" i="0" dirty="0">
                <a:effectLst/>
                <a:latin typeface="Menlo"/>
              </a:rPr>
              <a:t>));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1CF7B3-7008-B4CF-F9DD-0833BDAC2D95}"/>
              </a:ext>
            </a:extLst>
          </p:cNvPr>
          <p:cNvSpPr/>
          <p:nvPr/>
        </p:nvSpPr>
        <p:spPr>
          <a:xfrm>
            <a:off x="224589" y="933947"/>
            <a:ext cx="305244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532FBC-D10C-68AB-10A6-52587C69435D}"/>
              </a:ext>
            </a:extLst>
          </p:cNvPr>
          <p:cNvSpPr/>
          <p:nvPr/>
        </p:nvSpPr>
        <p:spPr>
          <a:xfrm>
            <a:off x="109183" y="928186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3658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5DE4-2914-CEA9-21C6-10E379513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F797988-15C1-44CB-84E5-59ACED3FE8F6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99898F-D118-AA37-DA4D-C7A490AA1B5E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ED5A98-2973-202A-4946-C12E31AC1118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67B7FC-B6D9-1C09-801B-75EBAC26A0A8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40BF08-FB91-927E-5DCB-8594BDCBEB6A}"/>
              </a:ext>
            </a:extLst>
          </p:cNvPr>
          <p:cNvSpPr txBox="1"/>
          <p:nvPr/>
        </p:nvSpPr>
        <p:spPr>
          <a:xfrm>
            <a:off x="6915958" y="2205842"/>
            <a:ext cx="49795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800" b="0" i="0" dirty="0" err="1">
                <a:effectLst/>
                <a:latin typeface="Menlo"/>
              </a:rPr>
              <a:t>save_dtmf_sound</a:t>
            </a:r>
            <a:r>
              <a:rPr lang="en-US" altLang="zh-CN" sz="1800" b="0" i="0" dirty="0">
                <a:effectLst/>
                <a:latin typeface="Menlo"/>
              </a:rPr>
              <a:t>(f)</a:t>
            </a:r>
          </a:p>
          <a:p>
            <a:pPr>
              <a:buNone/>
            </a:pPr>
            <a:r>
              <a:rPr lang="en-US" altLang="zh-CN" sz="1800" b="0" i="0" dirty="0">
                <a:effectLst/>
                <a:latin typeface="Menlo"/>
              </a:rPr>
              <a:t>handles = </a:t>
            </a:r>
            <a:r>
              <a:rPr lang="en-US" altLang="zh-CN" sz="1800" b="0" i="0" dirty="0" err="1">
                <a:effectLst/>
                <a:latin typeface="Menlo"/>
              </a:rPr>
              <a:t>guidata</a:t>
            </a:r>
            <a:r>
              <a:rPr lang="en-US" altLang="zh-CN" sz="1800" b="0" i="0" dirty="0">
                <a:effectLst/>
                <a:latin typeface="Menlo"/>
              </a:rPr>
              <a:t>(f);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sound_signal</a:t>
            </a:r>
            <a:r>
              <a:rPr lang="en-US" altLang="zh-CN" sz="1800" b="0" i="0" dirty="0">
                <a:effectLst/>
                <a:latin typeface="Menlo"/>
              </a:rPr>
              <a:t> = </a:t>
            </a:r>
            <a:r>
              <a:rPr lang="en-US" altLang="zh-CN" sz="1800" b="0" i="0" dirty="0" err="1">
                <a:effectLst/>
                <a:latin typeface="Menlo"/>
              </a:rPr>
              <a:t>handles.sound_signal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800" b="0" i="0" dirty="0">
                <a:solidFill>
                  <a:srgbClr val="008013"/>
                </a:solidFill>
                <a:effectLst/>
                <a:latin typeface="Menlo"/>
              </a:rPr>
              <a:t>没确认 没输入 报错</a:t>
            </a:r>
            <a:endParaRPr lang="zh-CN" alt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isempty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sound_signal</a:t>
            </a:r>
            <a:r>
              <a:rPr lang="en-US" altLang="zh-CN" sz="1800" b="0" i="0" dirty="0">
                <a:effectLst/>
                <a:latin typeface="Menlo"/>
              </a:rPr>
              <a:t>)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msgbox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800" b="0" i="0" dirty="0">
                <a:solidFill>
                  <a:srgbClr val="A709F5"/>
                </a:solidFill>
                <a:effectLst/>
                <a:latin typeface="Menlo"/>
              </a:rPr>
              <a:t>没有生成拨号音，请先确认拨号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!'</a:t>
            </a:r>
            <a:r>
              <a:rPr lang="en-US" altLang="zh-CN" sz="18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return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effectLst/>
                <a:latin typeface="Menlo"/>
              </a:rPr>
              <a:t>[file, path] = </a:t>
            </a:r>
            <a:r>
              <a:rPr lang="en-US" altLang="zh-CN" sz="1800" b="0" i="0" dirty="0" err="1">
                <a:effectLst/>
                <a:latin typeface="Menlo"/>
              </a:rPr>
              <a:t>uiputfile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'*.wav'</a:t>
            </a:r>
            <a:r>
              <a:rPr lang="en-US" altLang="zh-CN" sz="1800" b="0" i="0" dirty="0">
                <a:effectLst/>
                <a:latin typeface="Menlo"/>
              </a:rPr>
              <a:t>, 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800" b="0" i="0" dirty="0">
                <a:solidFill>
                  <a:srgbClr val="A709F5"/>
                </a:solidFill>
                <a:effectLst/>
                <a:latin typeface="Menlo"/>
              </a:rPr>
              <a:t>保存拨号音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800" b="0" i="0" dirty="0" err="1">
                <a:effectLst/>
                <a:latin typeface="Menlo"/>
              </a:rPr>
              <a:t>ischar</a:t>
            </a:r>
            <a:r>
              <a:rPr lang="en-US" altLang="zh-CN" sz="1800" b="0" i="0" dirty="0">
                <a:effectLst/>
                <a:latin typeface="Menlo"/>
              </a:rPr>
              <a:t>(file)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audiowrite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 err="1">
                <a:effectLst/>
                <a:latin typeface="Menlo"/>
              </a:rPr>
              <a:t>fullfile</a:t>
            </a:r>
            <a:r>
              <a:rPr lang="en-US" altLang="zh-CN" sz="1800" b="0" i="0" dirty="0">
                <a:effectLst/>
                <a:latin typeface="Menlo"/>
              </a:rPr>
              <a:t>(path, file), </a:t>
            </a:r>
            <a:r>
              <a:rPr lang="en-US" altLang="zh-CN" sz="1800" b="0" i="0" dirty="0" err="1">
                <a:effectLst/>
                <a:latin typeface="Menlo"/>
              </a:rPr>
              <a:t>sound_signal</a:t>
            </a:r>
            <a:r>
              <a:rPr lang="en-US" altLang="zh-CN" sz="1800" b="0" i="0" dirty="0">
                <a:effectLst/>
                <a:latin typeface="Menlo"/>
              </a:rPr>
              <a:t>, 8000); </a:t>
            </a:r>
          </a:p>
          <a:p>
            <a:pPr>
              <a:buNone/>
            </a:pPr>
            <a:r>
              <a:rPr lang="en-US" altLang="zh-CN" sz="1800" b="0" i="0" dirty="0" err="1">
                <a:effectLst/>
                <a:latin typeface="Menlo"/>
              </a:rPr>
              <a:t>msgbox</a:t>
            </a:r>
            <a:r>
              <a:rPr lang="en-US" altLang="zh-CN" sz="1800" b="0" i="0" dirty="0">
                <a:effectLst/>
                <a:latin typeface="Menlo"/>
              </a:rPr>
              <a:t>(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800" b="0" i="0" dirty="0">
                <a:solidFill>
                  <a:srgbClr val="A709F5"/>
                </a:solidFill>
                <a:effectLst/>
                <a:latin typeface="Menlo"/>
              </a:rPr>
              <a:t>拨号音已保存！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800" b="0" i="0" dirty="0">
              <a:effectLst/>
              <a:latin typeface="Menlo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44D106-C322-2F6C-17F4-40DDCE379A6D}"/>
              </a:ext>
            </a:extLst>
          </p:cNvPr>
          <p:cNvSpPr txBox="1"/>
          <p:nvPr/>
        </p:nvSpPr>
        <p:spPr>
          <a:xfrm>
            <a:off x="349547" y="1941669"/>
            <a:ext cx="76788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保存识别的信号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400" b="0" i="0" dirty="0" err="1">
                <a:effectLst/>
                <a:latin typeface="Menlo"/>
              </a:rPr>
              <a:t>play_and_save_dtmf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input_string</a:t>
            </a:r>
            <a:r>
              <a:rPr lang="en-US" altLang="zh-CN" sz="1400" b="0" i="0" dirty="0">
                <a:effectLst/>
                <a:latin typeface="Menlo"/>
              </a:rPr>
              <a:t>, f)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low_freq</a:t>
            </a:r>
            <a:r>
              <a:rPr lang="en-US" altLang="zh-CN" sz="1400" b="0" i="0" dirty="0">
                <a:effectLst/>
                <a:latin typeface="Menlo"/>
              </a:rPr>
              <a:t> = [697, 770, 852, 941]; 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high_freq</a:t>
            </a:r>
            <a:r>
              <a:rPr lang="en-US" altLang="zh-CN" sz="1400" b="0" i="0" dirty="0">
                <a:effectLst/>
                <a:latin typeface="Menlo"/>
              </a:rPr>
              <a:t> = [1209, 1336, 1477, 1633]; 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key_sequence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input_string</a:t>
            </a:r>
            <a:r>
              <a:rPr lang="en-US" altLang="zh-CN" sz="1400" b="0" i="0" dirty="0">
                <a:effectLst/>
                <a:latin typeface="Menlo"/>
              </a:rPr>
              <a:t>(:); 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 = [];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fs = 8000; 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400" b="0" i="0" dirty="0">
                <a:effectLst/>
                <a:latin typeface="Menlo"/>
              </a:rPr>
              <a:t>k = 1:length(</a:t>
            </a:r>
            <a:r>
              <a:rPr lang="en-US" altLang="zh-CN" sz="1400" b="0" i="0" dirty="0" err="1">
                <a:effectLst/>
                <a:latin typeface="Menlo"/>
              </a:rPr>
              <a:t>key_sequence</a:t>
            </a:r>
            <a:r>
              <a:rPr lang="en-US" altLang="zh-CN" sz="1400" b="0" i="0" dirty="0">
                <a:effectLst/>
                <a:latin typeface="Menlo"/>
              </a:rPr>
              <a:t>)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key = </a:t>
            </a:r>
            <a:r>
              <a:rPr lang="en-US" altLang="zh-CN" sz="1400" b="0" i="0" dirty="0" err="1">
                <a:effectLst/>
                <a:latin typeface="Menlo"/>
              </a:rPr>
              <a:t>key_sequence</a:t>
            </a:r>
            <a:r>
              <a:rPr lang="en-US" altLang="zh-CN" sz="1400" b="0" i="0" dirty="0">
                <a:effectLst/>
                <a:latin typeface="Menlo"/>
              </a:rPr>
              <a:t>(k); 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[row, col] = find(</a:t>
            </a:r>
            <a:r>
              <a:rPr lang="en-US" altLang="zh-CN" sz="1400" b="0" i="0" dirty="0" err="1">
                <a:effectLst/>
                <a:latin typeface="Menlo"/>
              </a:rPr>
              <a:t>strcmp</a:t>
            </a:r>
            <a:r>
              <a:rPr lang="en-US" altLang="zh-CN" sz="1400" b="0" i="0" dirty="0">
                <a:effectLst/>
                <a:latin typeface="Menlo"/>
              </a:rPr>
              <a:t>(keypad, key));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400" b="0" i="0" dirty="0">
                <a:effectLst/>
                <a:latin typeface="Menlo"/>
              </a:rPr>
              <a:t>~</a:t>
            </a:r>
            <a:r>
              <a:rPr lang="en-US" altLang="zh-CN" sz="1400" b="0" i="0" dirty="0" err="1">
                <a:effectLst/>
                <a:latin typeface="Menlo"/>
              </a:rPr>
              <a:t>isempty</a:t>
            </a:r>
            <a:r>
              <a:rPr lang="en-US" altLang="zh-CN" sz="1400" b="0" i="0" dirty="0">
                <a:effectLst/>
                <a:latin typeface="Menlo"/>
              </a:rPr>
              <a:t>(row) &amp;&amp; ~</a:t>
            </a:r>
            <a:r>
              <a:rPr lang="en-US" altLang="zh-CN" sz="1400" b="0" i="0" dirty="0" err="1">
                <a:effectLst/>
                <a:latin typeface="Menlo"/>
              </a:rPr>
              <a:t>isempty</a:t>
            </a:r>
            <a:r>
              <a:rPr lang="en-US" altLang="zh-CN" sz="1400" b="0" i="0" dirty="0">
                <a:effectLst/>
                <a:latin typeface="Menlo"/>
              </a:rPr>
              <a:t>(col)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t = 0:1/</a:t>
            </a:r>
            <a:r>
              <a:rPr lang="en-US" altLang="zh-CN" sz="1400" b="0" i="0" dirty="0" err="1">
                <a:effectLst/>
                <a:latin typeface="Menlo"/>
              </a:rPr>
              <a:t>fs:tone_duration</a:t>
            </a:r>
            <a:r>
              <a:rPr lang="en-US" altLang="zh-CN" sz="1400" b="0" i="0" dirty="0">
                <a:effectLst/>
                <a:latin typeface="Menlo"/>
              </a:rPr>
              <a:t>; 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signal = sin(2*pi*</a:t>
            </a:r>
            <a:r>
              <a:rPr lang="en-US" altLang="zh-CN" sz="1400" b="0" i="0" dirty="0" err="1">
                <a:effectLst/>
                <a:latin typeface="Menlo"/>
              </a:rPr>
              <a:t>fL</a:t>
            </a:r>
            <a:r>
              <a:rPr lang="en-US" altLang="zh-CN" sz="1400" b="0" i="0" dirty="0">
                <a:effectLst/>
                <a:latin typeface="Menlo"/>
              </a:rPr>
              <a:t>*t) + sin(2*pi*</a:t>
            </a:r>
            <a:r>
              <a:rPr lang="en-US" altLang="zh-CN" sz="1400" b="0" i="0" dirty="0" err="1">
                <a:effectLst/>
                <a:latin typeface="Menlo"/>
              </a:rPr>
              <a:t>fH</a:t>
            </a:r>
            <a:r>
              <a:rPr lang="en-US" altLang="zh-CN" sz="1400" b="0" i="0" dirty="0">
                <a:effectLst/>
                <a:latin typeface="Menlo"/>
              </a:rPr>
              <a:t>*t); 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 = [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, signal, zeros(1, round(</a:t>
            </a:r>
            <a:r>
              <a:rPr lang="en-US" altLang="zh-CN" sz="1400" b="0" i="0" dirty="0" err="1">
                <a:effectLst/>
                <a:latin typeface="Menlo"/>
              </a:rPr>
              <a:t>silence_duration</a:t>
            </a:r>
            <a:r>
              <a:rPr lang="en-US" altLang="zh-CN" sz="1400" b="0" i="0" dirty="0">
                <a:effectLst/>
                <a:latin typeface="Menlo"/>
              </a:rPr>
              <a:t> * fs))]; </a:t>
            </a: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 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altLang="zh-CN" sz="1400" b="0" i="0" dirty="0">
                <a:effectLst/>
                <a:latin typeface="Menlo"/>
              </a:rPr>
              <a:t>~</a:t>
            </a:r>
            <a:r>
              <a:rPr lang="en-US" altLang="zh-CN" sz="1400" b="0" i="0" dirty="0" err="1">
                <a:effectLst/>
                <a:latin typeface="Menlo"/>
              </a:rPr>
              <a:t>isempty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sound(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, fs);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handles = </a:t>
            </a:r>
            <a:r>
              <a:rPr lang="en-US" altLang="zh-CN" sz="1400" b="0" i="0" dirty="0" err="1">
                <a:effectLst/>
                <a:latin typeface="Menlo"/>
              </a:rPr>
              <a:t>guidata</a:t>
            </a:r>
            <a:r>
              <a:rPr lang="en-US" altLang="zh-CN" sz="1400" b="0" i="0" dirty="0">
                <a:effectLst/>
                <a:latin typeface="Menlo"/>
              </a:rPr>
              <a:t>(f);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handles.sound_signal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; 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guidata</a:t>
            </a:r>
            <a:r>
              <a:rPr lang="en-US" altLang="zh-CN" sz="1400" b="0" i="0" dirty="0">
                <a:effectLst/>
                <a:latin typeface="Menlo"/>
              </a:rPr>
              <a:t>(f, handles); 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br>
              <a:rPr lang="en-US" altLang="zh-CN" sz="1400" b="0" i="0" dirty="0">
                <a:effectLst/>
                <a:latin typeface="Menlo"/>
              </a:rPr>
            </a:br>
            <a:endParaRPr lang="en-US" altLang="zh-CN" sz="1400" b="0" i="0" dirty="0">
              <a:effectLst/>
              <a:latin typeface="Menlo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3EA869-20AE-46FA-AD91-54B552383235}"/>
              </a:ext>
            </a:extLst>
          </p:cNvPr>
          <p:cNvSpPr/>
          <p:nvPr/>
        </p:nvSpPr>
        <p:spPr>
          <a:xfrm>
            <a:off x="89304" y="970950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56AFB-3D48-FF50-8165-B3D7490C551E}"/>
              </a:ext>
            </a:extLst>
          </p:cNvPr>
          <p:cNvSpPr/>
          <p:nvPr/>
        </p:nvSpPr>
        <p:spPr>
          <a:xfrm>
            <a:off x="6518292" y="1024723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8639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E982-32B3-F59F-FB9E-DB836088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5B700C-3917-D777-C095-7B4E32A31CBD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61BB1E-2341-4986-AD4A-8CCA81D219FC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508958-841E-CC2F-8C86-1C734D627E6B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41949A-16CA-5CBD-8A12-5AC593E55B35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56D61A-50A4-104B-5FC2-030E908B169F}"/>
              </a:ext>
            </a:extLst>
          </p:cNvPr>
          <p:cNvSpPr txBox="1"/>
          <p:nvPr/>
        </p:nvSpPr>
        <p:spPr>
          <a:xfrm>
            <a:off x="487223" y="1713046"/>
            <a:ext cx="875637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画图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400" b="0" i="0" dirty="0" err="1">
                <a:effectLst/>
                <a:latin typeface="Menlo"/>
              </a:rPr>
              <a:t>plot_waveform</a:t>
            </a:r>
            <a:r>
              <a:rPr lang="en-US" altLang="zh-CN" sz="1400" b="0" i="0" dirty="0">
                <a:effectLst/>
                <a:latin typeface="Menlo"/>
              </a:rPr>
              <a:t>(f)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handles = </a:t>
            </a:r>
            <a:r>
              <a:rPr lang="en-US" altLang="zh-CN" sz="1400" b="0" i="0" dirty="0" err="1">
                <a:effectLst/>
                <a:latin typeface="Menlo"/>
              </a:rPr>
              <a:t>guidata</a:t>
            </a:r>
            <a:r>
              <a:rPr lang="en-US" altLang="zh-CN" sz="1400" b="0" i="0" dirty="0">
                <a:effectLst/>
                <a:latin typeface="Menlo"/>
              </a:rPr>
              <a:t>(f);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handles.sound_signal</a:t>
            </a:r>
            <a:r>
              <a:rPr lang="en-US" altLang="zh-CN" sz="14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return</a:t>
            </a:r>
            <a:r>
              <a:rPr lang="en-US" altLang="zh-CN" sz="1400" b="0" i="0" dirty="0">
                <a:effectLst/>
                <a:latin typeface="Menlo"/>
              </a:rPr>
              <a:t>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fs = 8000; 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figure;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subplot(2,1,1);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time = (0:length(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)-1) / fs;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将样本转换为时间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plot(time, 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title(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拨号音时域波形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xlabel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时间 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(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秒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)'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ylabel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幅度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N = length(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f = (0:N-1)*(fs/N); 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Y = abs(</a:t>
            </a:r>
            <a:r>
              <a:rPr lang="en-US" altLang="zh-CN" sz="1400" b="0" i="0" dirty="0" err="1">
                <a:effectLst/>
                <a:latin typeface="Menlo"/>
              </a:rPr>
              <a:t>fft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)); 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subplot(2,1,2);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plot(f, Y);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title(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拨号音频域波形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xlabel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频率 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(Hz)'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ylabel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幅度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xlim</a:t>
            </a:r>
            <a:r>
              <a:rPr lang="en-US" altLang="zh-CN" sz="1400" b="0" i="0" dirty="0">
                <a:effectLst/>
                <a:latin typeface="Menlo"/>
              </a:rPr>
              <a:t>([0 2000]); 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br>
              <a:rPr lang="en-US" altLang="zh-CN" sz="1400" b="0" i="0" dirty="0">
                <a:effectLst/>
                <a:latin typeface="Menlo"/>
              </a:rPr>
            </a:br>
            <a:endParaRPr lang="en-US" altLang="zh-CN" sz="1400" b="0" i="0" dirty="0">
              <a:effectLst/>
              <a:latin typeface="Menl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9350C5-FFB1-7453-0FC4-94BD0EC04B4D}"/>
              </a:ext>
            </a:extLst>
          </p:cNvPr>
          <p:cNvSpPr/>
          <p:nvPr/>
        </p:nvSpPr>
        <p:spPr>
          <a:xfrm>
            <a:off x="109183" y="928186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6B8114-6580-2A1C-3ACB-FB69E0DD4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014" y="2146082"/>
            <a:ext cx="6502113" cy="35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5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288E-2031-6539-7A67-82B07139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C20452B-2191-96C2-9F37-996156E764CE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CD424D-BFAF-3B82-1386-5373F3B0D307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F19352-2D72-776F-CB48-DE3432CEBE81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E18115-B771-B63A-1700-0EE5751B4D5F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A55C26-E0A2-7596-3E9B-4F33029BF0FA}"/>
              </a:ext>
            </a:extLst>
          </p:cNvPr>
          <p:cNvSpPr/>
          <p:nvPr/>
        </p:nvSpPr>
        <p:spPr>
          <a:xfrm>
            <a:off x="109183" y="928186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4DB520-E4F1-10FC-5017-EECA2E3511B4}"/>
              </a:ext>
            </a:extLst>
          </p:cNvPr>
          <p:cNvSpPr txBox="1"/>
          <p:nvPr/>
        </p:nvSpPr>
        <p:spPr>
          <a:xfrm>
            <a:off x="471353" y="1641836"/>
            <a:ext cx="1033925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fL</a:t>
            </a:r>
            <a:r>
              <a:rPr lang="en-US" altLang="zh-CN" sz="1600" b="0" i="0" dirty="0">
                <a:effectLst/>
                <a:latin typeface="Menlo"/>
              </a:rPr>
              <a:t> = </a:t>
            </a:r>
            <a:r>
              <a:rPr lang="en-US" altLang="zh-CN" sz="1600" b="0" i="0" dirty="0" err="1">
                <a:effectLst/>
                <a:latin typeface="Menlo"/>
              </a:rPr>
              <a:t>low_freq</a:t>
            </a:r>
            <a:r>
              <a:rPr lang="en-US" altLang="zh-CN" sz="1600" b="0" i="0" dirty="0">
                <a:effectLst/>
                <a:latin typeface="Menlo"/>
              </a:rPr>
              <a:t>(row); 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fH</a:t>
            </a:r>
            <a:r>
              <a:rPr lang="en-US" altLang="zh-CN" sz="1600" b="0" i="0" dirty="0">
                <a:effectLst/>
                <a:latin typeface="Menlo"/>
              </a:rPr>
              <a:t> = </a:t>
            </a:r>
            <a:r>
              <a:rPr lang="en-US" altLang="zh-CN" sz="1600" b="0" i="0" dirty="0" err="1">
                <a:effectLst/>
                <a:latin typeface="Menlo"/>
              </a:rPr>
              <a:t>high_freq</a:t>
            </a:r>
            <a:r>
              <a:rPr lang="en-US" altLang="zh-CN" sz="1600" b="0" i="0" dirty="0">
                <a:effectLst/>
                <a:latin typeface="Menlo"/>
              </a:rPr>
              <a:t>(col); </a:t>
            </a: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t = 0:1/</a:t>
            </a:r>
            <a:r>
              <a:rPr lang="en-US" altLang="zh-CN" sz="1600" b="0" i="0" dirty="0" err="1">
                <a:effectLst/>
                <a:latin typeface="Menlo"/>
              </a:rPr>
              <a:t>fs:tone_duration</a:t>
            </a:r>
            <a:r>
              <a:rPr lang="en-US" altLang="zh-CN" sz="1600" b="0" i="0" dirty="0">
                <a:effectLst/>
                <a:latin typeface="Menlo"/>
              </a:rPr>
              <a:t>; </a:t>
            </a: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signal = sin(2*pi*</a:t>
            </a:r>
            <a:r>
              <a:rPr lang="en-US" altLang="zh-CN" sz="1600" b="0" i="0" dirty="0" err="1">
                <a:effectLst/>
                <a:latin typeface="Menlo"/>
              </a:rPr>
              <a:t>fL</a:t>
            </a:r>
            <a:r>
              <a:rPr lang="en-US" altLang="zh-CN" sz="1600" b="0" i="0" dirty="0">
                <a:effectLst/>
                <a:latin typeface="Menlo"/>
              </a:rPr>
              <a:t>*t) + sin(2*pi*</a:t>
            </a:r>
            <a:r>
              <a:rPr lang="en-US" altLang="zh-CN" sz="1600" b="0" i="0" dirty="0" err="1">
                <a:effectLst/>
                <a:latin typeface="Menlo"/>
              </a:rPr>
              <a:t>fH</a:t>
            </a:r>
            <a:r>
              <a:rPr lang="en-US" altLang="zh-CN" sz="1600" b="0" i="0" dirty="0">
                <a:effectLst/>
                <a:latin typeface="Menlo"/>
              </a:rPr>
              <a:t>*t); 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sound_signal</a:t>
            </a:r>
            <a:r>
              <a:rPr lang="en-US" altLang="zh-CN" sz="1600" b="0" i="0" dirty="0">
                <a:effectLst/>
                <a:latin typeface="Menlo"/>
              </a:rPr>
              <a:t> = [</a:t>
            </a:r>
            <a:r>
              <a:rPr lang="en-US" altLang="zh-CN" sz="1600" b="0" i="0" dirty="0" err="1">
                <a:effectLst/>
                <a:latin typeface="Menlo"/>
              </a:rPr>
              <a:t>sound_signal</a:t>
            </a:r>
            <a:r>
              <a:rPr lang="en-US" altLang="zh-CN" sz="1600" b="0" i="0" dirty="0">
                <a:effectLst/>
                <a:latin typeface="Menlo"/>
              </a:rPr>
              <a:t>, signal, zeros(1, round(</a:t>
            </a:r>
            <a:r>
              <a:rPr lang="en-US" altLang="zh-CN" sz="1600" b="0" i="0" dirty="0" err="1">
                <a:effectLst/>
                <a:latin typeface="Menlo"/>
              </a:rPr>
              <a:t>silence_duration</a:t>
            </a:r>
            <a:r>
              <a:rPr lang="en-US" altLang="zh-CN" sz="1600" b="0" i="0" dirty="0">
                <a:effectLst/>
                <a:latin typeface="Menlo"/>
              </a:rPr>
              <a:t> * fs))];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detected_key_goertzel</a:t>
            </a:r>
            <a:r>
              <a:rPr lang="en-US" altLang="zh-CN" sz="1600" b="0" i="0" dirty="0">
                <a:effectLst/>
                <a:latin typeface="Menlo"/>
              </a:rPr>
              <a:t> = </a:t>
            </a:r>
            <a:r>
              <a:rPr lang="en-US" altLang="zh-CN" sz="1600" b="0" i="0" dirty="0" err="1">
                <a:effectLst/>
                <a:latin typeface="Menlo"/>
              </a:rPr>
              <a:t>detect_key_using_goertzel</a:t>
            </a:r>
            <a:r>
              <a:rPr lang="en-US" altLang="zh-CN" sz="1600" b="0" i="0" dirty="0">
                <a:effectLst/>
                <a:latin typeface="Menlo"/>
              </a:rPr>
              <a:t>(signal, fs, keypad); </a:t>
            </a:r>
            <a:r>
              <a:rPr lang="en-US" altLang="zh-CN" sz="16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600" b="0" i="0" dirty="0">
                <a:solidFill>
                  <a:srgbClr val="008013"/>
                </a:solidFill>
                <a:effectLst/>
                <a:latin typeface="Menlo"/>
              </a:rPr>
              <a:t>传递 </a:t>
            </a:r>
            <a:r>
              <a:rPr lang="en-US" altLang="zh-CN" sz="1600" b="0" i="0" dirty="0">
                <a:solidFill>
                  <a:srgbClr val="008013"/>
                </a:solidFill>
                <a:effectLst/>
                <a:latin typeface="Menlo"/>
              </a:rPr>
              <a:t>keypad</a:t>
            </a:r>
            <a:endParaRPr lang="en-US" altLang="zh-CN" sz="16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recognized_keys_goertzel</a:t>
            </a:r>
            <a:r>
              <a:rPr lang="en-US" altLang="zh-CN" sz="1600" b="0" i="0" dirty="0">
                <a:effectLst/>
                <a:latin typeface="Menlo"/>
              </a:rPr>
              <a:t> = [</a:t>
            </a:r>
            <a:r>
              <a:rPr lang="en-US" altLang="zh-CN" sz="1600" b="0" i="0" dirty="0" err="1">
                <a:effectLst/>
                <a:latin typeface="Menlo"/>
              </a:rPr>
              <a:t>recognized_keys_goertzel</a:t>
            </a:r>
            <a:r>
              <a:rPr lang="en-US" altLang="zh-CN" sz="1600" b="0" i="0" dirty="0">
                <a:effectLst/>
                <a:latin typeface="Menlo"/>
              </a:rPr>
              <a:t>, </a:t>
            </a:r>
            <a:r>
              <a:rPr lang="en-US" altLang="zh-CN" sz="1600" b="0" i="0" dirty="0" err="1">
                <a:effectLst/>
                <a:latin typeface="Menlo"/>
              </a:rPr>
              <a:t>detected_key_goertzel</a:t>
            </a:r>
            <a:r>
              <a:rPr lang="en-US" altLang="zh-CN" sz="16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detected_key_bandpass</a:t>
            </a:r>
            <a:r>
              <a:rPr lang="en-US" altLang="zh-CN" sz="1600" b="0" i="0" dirty="0">
                <a:effectLst/>
                <a:latin typeface="Menlo"/>
              </a:rPr>
              <a:t> = </a:t>
            </a:r>
            <a:r>
              <a:rPr lang="en-US" altLang="zh-CN" sz="1600" b="0" i="0" dirty="0" err="1">
                <a:effectLst/>
                <a:latin typeface="Menlo"/>
              </a:rPr>
              <a:t>detect_key_using_bandpass</a:t>
            </a:r>
            <a:r>
              <a:rPr lang="en-US" altLang="zh-CN" sz="1600" b="0" i="0" dirty="0">
                <a:effectLst/>
                <a:latin typeface="Menlo"/>
              </a:rPr>
              <a:t>(signal, fs, keypad); </a:t>
            </a:r>
            <a:r>
              <a:rPr lang="en-US" altLang="zh-CN" sz="16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600" b="0" i="0" dirty="0">
                <a:solidFill>
                  <a:srgbClr val="008013"/>
                </a:solidFill>
                <a:effectLst/>
                <a:latin typeface="Menlo"/>
              </a:rPr>
              <a:t>传递 </a:t>
            </a:r>
            <a:r>
              <a:rPr lang="en-US" altLang="zh-CN" sz="1600" b="0" i="0" dirty="0">
                <a:solidFill>
                  <a:srgbClr val="008013"/>
                </a:solidFill>
                <a:effectLst/>
                <a:latin typeface="Menlo"/>
              </a:rPr>
              <a:t>keypad</a:t>
            </a:r>
            <a:endParaRPr lang="en-US" altLang="zh-CN" sz="16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recognized_keys_bandpass</a:t>
            </a:r>
            <a:r>
              <a:rPr lang="en-US" altLang="zh-CN" sz="1600" b="0" i="0" dirty="0">
                <a:effectLst/>
                <a:latin typeface="Menlo"/>
              </a:rPr>
              <a:t> = [</a:t>
            </a:r>
            <a:r>
              <a:rPr lang="en-US" altLang="zh-CN" sz="1600" b="0" i="0" dirty="0" err="1">
                <a:effectLst/>
                <a:latin typeface="Menlo"/>
              </a:rPr>
              <a:t>recognized_keys_bandpass</a:t>
            </a:r>
            <a:r>
              <a:rPr lang="en-US" altLang="zh-CN" sz="1600" b="0" i="0" dirty="0">
                <a:effectLst/>
                <a:latin typeface="Menlo"/>
              </a:rPr>
              <a:t>, </a:t>
            </a:r>
            <a:r>
              <a:rPr lang="en-US" altLang="zh-CN" sz="1600" b="0" i="0" dirty="0" err="1">
                <a:effectLst/>
                <a:latin typeface="Menlo"/>
              </a:rPr>
              <a:t>detected_key_bandpass</a:t>
            </a:r>
            <a:r>
              <a:rPr lang="en-US" altLang="zh-CN" sz="16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6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600" b="0" i="0" dirty="0">
              <a:effectLst/>
              <a:latin typeface="Menlo"/>
            </a:endParaRPr>
          </a:p>
          <a:p>
            <a:pPr>
              <a:buNone/>
            </a:pPr>
            <a:br>
              <a:rPr lang="en-US" altLang="zh-CN" sz="1600" b="0" i="0" dirty="0">
                <a:effectLst/>
                <a:latin typeface="Menlo"/>
              </a:rPr>
            </a:br>
            <a:endParaRPr lang="en-US" altLang="zh-CN" sz="16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sound(</a:t>
            </a:r>
            <a:r>
              <a:rPr lang="en-US" altLang="zh-CN" sz="1600" b="0" i="0" dirty="0" err="1">
                <a:effectLst/>
                <a:latin typeface="Menlo"/>
              </a:rPr>
              <a:t>sound_signal</a:t>
            </a:r>
            <a:r>
              <a:rPr lang="en-US" altLang="zh-CN" sz="1600" b="0" i="0" dirty="0">
                <a:effectLst/>
                <a:latin typeface="Menlo"/>
              </a:rPr>
              <a:t>, fs);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disp</a:t>
            </a:r>
            <a:r>
              <a:rPr lang="en-US" altLang="zh-CN" sz="1600" b="0" i="0" dirty="0">
                <a:effectLst/>
                <a:latin typeface="Menlo"/>
              </a:rPr>
              <a:t>(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600" b="0" i="0" dirty="0">
                <a:solidFill>
                  <a:srgbClr val="A709F5"/>
                </a:solidFill>
                <a:effectLst/>
                <a:latin typeface="Menlo"/>
              </a:rPr>
              <a:t>识别完成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!'</a:t>
            </a:r>
            <a:r>
              <a:rPr lang="en-US" altLang="zh-CN" sz="16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handles = </a:t>
            </a:r>
            <a:r>
              <a:rPr lang="en-US" altLang="zh-CN" sz="1600" b="0" i="0" dirty="0" err="1">
                <a:effectLst/>
                <a:latin typeface="Menlo"/>
              </a:rPr>
              <a:t>guidata</a:t>
            </a:r>
            <a:r>
              <a:rPr lang="en-US" altLang="zh-CN" sz="1600" b="0" i="0" dirty="0">
                <a:effectLst/>
                <a:latin typeface="Menlo"/>
              </a:rPr>
              <a:t>(f);</a:t>
            </a:r>
          </a:p>
          <a:p>
            <a:pPr>
              <a:buNone/>
            </a:pPr>
            <a:r>
              <a:rPr lang="en-US" altLang="zh-CN" sz="16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600" b="0" i="0" dirty="0">
                <a:solidFill>
                  <a:srgbClr val="008013"/>
                </a:solidFill>
                <a:effectLst/>
                <a:latin typeface="Menlo"/>
              </a:rPr>
              <a:t>显示</a:t>
            </a:r>
            <a:endParaRPr lang="zh-CN" altLang="en-US" sz="16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handles.recognition_display_1.String = [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600" b="0" i="0" dirty="0" err="1">
                <a:solidFill>
                  <a:srgbClr val="A709F5"/>
                </a:solidFill>
                <a:effectLst/>
                <a:latin typeface="Menlo"/>
              </a:rPr>
              <a:t>Goertzel</a:t>
            </a:r>
            <a:r>
              <a:rPr lang="zh-CN" altLang="en-US" sz="1600" b="0" i="0" dirty="0">
                <a:solidFill>
                  <a:srgbClr val="A709F5"/>
                </a:solidFill>
                <a:effectLst/>
                <a:latin typeface="Menlo"/>
              </a:rPr>
              <a:t>算法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: '</a:t>
            </a:r>
            <a:r>
              <a:rPr lang="en-US" altLang="zh-CN" sz="1600" b="0" i="0" dirty="0">
                <a:effectLst/>
                <a:latin typeface="Menlo"/>
              </a:rPr>
              <a:t>, </a:t>
            </a:r>
            <a:r>
              <a:rPr lang="en-US" altLang="zh-CN" sz="1600" b="0" i="0" dirty="0" err="1">
                <a:effectLst/>
                <a:latin typeface="Menlo"/>
              </a:rPr>
              <a:t>recognized_keys_goertzel</a:t>
            </a:r>
            <a:r>
              <a:rPr lang="en-US" altLang="zh-CN" sz="16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600" b="0" i="0" dirty="0">
                <a:effectLst/>
                <a:latin typeface="Menlo"/>
              </a:rPr>
              <a:t>handles.recognition_display_2.String = [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600" b="0" i="0" dirty="0">
                <a:solidFill>
                  <a:srgbClr val="A709F5"/>
                </a:solidFill>
                <a:effectLst/>
                <a:latin typeface="Menlo"/>
              </a:rPr>
              <a:t>带通滤波器法</a:t>
            </a:r>
            <a:r>
              <a:rPr lang="en-US" altLang="zh-CN" sz="1600" b="0" i="0" dirty="0">
                <a:solidFill>
                  <a:srgbClr val="A709F5"/>
                </a:solidFill>
                <a:effectLst/>
                <a:latin typeface="Menlo"/>
              </a:rPr>
              <a:t>: '</a:t>
            </a:r>
            <a:r>
              <a:rPr lang="en-US" altLang="zh-CN" sz="1600" b="0" i="0" dirty="0">
                <a:effectLst/>
                <a:latin typeface="Menlo"/>
              </a:rPr>
              <a:t>, </a:t>
            </a:r>
            <a:r>
              <a:rPr lang="en-US" altLang="zh-CN" sz="1600" b="0" i="0" dirty="0" err="1">
                <a:effectLst/>
                <a:latin typeface="Menlo"/>
              </a:rPr>
              <a:t>recognized_keys_bandpass</a:t>
            </a:r>
            <a:r>
              <a:rPr lang="en-US" altLang="zh-CN" sz="16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600" b="0" i="0" dirty="0" err="1">
                <a:effectLst/>
                <a:latin typeface="Menlo"/>
              </a:rPr>
              <a:t>guidata</a:t>
            </a:r>
            <a:r>
              <a:rPr lang="en-US" altLang="zh-CN" sz="1600" b="0" i="0" dirty="0">
                <a:effectLst/>
                <a:latin typeface="Menlo"/>
              </a:rPr>
              <a:t>(f, handles);</a:t>
            </a:r>
          </a:p>
        </p:txBody>
      </p:sp>
    </p:spTree>
    <p:extLst>
      <p:ext uri="{BB962C8B-B14F-4D97-AF65-F5344CB8AC3E}">
        <p14:creationId xmlns:p14="http://schemas.microsoft.com/office/powerpoint/2010/main" val="1749477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FE31-145D-1594-919B-14695C68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41EF8B1-7881-D4FC-6CDC-839255CF84D0}"/>
              </a:ext>
            </a:extLst>
          </p:cNvPr>
          <p:cNvSpPr/>
          <p:nvPr/>
        </p:nvSpPr>
        <p:spPr>
          <a:xfrm>
            <a:off x="8429065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系统功能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7A57D3-C921-0BE3-C0F8-C28A3970701A}"/>
              </a:ext>
            </a:extLst>
          </p:cNvPr>
          <p:cNvSpPr/>
          <p:nvPr/>
        </p:nvSpPr>
        <p:spPr>
          <a:xfrm>
            <a:off x="4766018" y="-1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DC4100-7BCC-C2BC-F9F8-3E2179DA1B70}"/>
              </a:ext>
            </a:extLst>
          </p:cNvPr>
          <p:cNvSpPr/>
          <p:nvPr/>
        </p:nvSpPr>
        <p:spPr>
          <a:xfrm>
            <a:off x="65182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647395-2EB1-7E73-7250-4A52E3FCFCF4}"/>
              </a:ext>
            </a:extLst>
          </p:cNvPr>
          <p:cNvSpPr/>
          <p:nvPr/>
        </p:nvSpPr>
        <p:spPr>
          <a:xfrm>
            <a:off x="10307779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329517-D558-0389-97FD-F78371638915}"/>
              </a:ext>
            </a:extLst>
          </p:cNvPr>
          <p:cNvSpPr/>
          <p:nvPr/>
        </p:nvSpPr>
        <p:spPr>
          <a:xfrm>
            <a:off x="109183" y="928186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读取按键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BCF281-E106-A619-DEFE-9B8FD78705F1}"/>
              </a:ext>
            </a:extLst>
          </p:cNvPr>
          <p:cNvSpPr txBox="1"/>
          <p:nvPr/>
        </p:nvSpPr>
        <p:spPr>
          <a:xfrm>
            <a:off x="479893" y="1595021"/>
            <a:ext cx="104195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读取文件处理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altLang="zh-CN" sz="1400" b="0" i="0" dirty="0" err="1">
                <a:effectLst/>
                <a:latin typeface="Menlo"/>
              </a:rPr>
              <a:t>recognize_dtmf_wav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, fs, f)</a:t>
            </a:r>
            <a:br>
              <a:rPr lang="en-US" altLang="zh-CN" sz="1400" b="0" i="0" dirty="0">
                <a:effectLst/>
                <a:latin typeface="Menlo"/>
              </a:rPr>
            </a:br>
            <a:r>
              <a:rPr lang="en-US" altLang="zh-CN" sz="1400" b="0" i="0" dirty="0" err="1">
                <a:effectLst/>
                <a:latin typeface="Menlo"/>
              </a:rPr>
              <a:t>num_samples_per_tone</a:t>
            </a:r>
            <a:r>
              <a:rPr lang="en-US" altLang="zh-CN" sz="1400" b="0" i="0" dirty="0">
                <a:effectLst/>
                <a:latin typeface="Menlo"/>
              </a:rPr>
              <a:t> = round(</a:t>
            </a:r>
            <a:r>
              <a:rPr lang="en-US" altLang="zh-CN" sz="1400" b="0" i="0" dirty="0" err="1">
                <a:effectLst/>
                <a:latin typeface="Menlo"/>
              </a:rPr>
              <a:t>tone_duration</a:t>
            </a:r>
            <a:r>
              <a:rPr lang="en-US" altLang="zh-CN" sz="1400" b="0" i="0" dirty="0">
                <a:effectLst/>
                <a:latin typeface="Menlo"/>
              </a:rPr>
              <a:t> * fs);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num_samples_per_silence</a:t>
            </a:r>
            <a:r>
              <a:rPr lang="en-US" altLang="zh-CN" sz="1400" b="0" i="0" dirty="0">
                <a:effectLst/>
                <a:latin typeface="Menlo"/>
              </a:rPr>
              <a:t> = round(</a:t>
            </a:r>
            <a:r>
              <a:rPr lang="en-US" altLang="zh-CN" sz="1400" b="0" i="0" dirty="0" err="1">
                <a:effectLst/>
                <a:latin typeface="Menlo"/>
              </a:rPr>
              <a:t>silence_duration</a:t>
            </a:r>
            <a:r>
              <a:rPr lang="en-US" altLang="zh-CN" sz="1400" b="0" i="0" dirty="0">
                <a:effectLst/>
                <a:latin typeface="Menlo"/>
              </a:rPr>
              <a:t> * fs);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num_tones</a:t>
            </a:r>
            <a:r>
              <a:rPr lang="en-US" altLang="zh-CN" sz="1400" b="0" i="0" dirty="0">
                <a:effectLst/>
                <a:latin typeface="Menlo"/>
              </a:rPr>
              <a:t> = floor(length(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) / (</a:t>
            </a:r>
            <a:r>
              <a:rPr lang="en-US" altLang="zh-CN" sz="1400" b="0" i="0" dirty="0" err="1">
                <a:effectLst/>
                <a:latin typeface="Menlo"/>
              </a:rPr>
              <a:t>num_samples_per_tone</a:t>
            </a:r>
            <a:r>
              <a:rPr lang="en-US" altLang="zh-CN" sz="1400" b="0" i="0" dirty="0">
                <a:effectLst/>
                <a:latin typeface="Menlo"/>
              </a:rPr>
              <a:t> + </a:t>
            </a:r>
            <a:r>
              <a:rPr lang="en-US" altLang="zh-CN" sz="1400" b="0" i="0" dirty="0" err="1">
                <a:effectLst/>
                <a:latin typeface="Menlo"/>
              </a:rPr>
              <a:t>num_samples_per_silence</a:t>
            </a:r>
            <a:r>
              <a:rPr lang="en-US" altLang="zh-CN" sz="1400" b="0" i="0" dirty="0">
                <a:effectLst/>
                <a:latin typeface="Menlo"/>
              </a:rPr>
              <a:t>));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(1:num_tones * (</a:t>
            </a:r>
            <a:r>
              <a:rPr lang="en-US" altLang="zh-CN" sz="1400" b="0" i="0" dirty="0" err="1">
                <a:effectLst/>
                <a:latin typeface="Menlo"/>
              </a:rPr>
              <a:t>num_samples_per_tone</a:t>
            </a:r>
            <a:r>
              <a:rPr lang="en-US" altLang="zh-CN" sz="1400" b="0" i="0" dirty="0">
                <a:effectLst/>
                <a:latin typeface="Menlo"/>
              </a:rPr>
              <a:t> + </a:t>
            </a:r>
            <a:r>
              <a:rPr lang="en-US" altLang="zh-CN" sz="1400" b="0" i="0" dirty="0" err="1">
                <a:effectLst/>
                <a:latin typeface="Menlo"/>
              </a:rPr>
              <a:t>num_samples_per_silence</a:t>
            </a:r>
            <a:r>
              <a:rPr lang="en-US" altLang="zh-CN" sz="1400" b="0" i="0" dirty="0">
                <a:effectLst/>
                <a:latin typeface="Menlo"/>
              </a:rPr>
              <a:t>)); </a:t>
            </a: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截取有效部分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altLang="zh-CN" sz="1400" b="0" i="0" dirty="0" err="1">
                <a:effectLst/>
                <a:latin typeface="Menlo"/>
              </a:rPr>
              <a:t>i</a:t>
            </a:r>
            <a:r>
              <a:rPr lang="en-US" altLang="zh-CN" sz="1400" b="0" i="0" dirty="0">
                <a:effectLst/>
                <a:latin typeface="Menlo"/>
              </a:rPr>
              <a:t> = 1:num_tones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start_idx</a:t>
            </a:r>
            <a:r>
              <a:rPr lang="en-US" altLang="zh-CN" sz="1400" b="0" i="0" dirty="0">
                <a:effectLst/>
                <a:latin typeface="Menlo"/>
              </a:rPr>
              <a:t> = (i-1) * (</a:t>
            </a:r>
            <a:r>
              <a:rPr lang="en-US" altLang="zh-CN" sz="1400" b="0" i="0" dirty="0" err="1">
                <a:effectLst/>
                <a:latin typeface="Menlo"/>
              </a:rPr>
              <a:t>num_samples_per_tone</a:t>
            </a:r>
            <a:r>
              <a:rPr lang="en-US" altLang="zh-CN" sz="1400" b="0" i="0" dirty="0">
                <a:effectLst/>
                <a:latin typeface="Menlo"/>
              </a:rPr>
              <a:t> + </a:t>
            </a:r>
            <a:r>
              <a:rPr lang="en-US" altLang="zh-CN" sz="1400" b="0" i="0" dirty="0" err="1">
                <a:effectLst/>
                <a:latin typeface="Menlo"/>
              </a:rPr>
              <a:t>num_samples_per_silence</a:t>
            </a:r>
            <a:r>
              <a:rPr lang="en-US" altLang="zh-CN" sz="1400" b="0" i="0" dirty="0">
                <a:effectLst/>
                <a:latin typeface="Menlo"/>
              </a:rPr>
              <a:t>) + 1;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end_idx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start_idx</a:t>
            </a:r>
            <a:r>
              <a:rPr lang="en-US" altLang="zh-CN" sz="1400" b="0" i="0" dirty="0">
                <a:effectLst/>
                <a:latin typeface="Menlo"/>
              </a:rPr>
              <a:t> + </a:t>
            </a:r>
            <a:r>
              <a:rPr lang="en-US" altLang="zh-CN" sz="1400" b="0" i="0" dirty="0" err="1">
                <a:effectLst/>
                <a:latin typeface="Menlo"/>
              </a:rPr>
              <a:t>num_samples_per_tone</a:t>
            </a:r>
            <a:r>
              <a:rPr lang="en-US" altLang="zh-CN" sz="1400" b="0" i="0" dirty="0">
                <a:effectLst/>
                <a:latin typeface="Menlo"/>
              </a:rPr>
              <a:t> - 1;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tone_signal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start_idx:end_idx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en-US" altLang="zh-CN" sz="1400" b="0" i="0" dirty="0" err="1">
                <a:solidFill>
                  <a:srgbClr val="008013"/>
                </a:solidFill>
                <a:effectLst/>
                <a:latin typeface="Menlo"/>
              </a:rPr>
              <a:t>Goertzel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detected_key_goertzel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detect_key_using_goertzel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tone_signal</a:t>
            </a:r>
            <a:r>
              <a:rPr lang="en-US" altLang="zh-CN" sz="1400" b="0" i="0" dirty="0">
                <a:effectLst/>
                <a:latin typeface="Menlo"/>
              </a:rPr>
              <a:t>, fs, keypad);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recognized_keys_goertzel</a:t>
            </a:r>
            <a:r>
              <a:rPr lang="en-US" altLang="zh-CN" sz="1400" b="0" i="0" dirty="0">
                <a:effectLst/>
                <a:latin typeface="Menlo"/>
              </a:rPr>
              <a:t> = [</a:t>
            </a:r>
            <a:r>
              <a:rPr lang="en-US" altLang="zh-CN" sz="1400" b="0" i="0" dirty="0" err="1">
                <a:effectLst/>
                <a:latin typeface="Menlo"/>
              </a:rPr>
              <a:t>recognized_keys_goertzel</a:t>
            </a:r>
            <a:r>
              <a:rPr lang="en-US" altLang="zh-CN" sz="1400" b="0" i="0" dirty="0">
                <a:effectLst/>
                <a:latin typeface="Menlo"/>
              </a:rPr>
              <a:t>, </a:t>
            </a:r>
            <a:r>
              <a:rPr lang="en-US" altLang="zh-CN" sz="1400" b="0" i="0" dirty="0" err="1">
                <a:effectLst/>
                <a:latin typeface="Menlo"/>
              </a:rPr>
              <a:t>detected_key_goertzel</a:t>
            </a:r>
            <a:r>
              <a:rPr lang="en-US" altLang="zh-CN" sz="14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滤波器法</a:t>
            </a:r>
            <a:endParaRPr lang="zh-CN" altLang="en-US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detected_key_bandpass</a:t>
            </a:r>
            <a:r>
              <a:rPr lang="en-US" altLang="zh-CN" sz="1400" b="0" i="0" dirty="0">
                <a:effectLst/>
                <a:latin typeface="Menlo"/>
              </a:rPr>
              <a:t> = </a:t>
            </a:r>
            <a:r>
              <a:rPr lang="en-US" altLang="zh-CN" sz="1400" b="0" i="0" dirty="0" err="1">
                <a:effectLst/>
                <a:latin typeface="Menlo"/>
              </a:rPr>
              <a:t>detect_key_using_bandpass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tone_signal</a:t>
            </a:r>
            <a:r>
              <a:rPr lang="en-US" altLang="zh-CN" sz="1400" b="0" i="0" dirty="0">
                <a:effectLst/>
                <a:latin typeface="Menlo"/>
              </a:rPr>
              <a:t>, fs, keypad);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recognized_keys_bandpass</a:t>
            </a:r>
            <a:r>
              <a:rPr lang="en-US" altLang="zh-CN" sz="1400" b="0" i="0" dirty="0">
                <a:effectLst/>
                <a:latin typeface="Menlo"/>
              </a:rPr>
              <a:t> = [</a:t>
            </a:r>
            <a:r>
              <a:rPr lang="en-US" altLang="zh-CN" sz="1400" b="0" i="0" dirty="0" err="1">
                <a:effectLst/>
                <a:latin typeface="Menlo"/>
              </a:rPr>
              <a:t>recognized_keys_bandpass</a:t>
            </a:r>
            <a:r>
              <a:rPr lang="en-US" altLang="zh-CN" sz="1400" b="0" i="0" dirty="0">
                <a:effectLst/>
                <a:latin typeface="Menlo"/>
              </a:rPr>
              <a:t>, </a:t>
            </a:r>
            <a:r>
              <a:rPr lang="en-US" altLang="zh-CN" sz="1400" b="0" i="0" dirty="0" err="1">
                <a:effectLst/>
                <a:latin typeface="Menlo"/>
              </a:rPr>
              <a:t>detected_key_bandpass</a:t>
            </a:r>
            <a:r>
              <a:rPr lang="en-US" altLang="zh-CN" sz="1400" b="0" i="0" dirty="0">
                <a:effectLst/>
                <a:latin typeface="Menlo"/>
              </a:rPr>
              <a:t>];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sound(</a:t>
            </a:r>
            <a:r>
              <a:rPr lang="en-US" altLang="zh-CN" sz="1400" b="0" i="0" dirty="0" err="1">
                <a:effectLst/>
                <a:latin typeface="Menlo"/>
              </a:rPr>
              <a:t>sound_signal</a:t>
            </a:r>
            <a:r>
              <a:rPr lang="en-US" altLang="zh-CN" sz="1400" b="0" i="0" dirty="0">
                <a:effectLst/>
                <a:latin typeface="Menlo"/>
              </a:rPr>
              <a:t>, fs);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handles = </a:t>
            </a:r>
            <a:r>
              <a:rPr lang="en-US" altLang="zh-CN" sz="1400" b="0" i="0" dirty="0" err="1">
                <a:effectLst/>
                <a:latin typeface="Menlo"/>
              </a:rPr>
              <a:t>guidata</a:t>
            </a:r>
            <a:r>
              <a:rPr lang="en-US" altLang="zh-CN" sz="1400" b="0" i="0" dirty="0">
                <a:effectLst/>
                <a:latin typeface="Menlo"/>
              </a:rPr>
              <a:t>(f);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set(handles.recognition_display_1, 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400" b="0" i="0" dirty="0">
                <a:effectLst/>
                <a:latin typeface="Menlo"/>
              </a:rPr>
              <a:t>, [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400" b="0" i="0" dirty="0" err="1">
                <a:solidFill>
                  <a:srgbClr val="A709F5"/>
                </a:solidFill>
                <a:effectLst/>
                <a:latin typeface="Menlo"/>
              </a:rPr>
              <a:t>Goertzel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算法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: '</a:t>
            </a:r>
            <a:r>
              <a:rPr lang="en-US" altLang="zh-CN" sz="1400" b="0" i="0" dirty="0">
                <a:effectLst/>
                <a:latin typeface="Menlo"/>
              </a:rPr>
              <a:t>, </a:t>
            </a:r>
            <a:r>
              <a:rPr lang="en-US" altLang="zh-CN" sz="1400" b="0" i="0" dirty="0" err="1">
                <a:effectLst/>
                <a:latin typeface="Menlo"/>
              </a:rPr>
              <a:t>recognized_keys_goertzel</a:t>
            </a:r>
            <a:r>
              <a:rPr lang="en-US" altLang="zh-CN" sz="1400" b="0" i="0" dirty="0">
                <a:effectLst/>
                <a:latin typeface="Menlo"/>
              </a:rPr>
              <a:t>]);</a:t>
            </a:r>
          </a:p>
          <a:p>
            <a:pPr>
              <a:buNone/>
            </a:pPr>
            <a:r>
              <a:rPr lang="en-US" altLang="zh-CN" sz="1400" b="0" i="0" dirty="0">
                <a:effectLst/>
                <a:latin typeface="Menlo"/>
              </a:rPr>
              <a:t>set(handles.recognition_display_2, 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'String'</a:t>
            </a:r>
            <a:r>
              <a:rPr lang="en-US" altLang="zh-CN" sz="1400" b="0" i="0" dirty="0">
                <a:effectLst/>
                <a:latin typeface="Menlo"/>
              </a:rPr>
              <a:t>, [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zh-CN" altLang="en-US" sz="1400" b="0" i="0" dirty="0">
                <a:solidFill>
                  <a:srgbClr val="A709F5"/>
                </a:solidFill>
                <a:effectLst/>
                <a:latin typeface="Menlo"/>
              </a:rPr>
              <a:t>带通滤波器法</a:t>
            </a:r>
            <a:r>
              <a:rPr lang="en-US" altLang="zh-CN" sz="1400" b="0" i="0" dirty="0">
                <a:solidFill>
                  <a:srgbClr val="A709F5"/>
                </a:solidFill>
                <a:effectLst/>
                <a:latin typeface="Menlo"/>
              </a:rPr>
              <a:t>: '</a:t>
            </a:r>
            <a:r>
              <a:rPr lang="en-US" altLang="zh-CN" sz="1400" b="0" i="0" dirty="0">
                <a:effectLst/>
                <a:latin typeface="Menlo"/>
              </a:rPr>
              <a:t>, </a:t>
            </a:r>
            <a:r>
              <a:rPr lang="en-US" altLang="zh-CN" sz="1400" b="0" i="0" dirty="0" err="1">
                <a:effectLst/>
                <a:latin typeface="Menlo"/>
              </a:rPr>
              <a:t>recognized_keys_bandpass</a:t>
            </a:r>
            <a:r>
              <a:rPr lang="en-US" altLang="zh-CN" sz="1400" b="0" i="0" dirty="0">
                <a:effectLst/>
                <a:latin typeface="Menlo"/>
              </a:rPr>
              <a:t>]);</a:t>
            </a:r>
          </a:p>
          <a:p>
            <a:pPr>
              <a:buNone/>
            </a:pPr>
            <a:r>
              <a:rPr lang="en-US" altLang="zh-CN" sz="1400" b="0" i="0" dirty="0" err="1">
                <a:effectLst/>
                <a:latin typeface="Menlo"/>
              </a:rPr>
              <a:t>guidata</a:t>
            </a:r>
            <a:r>
              <a:rPr lang="en-US" altLang="zh-CN" sz="1400" b="0" i="0" dirty="0">
                <a:effectLst/>
                <a:latin typeface="Menlo"/>
              </a:rPr>
              <a:t>(f, handles);</a:t>
            </a:r>
          </a:p>
          <a:p>
            <a:pPr>
              <a:buNone/>
            </a:pPr>
            <a:r>
              <a:rPr lang="en-US" altLang="zh-CN" sz="14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altLang="zh-CN" sz="14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31981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8247" y="2816012"/>
            <a:ext cx="2783071" cy="1164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FOUR</a:t>
            </a:r>
            <a:endParaRPr lang="zh-CN" altLang="en-US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37845" y="2816012"/>
            <a:ext cx="6096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kern="1200" dirty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0351077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结果分析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04118" y="6349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/>
          <p:cNvSpPr/>
          <p:nvPr/>
        </p:nvSpPr>
        <p:spPr>
          <a:xfrm>
            <a:off x="65563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/>
          <p:cNvSpPr/>
          <p:nvPr/>
        </p:nvSpPr>
        <p:spPr>
          <a:xfrm>
            <a:off x="8403665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C4B833A-1738-3865-A249-C5E0785EB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141487"/>
              </p:ext>
            </p:extLst>
          </p:nvPr>
        </p:nvGraphicFramePr>
        <p:xfrm>
          <a:off x="1002036" y="1915932"/>
          <a:ext cx="10187928" cy="4471619"/>
        </p:xfrm>
        <a:graphic>
          <a:graphicData uri="http://schemas.openxmlformats.org/drawingml/2006/table">
            <a:tbl>
              <a:tblPr/>
              <a:tblGrid>
                <a:gridCol w="3395976">
                  <a:extLst>
                    <a:ext uri="{9D8B030D-6E8A-4147-A177-3AD203B41FA5}">
                      <a16:colId xmlns:a16="http://schemas.microsoft.com/office/drawing/2014/main" val="3569992772"/>
                    </a:ext>
                  </a:extLst>
                </a:gridCol>
                <a:gridCol w="3395976">
                  <a:extLst>
                    <a:ext uri="{9D8B030D-6E8A-4147-A177-3AD203B41FA5}">
                      <a16:colId xmlns:a16="http://schemas.microsoft.com/office/drawing/2014/main" val="4190099809"/>
                    </a:ext>
                  </a:extLst>
                </a:gridCol>
                <a:gridCol w="3395976">
                  <a:extLst>
                    <a:ext uri="{9D8B030D-6E8A-4147-A177-3AD203B41FA5}">
                      <a16:colId xmlns:a16="http://schemas.microsoft.com/office/drawing/2014/main" val="3311810686"/>
                    </a:ext>
                  </a:extLst>
                </a:gridCol>
              </a:tblGrid>
              <a:tr h="446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/>
                        <a:t>带通滤波器法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/>
                        <a:t>Goertzel</a:t>
                      </a:r>
                      <a:r>
                        <a:rPr lang="en-US" sz="1600" b="1" dirty="0"/>
                        <a:t> </a:t>
                      </a:r>
                      <a:r>
                        <a:rPr lang="zh-CN" altLang="en-US" sz="1600" b="1" dirty="0"/>
                        <a:t>算法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880718"/>
                  </a:ext>
                </a:extLst>
              </a:tr>
              <a:tr h="783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核心思路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/>
                        <a:t>8 </a:t>
                      </a:r>
                      <a:r>
                        <a:rPr lang="zh-CN" altLang="en-US" sz="1600" b="0" dirty="0"/>
                        <a:t>个窄带带通“过筛子”，看哪路能量最大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/>
                        <a:t>8 </a:t>
                      </a:r>
                      <a:r>
                        <a:rPr lang="zh-CN" altLang="en-US" sz="1600" b="0"/>
                        <a:t>个目标频点做“单点 </a:t>
                      </a:r>
                      <a:r>
                        <a:rPr lang="en-US" altLang="zh-CN" sz="1600" b="0"/>
                        <a:t>DFT”</a:t>
                      </a:r>
                      <a:r>
                        <a:rPr lang="zh-CN" altLang="en-US" sz="1600" b="0"/>
                        <a:t>递推，看哪点功率最大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5565"/>
                  </a:ext>
                </a:extLst>
              </a:tr>
              <a:tr h="446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/>
                        <a:t>计算量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大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小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29163"/>
                  </a:ext>
                </a:extLst>
              </a:tr>
              <a:tr h="783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/>
                        <a:t>实现与参数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需选带宽 </a:t>
                      </a:r>
                      <a:r>
                        <a:rPr lang="en-US" altLang="zh-CN" sz="1600" b="0" dirty="0"/>
                        <a:t>BW</a:t>
                      </a:r>
                      <a:r>
                        <a:rPr lang="zh-CN" altLang="en-US" sz="1600" b="0" dirty="0"/>
                        <a:t>、阶数 </a:t>
                      </a:r>
                      <a:r>
                        <a:rPr lang="en-US" altLang="zh-CN" sz="1600" b="0" dirty="0"/>
                        <a:t>ORD</a:t>
                      </a:r>
                      <a:r>
                        <a:rPr lang="zh-CN" altLang="en-US" sz="1600" b="0" dirty="0"/>
                        <a:t>，调参敏感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/>
                        <a:t>参数少（</a:t>
                      </a:r>
                      <a:r>
                        <a:rPr lang="en-US" altLang="zh-CN" sz="1600" b="0"/>
                        <a:t>fs</a:t>
                      </a:r>
                      <a:r>
                        <a:rPr lang="zh-CN" altLang="en-US" sz="1600" b="0"/>
                        <a:t>、</a:t>
                      </a:r>
                      <a:r>
                        <a:rPr lang="en-US" altLang="zh-CN" sz="1600" b="0"/>
                        <a:t>N</a:t>
                      </a:r>
                      <a:r>
                        <a:rPr lang="zh-CN" altLang="en-US" sz="1600" b="0"/>
                        <a:t>、频点、阈值），代码短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94353"/>
                  </a:ext>
                </a:extLst>
              </a:tr>
              <a:tr h="783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抗干扰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依赖带宽</a:t>
                      </a:r>
                      <a:r>
                        <a:rPr lang="en-US" altLang="zh-CN" sz="1600" b="0" dirty="0"/>
                        <a:t>/</a:t>
                      </a:r>
                      <a:r>
                        <a:rPr lang="zh-CN" altLang="en-US" sz="1600" b="0" dirty="0"/>
                        <a:t>阶数设置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更好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589617"/>
                  </a:ext>
                </a:extLst>
              </a:tr>
              <a:tr h="783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/>
                        <a:t>频偏容忍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/>
                        <a:t>BW </a:t>
                      </a:r>
                      <a:r>
                        <a:rPr lang="zh-CN" altLang="en-US" sz="1600" b="0" dirty="0"/>
                        <a:t>宽容忍强但易串频；</a:t>
                      </a:r>
                      <a:r>
                        <a:rPr lang="en-US" altLang="zh-CN" sz="1600" b="0" dirty="0"/>
                        <a:t>BW </a:t>
                      </a:r>
                      <a:r>
                        <a:rPr lang="zh-CN" altLang="en-US" sz="1600" b="0" dirty="0"/>
                        <a:t>窄抑制好但易漏检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轻微频偏会泄漏，整体可接受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191296"/>
                  </a:ext>
                </a:extLst>
              </a:tr>
              <a:tr h="446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/>
                        <a:t>直观性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直观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/>
                        <a:t>数学简洁，针对性强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053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602674A-B2D1-2ACE-D4ED-E64BFFB67899}"/>
              </a:ext>
            </a:extLst>
          </p:cNvPr>
          <p:cNvSpPr/>
          <p:nvPr/>
        </p:nvSpPr>
        <p:spPr>
          <a:xfrm>
            <a:off x="632644" y="1083977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算法对比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E347-E810-975F-EC4D-81DF13C7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21A9970-A541-815A-4720-CADAFAC238FB}"/>
              </a:ext>
            </a:extLst>
          </p:cNvPr>
          <p:cNvSpPr/>
          <p:nvPr/>
        </p:nvSpPr>
        <p:spPr>
          <a:xfrm>
            <a:off x="10351077" y="0"/>
            <a:ext cx="1847273" cy="785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结果分析</a:t>
            </a:r>
            <a:endParaRPr lang="zh-CN" altLang="en-US" sz="2400" b="1" dirty="0">
              <a:solidFill>
                <a:schemeClr val="tx1">
                  <a:alpha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E86D26-51CD-9AF9-8BE6-A52901494774}"/>
              </a:ext>
            </a:extLst>
          </p:cNvPr>
          <p:cNvSpPr/>
          <p:nvPr/>
        </p:nvSpPr>
        <p:spPr>
          <a:xfrm>
            <a:off x="4804118" y="6349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AF73D2-206A-09CC-73F3-5D4C66B31FA8}"/>
              </a:ext>
            </a:extLst>
          </p:cNvPr>
          <p:cNvSpPr/>
          <p:nvPr/>
        </p:nvSpPr>
        <p:spPr>
          <a:xfrm>
            <a:off x="6556392" y="-14177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F80246-E300-642A-CC0D-1C9EE532F43E}"/>
              </a:ext>
            </a:extLst>
          </p:cNvPr>
          <p:cNvSpPr/>
          <p:nvPr/>
        </p:nvSpPr>
        <p:spPr>
          <a:xfrm>
            <a:off x="8403665" y="0"/>
            <a:ext cx="1847273" cy="785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2654DD-F845-45BB-20B4-C945DA6FA5C2}"/>
              </a:ext>
            </a:extLst>
          </p:cNvPr>
          <p:cNvSpPr txBox="1"/>
          <p:nvPr/>
        </p:nvSpPr>
        <p:spPr>
          <a:xfrm>
            <a:off x="1376568" y="2314594"/>
            <a:ext cx="95631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dirty="0"/>
              <a:t>本实验围绕电话拨号音（</a:t>
            </a:r>
            <a:r>
              <a:rPr lang="en-US" altLang="zh-CN" sz="2000" dirty="0"/>
              <a:t>DTMF </a:t>
            </a:r>
            <a:r>
              <a:rPr lang="zh-CN" altLang="en-US" sz="2000" dirty="0"/>
              <a:t>信号）的合成与识别展开，主要任务包括：利用 </a:t>
            </a:r>
            <a:r>
              <a:rPr lang="en-US" altLang="zh-CN" sz="2000" dirty="0"/>
              <a:t>MATLAB </a:t>
            </a:r>
            <a:r>
              <a:rPr lang="zh-CN" altLang="en-US" sz="2000" dirty="0"/>
              <a:t>合成双音多频信号并播放拨号音，绘制时域与频域波形；针对一段完整的电话号码信号，分别采用带通滤波器法和 </a:t>
            </a:r>
            <a:r>
              <a:rPr lang="en-US" altLang="zh-CN" sz="2000" dirty="0" err="1"/>
              <a:t>Goertzel</a:t>
            </a:r>
            <a:r>
              <a:rPr lang="en-US" altLang="zh-CN" sz="2000" dirty="0"/>
              <a:t> </a:t>
            </a:r>
            <a:r>
              <a:rPr lang="zh-CN" altLang="en-US" sz="2000" dirty="0"/>
              <a:t>算法进行频率估计和按键识别。</a:t>
            </a: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r>
              <a:rPr lang="zh-CN" altLang="en-US" sz="2000" dirty="0"/>
              <a:t>实验结果表明，每个按键都对应唯一的双频组合，理论分析与仿真结果高度一致；滤波器法直观但计算量较大，而 </a:t>
            </a:r>
            <a:r>
              <a:rPr lang="en-US" altLang="zh-CN" sz="2000" dirty="0" err="1"/>
              <a:t>Goertzel</a:t>
            </a:r>
            <a:r>
              <a:rPr lang="en-US" altLang="zh-CN" sz="2000" dirty="0"/>
              <a:t> </a:t>
            </a:r>
            <a:r>
              <a:rPr lang="zh-CN" altLang="en-US" sz="2000" dirty="0"/>
              <a:t>算法在仅需检测目标频率点时展现出更高效、更精准的优势。</a:t>
            </a:r>
            <a:endParaRPr lang="en-US" altLang="zh-CN" sz="2000" dirty="0"/>
          </a:p>
          <a:p>
            <a:pPr>
              <a:buNone/>
            </a:pPr>
            <a:endParaRPr lang="en-US" altLang="zh-CN" sz="2000" dirty="0"/>
          </a:p>
          <a:p>
            <a:pPr>
              <a:buNone/>
            </a:pPr>
            <a:r>
              <a:rPr lang="zh-CN" altLang="en-US" sz="2000" dirty="0"/>
              <a:t>通过实验，不仅掌握了 </a:t>
            </a:r>
            <a:r>
              <a:rPr lang="en-US" altLang="zh-CN" sz="2000" dirty="0"/>
              <a:t>DTMF </a:t>
            </a:r>
            <a:r>
              <a:rPr lang="zh-CN" altLang="en-US" sz="2000" dirty="0"/>
              <a:t>信号的产生与检测原理，还提升了 </a:t>
            </a:r>
            <a:r>
              <a:rPr lang="en-US" altLang="zh-CN" sz="2000" dirty="0"/>
              <a:t>MATLAB </a:t>
            </a:r>
            <a:r>
              <a:rPr lang="zh-CN" altLang="en-US" sz="2000" dirty="0"/>
              <a:t>信号处理与频谱分析的实践能力，对理解通信系统中信号传输、解码机制及抗干扰方法有重要意义，同时为日后实现更复杂的语音识别或通信应用奠定了基础。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FD0E9F-9A3B-E591-ECC7-D157A23AF2C4}"/>
              </a:ext>
            </a:extLst>
          </p:cNvPr>
          <p:cNvSpPr/>
          <p:nvPr/>
        </p:nvSpPr>
        <p:spPr>
          <a:xfrm>
            <a:off x="632644" y="1083977"/>
            <a:ext cx="2073703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3822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48451" y="226679"/>
            <a:ext cx="11695099" cy="640464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14648" y="2063472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1611712" y="3151064"/>
            <a:ext cx="8676933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0" name="任意多边形: 形状 29"/>
          <p:cNvSpPr/>
          <p:nvPr/>
        </p:nvSpPr>
        <p:spPr>
          <a:xfrm>
            <a:off x="-8051" y="4402920"/>
            <a:ext cx="12200051" cy="2455080"/>
          </a:xfrm>
          <a:custGeom>
            <a:avLst/>
            <a:gdLst>
              <a:gd name="connsiteX0" fmla="*/ 12200051 w 12200051"/>
              <a:gd name="connsiteY0" fmla="*/ 0 h 2455080"/>
              <a:gd name="connsiteX1" fmla="*/ 12200051 w 12200051"/>
              <a:gd name="connsiteY1" fmla="*/ 2422019 h 2455080"/>
              <a:gd name="connsiteX2" fmla="*/ 12196025 w 12200051"/>
              <a:gd name="connsiteY2" fmla="*/ 2422019 h 2455080"/>
              <a:gd name="connsiteX3" fmla="*/ 12196025 w 12200051"/>
              <a:gd name="connsiteY3" fmla="*/ 2455080 h 2455080"/>
              <a:gd name="connsiteX4" fmla="*/ 4025 w 12200051"/>
              <a:gd name="connsiteY4" fmla="*/ 2455080 h 2455080"/>
              <a:gd name="connsiteX5" fmla="*/ 4025 w 12200051"/>
              <a:gd name="connsiteY5" fmla="*/ 2422019 h 2455080"/>
              <a:gd name="connsiteX6" fmla="*/ 0 w 12200051"/>
              <a:gd name="connsiteY6" fmla="*/ 2422019 h 2455080"/>
              <a:gd name="connsiteX7" fmla="*/ 0 w 12200051"/>
              <a:gd name="connsiteY7" fmla="*/ 189 h 2455080"/>
              <a:gd name="connsiteX8" fmla="*/ 4912585 w 12200051"/>
              <a:gd name="connsiteY8" fmla="*/ 1441177 h 2455080"/>
              <a:gd name="connsiteX9" fmla="*/ 7209513 w 12200051"/>
              <a:gd name="connsiteY9" fmla="*/ 1444596 h 24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0051" h="2455080">
                <a:moveTo>
                  <a:pt x="12200051" y="0"/>
                </a:moveTo>
                <a:lnTo>
                  <a:pt x="12200051" y="2422019"/>
                </a:lnTo>
                <a:lnTo>
                  <a:pt x="12196025" y="2422019"/>
                </a:lnTo>
                <a:lnTo>
                  <a:pt x="12196025" y="2455080"/>
                </a:lnTo>
                <a:lnTo>
                  <a:pt x="4025" y="2455080"/>
                </a:lnTo>
                <a:lnTo>
                  <a:pt x="4025" y="2422019"/>
                </a:lnTo>
                <a:lnTo>
                  <a:pt x="0" y="2422019"/>
                </a:lnTo>
                <a:lnTo>
                  <a:pt x="0" y="189"/>
                </a:lnTo>
                <a:lnTo>
                  <a:pt x="4912585" y="1441177"/>
                </a:lnTo>
                <a:cubicBezTo>
                  <a:pt x="5630052" y="1651699"/>
                  <a:pt x="6489978" y="1652840"/>
                  <a:pt x="7209513" y="144459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735936" y="4006384"/>
            <a:ext cx="6772928" cy="956327"/>
            <a:chOff x="2975670" y="5258853"/>
            <a:chExt cx="6772928" cy="956327"/>
          </a:xfrm>
        </p:grpSpPr>
        <p:sp>
          <p:nvSpPr>
            <p:cNvPr id="6" name="teacher-reading-a-book-sitting-behind-his-desk_42916"/>
            <p:cNvSpPr/>
            <p:nvPr/>
          </p:nvSpPr>
          <p:spPr>
            <a:xfrm>
              <a:off x="3029860" y="5258853"/>
              <a:ext cx="283357" cy="329485"/>
            </a:xfrm>
            <a:custGeom>
              <a:avLst/>
              <a:gdLst>
                <a:gd name="connsiteX0" fmla="*/ 193784 w 523934"/>
                <a:gd name="connsiteY0" fmla="*/ 190536 h 609225"/>
                <a:gd name="connsiteX1" fmla="*/ 193784 w 523934"/>
                <a:gd name="connsiteY1" fmla="*/ 227817 h 609225"/>
                <a:gd name="connsiteX2" fmla="*/ 205267 w 523934"/>
                <a:gd name="connsiteY2" fmla="*/ 227817 h 609225"/>
                <a:gd name="connsiteX3" fmla="*/ 205267 w 523934"/>
                <a:gd name="connsiteY3" fmla="*/ 273700 h 609225"/>
                <a:gd name="connsiteX4" fmla="*/ 193784 w 523934"/>
                <a:gd name="connsiteY4" fmla="*/ 273700 h 609225"/>
                <a:gd name="connsiteX5" fmla="*/ 193784 w 523934"/>
                <a:gd name="connsiteY5" fmla="*/ 283737 h 609225"/>
                <a:gd name="connsiteX6" fmla="*/ 256943 w 523934"/>
                <a:gd name="connsiteY6" fmla="*/ 295208 h 609225"/>
                <a:gd name="connsiteX7" fmla="*/ 320102 w 523934"/>
                <a:gd name="connsiteY7" fmla="*/ 283737 h 609225"/>
                <a:gd name="connsiteX8" fmla="*/ 320102 w 523934"/>
                <a:gd name="connsiteY8" fmla="*/ 273700 h 609225"/>
                <a:gd name="connsiteX9" fmla="*/ 308619 w 523934"/>
                <a:gd name="connsiteY9" fmla="*/ 273700 h 609225"/>
                <a:gd name="connsiteX10" fmla="*/ 308619 w 523934"/>
                <a:gd name="connsiteY10" fmla="*/ 227817 h 609225"/>
                <a:gd name="connsiteX11" fmla="*/ 320102 w 523934"/>
                <a:gd name="connsiteY11" fmla="*/ 227817 h 609225"/>
                <a:gd name="connsiteX12" fmla="*/ 320102 w 523934"/>
                <a:gd name="connsiteY12" fmla="*/ 190536 h 609225"/>
                <a:gd name="connsiteX13" fmla="*/ 256943 w 523934"/>
                <a:gd name="connsiteY13" fmla="*/ 202007 h 609225"/>
                <a:gd name="connsiteX14" fmla="*/ 175123 w 523934"/>
                <a:gd name="connsiteY14" fmla="*/ 167594 h 609225"/>
                <a:gd name="connsiteX15" fmla="*/ 256943 w 523934"/>
                <a:gd name="connsiteY15" fmla="*/ 181933 h 609225"/>
                <a:gd name="connsiteX16" fmla="*/ 340198 w 523934"/>
                <a:gd name="connsiteY16" fmla="*/ 167594 h 609225"/>
                <a:gd name="connsiteX17" fmla="*/ 340198 w 523934"/>
                <a:gd name="connsiteY17" fmla="*/ 184801 h 609225"/>
                <a:gd name="connsiteX18" fmla="*/ 384697 w 523934"/>
                <a:gd name="connsiteY18" fmla="*/ 190536 h 609225"/>
                <a:gd name="connsiteX19" fmla="*/ 394745 w 523934"/>
                <a:gd name="connsiteY19" fmla="*/ 227817 h 609225"/>
                <a:gd name="connsiteX20" fmla="*/ 409099 w 523934"/>
                <a:gd name="connsiteY20" fmla="*/ 273700 h 609225"/>
                <a:gd name="connsiteX21" fmla="*/ 348811 w 523934"/>
                <a:gd name="connsiteY21" fmla="*/ 273700 h 609225"/>
                <a:gd name="connsiteX22" fmla="*/ 350246 w 523934"/>
                <a:gd name="connsiteY22" fmla="*/ 308113 h 609225"/>
                <a:gd name="connsiteX23" fmla="*/ 523934 w 523934"/>
                <a:gd name="connsiteY23" fmla="*/ 308113 h 609225"/>
                <a:gd name="connsiteX24" fmla="*/ 523934 w 523934"/>
                <a:gd name="connsiteY24" fmla="*/ 376939 h 609225"/>
                <a:gd name="connsiteX25" fmla="*/ 482306 w 523934"/>
                <a:gd name="connsiteY25" fmla="*/ 376939 h 609225"/>
                <a:gd name="connsiteX26" fmla="*/ 482306 w 523934"/>
                <a:gd name="connsiteY26" fmla="*/ 609225 h 609225"/>
                <a:gd name="connsiteX27" fmla="*/ 41628 w 523934"/>
                <a:gd name="connsiteY27" fmla="*/ 609225 h 609225"/>
                <a:gd name="connsiteX28" fmla="*/ 41628 w 523934"/>
                <a:gd name="connsiteY28" fmla="*/ 376939 h 609225"/>
                <a:gd name="connsiteX29" fmla="*/ 0 w 523934"/>
                <a:gd name="connsiteY29" fmla="*/ 376939 h 609225"/>
                <a:gd name="connsiteX30" fmla="*/ 0 w 523934"/>
                <a:gd name="connsiteY30" fmla="*/ 308113 h 609225"/>
                <a:gd name="connsiteX31" fmla="*/ 170817 w 523934"/>
                <a:gd name="connsiteY31" fmla="*/ 308113 h 609225"/>
                <a:gd name="connsiteX32" fmla="*/ 170817 w 523934"/>
                <a:gd name="connsiteY32" fmla="*/ 273700 h 609225"/>
                <a:gd name="connsiteX33" fmla="*/ 99045 w 523934"/>
                <a:gd name="connsiteY33" fmla="*/ 273700 h 609225"/>
                <a:gd name="connsiteX34" fmla="*/ 104787 w 523934"/>
                <a:gd name="connsiteY34" fmla="*/ 262229 h 609225"/>
                <a:gd name="connsiteX35" fmla="*/ 103351 w 523934"/>
                <a:gd name="connsiteY35" fmla="*/ 262229 h 609225"/>
                <a:gd name="connsiteX36" fmla="*/ 139237 w 523934"/>
                <a:gd name="connsiteY36" fmla="*/ 190536 h 609225"/>
                <a:gd name="connsiteX37" fmla="*/ 175123 w 523934"/>
                <a:gd name="connsiteY37" fmla="*/ 186235 h 609225"/>
                <a:gd name="connsiteX38" fmla="*/ 261393 w 523934"/>
                <a:gd name="connsiteY38" fmla="*/ 0 h 609225"/>
                <a:gd name="connsiteX39" fmla="*/ 344616 w 523934"/>
                <a:gd name="connsiteY39" fmla="*/ 83108 h 609225"/>
                <a:gd name="connsiteX40" fmla="*/ 261393 w 523934"/>
                <a:gd name="connsiteY40" fmla="*/ 166216 h 609225"/>
                <a:gd name="connsiteX41" fmla="*/ 178170 w 523934"/>
                <a:gd name="connsiteY41" fmla="*/ 83108 h 609225"/>
                <a:gd name="connsiteX42" fmla="*/ 261393 w 523934"/>
                <a:gd name="connsiteY42" fmla="*/ 0 h 60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23934" h="609225">
                  <a:moveTo>
                    <a:pt x="193784" y="190536"/>
                  </a:moveTo>
                  <a:lnTo>
                    <a:pt x="193784" y="227817"/>
                  </a:lnTo>
                  <a:lnTo>
                    <a:pt x="205267" y="227817"/>
                  </a:lnTo>
                  <a:lnTo>
                    <a:pt x="205267" y="273700"/>
                  </a:lnTo>
                  <a:lnTo>
                    <a:pt x="193784" y="273700"/>
                  </a:lnTo>
                  <a:lnTo>
                    <a:pt x="193784" y="283737"/>
                  </a:lnTo>
                  <a:lnTo>
                    <a:pt x="256943" y="295208"/>
                  </a:lnTo>
                  <a:lnTo>
                    <a:pt x="320102" y="283737"/>
                  </a:lnTo>
                  <a:lnTo>
                    <a:pt x="320102" y="273700"/>
                  </a:lnTo>
                  <a:lnTo>
                    <a:pt x="308619" y="273700"/>
                  </a:lnTo>
                  <a:lnTo>
                    <a:pt x="308619" y="227817"/>
                  </a:lnTo>
                  <a:lnTo>
                    <a:pt x="320102" y="227817"/>
                  </a:lnTo>
                  <a:lnTo>
                    <a:pt x="320102" y="190536"/>
                  </a:lnTo>
                  <a:lnTo>
                    <a:pt x="256943" y="202007"/>
                  </a:lnTo>
                  <a:close/>
                  <a:moveTo>
                    <a:pt x="175123" y="167594"/>
                  </a:moveTo>
                  <a:lnTo>
                    <a:pt x="256943" y="181933"/>
                  </a:lnTo>
                  <a:lnTo>
                    <a:pt x="340198" y="167594"/>
                  </a:lnTo>
                  <a:lnTo>
                    <a:pt x="340198" y="184801"/>
                  </a:lnTo>
                  <a:lnTo>
                    <a:pt x="384697" y="190536"/>
                  </a:lnTo>
                  <a:lnTo>
                    <a:pt x="394745" y="227817"/>
                  </a:lnTo>
                  <a:lnTo>
                    <a:pt x="409099" y="273700"/>
                  </a:lnTo>
                  <a:lnTo>
                    <a:pt x="348811" y="273700"/>
                  </a:lnTo>
                  <a:lnTo>
                    <a:pt x="350246" y="308113"/>
                  </a:lnTo>
                  <a:lnTo>
                    <a:pt x="523934" y="308113"/>
                  </a:lnTo>
                  <a:lnTo>
                    <a:pt x="523934" y="376939"/>
                  </a:lnTo>
                  <a:lnTo>
                    <a:pt x="482306" y="376939"/>
                  </a:lnTo>
                  <a:lnTo>
                    <a:pt x="482306" y="609225"/>
                  </a:lnTo>
                  <a:lnTo>
                    <a:pt x="41628" y="609225"/>
                  </a:lnTo>
                  <a:lnTo>
                    <a:pt x="41628" y="376939"/>
                  </a:lnTo>
                  <a:lnTo>
                    <a:pt x="0" y="376939"/>
                  </a:lnTo>
                  <a:lnTo>
                    <a:pt x="0" y="308113"/>
                  </a:lnTo>
                  <a:lnTo>
                    <a:pt x="170817" y="308113"/>
                  </a:lnTo>
                  <a:lnTo>
                    <a:pt x="170817" y="273700"/>
                  </a:lnTo>
                  <a:lnTo>
                    <a:pt x="99045" y="273700"/>
                  </a:lnTo>
                  <a:lnTo>
                    <a:pt x="104787" y="262229"/>
                  </a:lnTo>
                  <a:lnTo>
                    <a:pt x="103351" y="262229"/>
                  </a:lnTo>
                  <a:lnTo>
                    <a:pt x="139237" y="190536"/>
                  </a:lnTo>
                  <a:lnTo>
                    <a:pt x="175123" y="186235"/>
                  </a:lnTo>
                  <a:close/>
                  <a:moveTo>
                    <a:pt x="261393" y="0"/>
                  </a:moveTo>
                  <a:cubicBezTo>
                    <a:pt x="307356" y="0"/>
                    <a:pt x="344616" y="37209"/>
                    <a:pt x="344616" y="83108"/>
                  </a:cubicBezTo>
                  <a:cubicBezTo>
                    <a:pt x="344616" y="129007"/>
                    <a:pt x="307356" y="166216"/>
                    <a:pt x="261393" y="166216"/>
                  </a:cubicBezTo>
                  <a:cubicBezTo>
                    <a:pt x="215430" y="166216"/>
                    <a:pt x="178170" y="129007"/>
                    <a:pt x="178170" y="83108"/>
                  </a:cubicBezTo>
                  <a:cubicBezTo>
                    <a:pt x="178170" y="37209"/>
                    <a:pt x="215430" y="0"/>
                    <a:pt x="26139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alpha val="80000"/>
                  </a:schemeClr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3"/>
              </p:custDataLst>
            </p:nvPr>
          </p:nvSpPr>
          <p:spPr>
            <a:xfrm>
              <a:off x="3450861" y="5845848"/>
              <a:ext cx="2220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班  级：电信</a:t>
              </a:r>
              <a:r>
                <a:rPr lang="en-US" altLang="zh-CN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2303</a:t>
              </a:r>
              <a:r>
                <a:rPr lang="zh-CN" altLang="en-US" b="1" dirty="0">
                  <a:solidFill>
                    <a:schemeClr val="tx1">
                      <a:alpha val="8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班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7198438" y="5831333"/>
              <a:ext cx="255016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日  期：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2025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年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9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月</a:t>
              </a:r>
              <a:r>
                <a:rPr lang="en-US" altLang="zh-CN" sz="1800" b="1" dirty="0">
                  <a:solidFill>
                    <a:schemeClr val="tx1">
                      <a:alpha val="80000"/>
                    </a:schemeClr>
                  </a:solidFill>
                </a:rPr>
                <a:t>19</a:t>
              </a:r>
              <a:r>
                <a:rPr lang="zh-CN" altLang="en-US" sz="1800" b="1" dirty="0">
                  <a:solidFill>
                    <a:schemeClr val="tx1">
                      <a:alpha val="80000"/>
                    </a:schemeClr>
                  </a:solidFill>
                </a:rPr>
                <a:t>日</a:t>
              </a:r>
            </a:p>
          </p:txBody>
        </p:sp>
        <p:pic>
          <p:nvPicPr>
            <p:cNvPr id="13" name="图形 12" descr="主页 纯色填充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5670" y="5828577"/>
              <a:ext cx="370997" cy="370997"/>
            </a:xfrm>
            <a:prstGeom prst="rect">
              <a:avLst/>
            </a:prstGeom>
          </p:spPr>
        </p:pic>
        <p:sp>
          <p:nvSpPr>
            <p:cNvPr id="14" name="iconfont-11122-3633784"/>
            <p:cNvSpPr/>
            <p:nvPr>
              <p:custDataLst>
                <p:tags r:id="rId5"/>
              </p:custDataLst>
            </p:nvPr>
          </p:nvSpPr>
          <p:spPr>
            <a:xfrm>
              <a:off x="6863115" y="5897695"/>
              <a:ext cx="254701" cy="254655"/>
            </a:xfrm>
            <a:custGeom>
              <a:avLst/>
              <a:gdLst>
                <a:gd name="T0" fmla="*/ 5601 w 11203"/>
                <a:gd name="T1" fmla="*/ 0 h 11202"/>
                <a:gd name="T2" fmla="*/ 0 w 11203"/>
                <a:gd name="T3" fmla="*/ 5601 h 11202"/>
                <a:gd name="T4" fmla="*/ 5603 w 11203"/>
                <a:gd name="T5" fmla="*/ 11202 h 11202"/>
                <a:gd name="T6" fmla="*/ 11203 w 11203"/>
                <a:gd name="T7" fmla="*/ 5601 h 11202"/>
                <a:gd name="T8" fmla="*/ 5601 w 11203"/>
                <a:gd name="T9" fmla="*/ 0 h 11202"/>
                <a:gd name="T10" fmla="*/ 8403 w 11203"/>
                <a:gd name="T11" fmla="*/ 6218 h 11202"/>
                <a:gd name="T12" fmla="*/ 5429 w 11203"/>
                <a:gd name="T13" fmla="*/ 6218 h 11202"/>
                <a:gd name="T14" fmla="*/ 5250 w 11203"/>
                <a:gd name="T15" fmla="*/ 6182 h 11202"/>
                <a:gd name="T16" fmla="*/ 4970 w 11203"/>
                <a:gd name="T17" fmla="*/ 5760 h 11202"/>
                <a:gd name="T18" fmla="*/ 4970 w 11203"/>
                <a:gd name="T19" fmla="*/ 2786 h 11202"/>
                <a:gd name="T20" fmla="*/ 5429 w 11203"/>
                <a:gd name="T21" fmla="*/ 2327 h 11202"/>
                <a:gd name="T22" fmla="*/ 5889 w 11203"/>
                <a:gd name="T23" fmla="*/ 2786 h 11202"/>
                <a:gd name="T24" fmla="*/ 5889 w 11203"/>
                <a:gd name="T25" fmla="*/ 5301 h 11202"/>
                <a:gd name="T26" fmla="*/ 8404 w 11203"/>
                <a:gd name="T27" fmla="*/ 5301 h 11202"/>
                <a:gd name="T28" fmla="*/ 8863 w 11203"/>
                <a:gd name="T29" fmla="*/ 5760 h 11202"/>
                <a:gd name="T30" fmla="*/ 8403 w 11203"/>
                <a:gd name="T31" fmla="*/ 6218 h 1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203" h="11202">
                  <a:moveTo>
                    <a:pt x="5601" y="0"/>
                  </a:moveTo>
                  <a:cubicBezTo>
                    <a:pt x="2507" y="0"/>
                    <a:pt x="0" y="2507"/>
                    <a:pt x="0" y="5601"/>
                  </a:cubicBezTo>
                  <a:cubicBezTo>
                    <a:pt x="0" y="8695"/>
                    <a:pt x="2509" y="11202"/>
                    <a:pt x="5603" y="11202"/>
                  </a:cubicBezTo>
                  <a:cubicBezTo>
                    <a:pt x="8695" y="11202"/>
                    <a:pt x="11203" y="8695"/>
                    <a:pt x="11203" y="5601"/>
                  </a:cubicBezTo>
                  <a:cubicBezTo>
                    <a:pt x="11203" y="2507"/>
                    <a:pt x="8695" y="0"/>
                    <a:pt x="5601" y="0"/>
                  </a:cubicBezTo>
                  <a:close/>
                  <a:moveTo>
                    <a:pt x="8403" y="6218"/>
                  </a:moveTo>
                  <a:lnTo>
                    <a:pt x="5429" y="6218"/>
                  </a:lnTo>
                  <a:cubicBezTo>
                    <a:pt x="5366" y="6218"/>
                    <a:pt x="5305" y="6206"/>
                    <a:pt x="5250" y="6182"/>
                  </a:cubicBezTo>
                  <a:cubicBezTo>
                    <a:pt x="5085" y="6112"/>
                    <a:pt x="4970" y="5950"/>
                    <a:pt x="4970" y="5760"/>
                  </a:cubicBezTo>
                  <a:lnTo>
                    <a:pt x="4970" y="2786"/>
                  </a:lnTo>
                  <a:cubicBezTo>
                    <a:pt x="4970" y="2532"/>
                    <a:pt x="5175" y="2327"/>
                    <a:pt x="5429" y="2327"/>
                  </a:cubicBezTo>
                  <a:cubicBezTo>
                    <a:pt x="5683" y="2327"/>
                    <a:pt x="5889" y="2532"/>
                    <a:pt x="5889" y="2786"/>
                  </a:cubicBezTo>
                  <a:lnTo>
                    <a:pt x="5889" y="5301"/>
                  </a:lnTo>
                  <a:lnTo>
                    <a:pt x="8404" y="5301"/>
                  </a:lnTo>
                  <a:cubicBezTo>
                    <a:pt x="8657" y="5301"/>
                    <a:pt x="8863" y="5506"/>
                    <a:pt x="8863" y="5760"/>
                  </a:cubicBezTo>
                  <a:cubicBezTo>
                    <a:pt x="8863" y="6013"/>
                    <a:pt x="8656" y="6218"/>
                    <a:pt x="8403" y="6218"/>
                  </a:cubicBez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8" name="图片 17" descr="00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285" y="236220"/>
            <a:ext cx="2570480" cy="80835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139557" y="3973583"/>
            <a:ext cx="36042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alpha val="8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汇报人：樊博文</a:t>
            </a:r>
            <a:r>
              <a:rPr lang="en-US" altLang="zh-CN" sz="2000" b="1" dirty="0">
                <a:solidFill>
                  <a:schemeClr val="tx1">
                    <a:alpha val="8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8207230322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RjYjQwZDYyYjg5OGEzMTk3ZGJmMDdmOGU2YjFlO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7582677165354,&quot;left&quot;:501.1527559055118,&quot;top&quot;:106.54393700787402,&quot;width&quot;:362.15496062992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7582677165354,&quot;left&quot;:501.1527559055118,&quot;top&quot;:106.54393700787402,&quot;width&quot;:362.15496062992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7582677165354,&quot;left&quot;:501.1527559055118,&quot;top&quot;:106.54393700787402,&quot;width&quot;:362.15496062992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9,&quot;left&quot;:201.478031496063,&quot;top&quot;:315.4633070866142,&quot;width&quot;:550.901338582677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5,&quot;left&quot;:204.5748031496063,&quot;top&quot;:404.1828346456693,&quot;width&quot;:563.201259842519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9,&quot;left&quot;:201.478031496063,&quot;top&quot;:315.4633070866142,&quot;width&quot;:550.901338582677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9,&quot;left&quot;:201.478031496063,&quot;top&quot;:315.4633070866142,&quot;width&quot;:550.901338582677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22007874015749,&quot;left&quot;:201.478031496063,&quot;top&quot;:315.4633070866142,&quot;width&quot;:550.9013385826771}"/>
</p:tagLst>
</file>

<file path=ppt/theme/theme1.xml><?xml version="1.0" encoding="utf-8"?>
<a:theme xmlns:a="http://schemas.openxmlformats.org/drawingml/2006/main" name="Office 主题​​">
  <a:themeElements>
    <a:clrScheme name="自定义 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34D9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4D92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28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5166</Words>
  <Application>Microsoft Office PowerPoint</Application>
  <PresentationFormat>宽屏</PresentationFormat>
  <Paragraphs>557</Paragraphs>
  <Slides>30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Menlo</vt:lpstr>
      <vt:lpstr>等线</vt:lpstr>
      <vt:lpstr>等线 Light</vt:lpstr>
      <vt:lpstr>华文中宋</vt:lpstr>
      <vt:lpstr>宋体</vt:lpstr>
      <vt:lpstr>微软雅黑</vt:lpstr>
      <vt:lpstr>微软雅黑 Light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伟征 赵</dc:creator>
  <cp:lastModifiedBy>博文 樊</cp:lastModifiedBy>
  <cp:revision>71</cp:revision>
  <dcterms:created xsi:type="dcterms:W3CDTF">2024-04-18T13:24:00Z</dcterms:created>
  <dcterms:modified xsi:type="dcterms:W3CDTF">2025-09-19T04:48:42Z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FF7AC8DA10E64AFCB4C558E15C62B369_12</vt:lpwstr>
  </property>
  <property fmtid="{D5CDD505-2E9C-101B-9397-08002B2CF9AE}" pid="3" name="KSOProductBuildVer">
    <vt:lpwstr>2052-12.1.0.21915</vt:lpwstr>
  </property>
</Properties>
</file>