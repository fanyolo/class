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59" r:id="rId4"/>
    <p:sldId id="261" r:id="rId5"/>
    <p:sldId id="262" r:id="rId6"/>
    <p:sldId id="263" r:id="rId7"/>
    <p:sldId id="265" r:id="rId8"/>
    <p:sldId id="266" r:id="rId9"/>
    <p:sldId id="268" r:id="rId10"/>
    <p:sldId id="269" r:id="rId11"/>
    <p:sldId id="271" r:id="rId12"/>
    <p:sldId id="291" r:id="rId13"/>
    <p:sldId id="273" r:id="rId14"/>
    <p:sldId id="290" r:id="rId15"/>
    <p:sldId id="276" r:id="rId16"/>
    <p:sldId id="277" r:id="rId17"/>
    <p:sldId id="278" r:id="rId18"/>
    <p:sldId id="279" r:id="rId19"/>
    <p:sldId id="275" r:id="rId20"/>
    <p:sldId id="293" r:id="rId21"/>
    <p:sldId id="292" r:id="rId22"/>
    <p:sldId id="280" r:id="rId23"/>
    <p:sldId id="297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4" r:id="rId33"/>
    <p:sldId id="296" r:id="rId34"/>
    <p:sldId id="295" r:id="rId3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64" autoAdjust="0"/>
    <p:restoredTop sz="95082" autoAdjust="0"/>
  </p:normalViewPr>
  <p:slideViewPr>
    <p:cSldViewPr>
      <p:cViewPr varScale="1">
        <p:scale>
          <a:sx n="78" d="100"/>
          <a:sy n="78" d="100"/>
        </p:scale>
        <p:origin x="18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E11BE-2F83-475B-A187-50BA415F54F1}" type="datetimeFigureOut">
              <a:rPr lang="zh-CN" altLang="en-US" smtClean="0"/>
              <a:t>2023/1/4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0F358-7598-47F0-8644-B3BC5D196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10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紧耦合片内存储器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10F358-7598-47F0-8644-B3BC5D196B9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81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Forwarding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10F358-7598-47F0-8644-B3BC5D196B9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874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10F358-7598-47F0-8644-B3BC5D196B9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621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10F358-7598-47F0-8644-B3BC5D196B9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374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2023/1/4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2052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63525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テキスト ボックス 12"/>
          <p:cNvSpPr txBox="1"/>
          <p:nvPr/>
        </p:nvSpPr>
        <p:spPr>
          <a:xfrm>
            <a:off x="1187450" y="1939925"/>
            <a:ext cx="7200900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 smtClean="0">
                <a:latin typeface="+mn-ea"/>
                <a:ea typeface="+mn-ea"/>
              </a:rPr>
              <a:t>EDA</a:t>
            </a:r>
            <a:r>
              <a:rPr lang="zh-CN" altLang="en-US" sz="4400" b="1" dirty="0" smtClean="0">
                <a:latin typeface="+mn-ea"/>
                <a:ea typeface="+mn-ea"/>
              </a:rPr>
              <a:t>课程设计</a:t>
            </a:r>
            <a:endParaRPr lang="ja-JP" altLang="en-US" sz="4400" b="1" dirty="0">
              <a:latin typeface="+mn-ea"/>
              <a:ea typeface="+mn-ea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355505" y="3284984"/>
            <a:ext cx="15126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 smtClean="0">
                <a:latin typeface="+mn-ea"/>
                <a:ea typeface="+mn-ea"/>
              </a:rPr>
              <a:t>张俊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3025" y="0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63525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テキスト ボックス 13"/>
          <p:cNvSpPr txBox="1"/>
          <p:nvPr/>
        </p:nvSpPr>
        <p:spPr>
          <a:xfrm>
            <a:off x="2916238" y="1268760"/>
            <a:ext cx="4103687" cy="35086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latin typeface="+mn-ea"/>
                <a:ea typeface="+mn-ea"/>
              </a:rPr>
              <a:t>	</a:t>
            </a:r>
            <a:r>
              <a:rPr lang="zh-CN" altLang="en-US" sz="3600" b="1" dirty="0" smtClean="0">
                <a:latin typeface="+mn-ea"/>
                <a:ea typeface="+mn-ea"/>
              </a:rPr>
              <a:t>目录</a:t>
            </a:r>
            <a:endParaRPr lang="en-US" altLang="zh-CN" sz="3600" b="1" dirty="0" smtClean="0">
              <a:latin typeface="+mn-ea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latin typeface="+mn-ea"/>
                <a:ea typeface="+mn-ea"/>
              </a:rPr>
              <a:t>1.</a:t>
            </a:r>
            <a:r>
              <a:rPr lang="zh-CN" altLang="en-US" sz="2800" b="1" dirty="0" smtClean="0">
                <a:latin typeface="+mn-ea"/>
                <a:ea typeface="+mn-ea"/>
              </a:rPr>
              <a:t>课程设计目的</a:t>
            </a:r>
            <a:endParaRPr lang="en-US" altLang="zh-CN" sz="2800" b="1" dirty="0">
              <a:latin typeface="+mn-ea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latin typeface="+mn-ea"/>
                <a:ea typeface="+mn-ea"/>
              </a:rPr>
              <a:t>2</a:t>
            </a:r>
            <a:r>
              <a:rPr lang="en-US" altLang="zh-CN" sz="2800" b="1" dirty="0" smtClean="0">
                <a:latin typeface="+mn-ea"/>
                <a:ea typeface="+mn-ea"/>
              </a:rPr>
              <a:t>.</a:t>
            </a:r>
            <a:r>
              <a:rPr lang="zh-CN" altLang="en-US" sz="2800" b="1" dirty="0" smtClean="0">
                <a:latin typeface="+mn-ea"/>
              </a:rPr>
              <a:t>课程设计要求</a:t>
            </a:r>
            <a:endParaRPr lang="en-US" altLang="zh-CN" sz="2800" b="1" dirty="0">
              <a:latin typeface="+mn-ea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latin typeface="+mn-ea"/>
              </a:rPr>
              <a:t>3</a:t>
            </a:r>
            <a:r>
              <a:rPr lang="en-US" altLang="zh-CN" sz="2800" b="1" dirty="0" smtClean="0">
                <a:latin typeface="+mn-ea"/>
                <a:ea typeface="+mn-ea"/>
              </a:rPr>
              <a:t>.</a:t>
            </a:r>
            <a:r>
              <a:rPr lang="zh-CN" altLang="en-US" sz="2800" b="1" dirty="0" smtClean="0">
                <a:latin typeface="+mn-ea"/>
                <a:ea typeface="+mn-ea"/>
              </a:rPr>
              <a:t>体系结构设计</a:t>
            </a:r>
            <a:endParaRPr lang="en-US" altLang="zh-CN" sz="2800" b="1" dirty="0">
              <a:latin typeface="+mn-ea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latin typeface="+mn-ea"/>
              </a:rPr>
              <a:t>4</a:t>
            </a:r>
            <a:r>
              <a:rPr lang="en-US" altLang="zh-CN" sz="2800" b="1" dirty="0" smtClean="0">
                <a:latin typeface="+mn-ea"/>
                <a:ea typeface="+mn-ea"/>
              </a:rPr>
              <a:t>.</a:t>
            </a:r>
            <a:r>
              <a:rPr lang="zh-CN" altLang="en-US" sz="2800" b="1" dirty="0" smtClean="0">
                <a:latin typeface="+mn-ea"/>
                <a:ea typeface="+mn-ea"/>
              </a:rPr>
              <a:t>仿真</a:t>
            </a:r>
            <a:r>
              <a:rPr lang="zh-CN" altLang="en-US" sz="2800" b="1" dirty="0">
                <a:latin typeface="+mn-ea"/>
              </a:rPr>
              <a:t>测试</a:t>
            </a:r>
            <a:endParaRPr lang="ja-JP" altLang="en-US" sz="2800" b="1" dirty="0">
              <a:latin typeface="+mn-ea"/>
              <a:ea typeface="+mn-ea"/>
            </a:endParaRPr>
          </a:p>
        </p:txBody>
      </p:sp>
      <p:sp>
        <p:nvSpPr>
          <p:cNvPr id="6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63525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838200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一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、课程设计目的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" name="正方形/長方形 14"/>
          <p:cNvSpPr>
            <a:spLocks noChangeArrowheads="1"/>
          </p:cNvSpPr>
          <p:nvPr/>
        </p:nvSpPr>
        <p:spPr bwMode="auto">
          <a:xfrm>
            <a:off x="1043608" y="1988840"/>
            <a:ext cx="7200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 smtClean="0"/>
              <a:t>掌握硬件描述语言</a:t>
            </a:r>
            <a:r>
              <a:rPr lang="en-US" altLang="zh-CN" dirty="0" err="1" smtClean="0"/>
              <a:t>Verilog</a:t>
            </a:r>
            <a:r>
              <a:rPr lang="en-US" altLang="zh-CN" dirty="0" smtClean="0"/>
              <a:t> HDL</a:t>
            </a:r>
            <a:r>
              <a:rPr lang="zh-CN" altLang="en-US" dirty="0" smtClean="0"/>
              <a:t>的语法及设计技巧，了解</a:t>
            </a:r>
            <a:r>
              <a:rPr lang="en-US" altLang="zh-CN" dirty="0" err="1" smtClean="0"/>
              <a:t>Quartus</a:t>
            </a:r>
            <a:r>
              <a:rPr lang="en-US" altLang="zh-CN" dirty="0" smtClean="0"/>
              <a:t> II</a:t>
            </a:r>
            <a:r>
              <a:rPr lang="zh-CN" altLang="en-US" dirty="0" smtClean="0"/>
              <a:t>软件的应用，学习</a:t>
            </a:r>
            <a:r>
              <a:rPr lang="en-US" altLang="zh-CN" dirty="0" err="1" smtClean="0"/>
              <a:t>Quartus</a:t>
            </a:r>
            <a:r>
              <a:rPr lang="en-US" altLang="zh-CN" dirty="0" smtClean="0"/>
              <a:t> II</a:t>
            </a:r>
            <a:r>
              <a:rPr lang="zh-CN" altLang="en-US" dirty="0" smtClean="0"/>
              <a:t>环境下设计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的基本过程；掌握</a:t>
            </a:r>
            <a:r>
              <a:rPr lang="en-US" altLang="zh-CN" dirty="0" smtClean="0"/>
              <a:t>CPU</a:t>
            </a:r>
            <a:r>
              <a:rPr lang="zh-CN" altLang="en-US" dirty="0" smtClean="0"/>
              <a:t>设计代码的含义以及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的工作原理；了解</a:t>
            </a:r>
            <a:r>
              <a:rPr lang="en-US" altLang="zh-CN" dirty="0" smtClean="0"/>
              <a:t>CPU</a:t>
            </a:r>
            <a:r>
              <a:rPr lang="zh-CN" altLang="en-US" dirty="0" smtClean="0"/>
              <a:t>与内存</a:t>
            </a:r>
            <a:r>
              <a:rPr lang="en-US" altLang="zh-CN" dirty="0" smtClean="0"/>
              <a:t>RAM</a:t>
            </a:r>
            <a:r>
              <a:rPr lang="zh-CN" altLang="en-US" dirty="0" smtClean="0"/>
              <a:t>间的连接数据的传输过程；学习硬件流水线的工作原理及设计技巧；掌握</a:t>
            </a:r>
            <a:r>
              <a:rPr lang="en-US" altLang="zh-CN" dirty="0" smtClean="0"/>
              <a:t>RTL</a:t>
            </a:r>
            <a:r>
              <a:rPr lang="zh-CN" altLang="en-US" dirty="0" smtClean="0"/>
              <a:t>代码的仿真验证技术。融会贯通课堂讲授内容，通过知识的综合运用，加深对计算机系统各模块的工作原理及相互联系的认识。学习设计和调试计算机的基本步骤和 方法，提高使用软件仿真工具和集成电路的基本技能。培养科学研究的独立工作能力，取得工程设计与组装调试的实践和经验。</a:t>
            </a:r>
          </a:p>
          <a:p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ja-JP" altLang="en-US" dirty="0">
              <a:latin typeface="Calibri" pitchFamily="34" charset="0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63525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838200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Arial" pitchFamily="34" charset="0"/>
              </a:rPr>
              <a:t>二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、课程设计要求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" name="正方形/長方形 14"/>
          <p:cNvSpPr>
            <a:spLocks noChangeArrowheads="1"/>
          </p:cNvSpPr>
          <p:nvPr/>
        </p:nvSpPr>
        <p:spPr bwMode="auto">
          <a:xfrm>
            <a:off x="683568" y="1988840"/>
            <a:ext cx="813690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000" dirty="0" smtClean="0"/>
              <a:t>理解指令集定义，进行硬件体系结构设计，画出</a:t>
            </a:r>
            <a:r>
              <a:rPr lang="en-US" altLang="zh-CN" sz="2000" dirty="0" smtClean="0"/>
              <a:t>RISC</a:t>
            </a:r>
            <a:r>
              <a:rPr lang="zh-CN" altLang="en-US" sz="2000" dirty="0" smtClean="0"/>
              <a:t>处理器的体系结构图（指令集见</a:t>
            </a:r>
            <a:r>
              <a:rPr lang="en-US" altLang="zh-CN" sz="2000" dirty="0" smtClean="0"/>
              <a:t>instruction set.doc)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342900" indent="-342900">
              <a:buAutoNum type="arabicPeriod"/>
            </a:pPr>
            <a:r>
              <a:rPr lang="zh-CN" altLang="en-US" sz="2000" dirty="0" smtClean="0"/>
              <a:t>使用硬件描述语言</a:t>
            </a:r>
            <a:r>
              <a:rPr lang="en-US" altLang="zh-CN" sz="2000" dirty="0" err="1" smtClean="0"/>
              <a:t>Verilog</a:t>
            </a:r>
            <a:r>
              <a:rPr lang="en-US" altLang="zh-CN" sz="2000" dirty="0" smtClean="0"/>
              <a:t> HDL</a:t>
            </a:r>
            <a:r>
              <a:rPr lang="zh-CN" altLang="en-US" sz="2000" dirty="0" smtClean="0"/>
              <a:t>完成</a:t>
            </a:r>
            <a:r>
              <a:rPr lang="en-US" altLang="zh-CN" sz="2000" dirty="0" smtClean="0"/>
              <a:t>RISC</a:t>
            </a:r>
            <a:r>
              <a:rPr lang="zh-CN" altLang="en-US" sz="2000" dirty="0" smtClean="0"/>
              <a:t>处理器的</a:t>
            </a:r>
            <a:r>
              <a:rPr lang="en-US" altLang="zh-CN" sz="2000" dirty="0" smtClean="0"/>
              <a:t>RTL</a:t>
            </a:r>
            <a:r>
              <a:rPr lang="zh-CN" altLang="en-US" sz="2000" dirty="0" smtClean="0"/>
              <a:t>设计。</a:t>
            </a:r>
            <a:endParaRPr lang="en-US" altLang="zh-CN" sz="2000" dirty="0" smtClean="0"/>
          </a:p>
          <a:p>
            <a:pPr marL="342900" indent="-342900">
              <a:buAutoNum type="arabicPeriod"/>
            </a:pPr>
            <a:r>
              <a:rPr lang="zh-CN" altLang="en-US" sz="2000" dirty="0" smtClean="0"/>
              <a:t>参考给出的</a:t>
            </a:r>
            <a:r>
              <a:rPr lang="en-US" altLang="zh-CN" sz="2000" dirty="0" err="1" smtClean="0"/>
              <a:t>RISC_test.v</a:t>
            </a:r>
            <a:r>
              <a:rPr lang="zh-CN" altLang="en-US" sz="2000" dirty="0" smtClean="0"/>
              <a:t>，搭建测试模块；为每条指令编写基本测试代码，转换为二进制文件，利用</a:t>
            </a:r>
            <a:r>
              <a:rPr lang="en-US" altLang="zh-CN" sz="2000" dirty="0" err="1" smtClean="0"/>
              <a:t>ModelSim</a:t>
            </a:r>
            <a:r>
              <a:rPr lang="zh-CN" altLang="en-US" sz="2000" dirty="0" smtClean="0"/>
              <a:t>仿真验证是否每条指令都能正确执行；编写完整的测试代码（确保包含所有指令），验证处理器的正确执行。</a:t>
            </a:r>
            <a:endParaRPr lang="en-US" altLang="zh-CN" sz="2000" dirty="0" smtClean="0"/>
          </a:p>
          <a:p>
            <a:pPr marL="342900" indent="-342900">
              <a:buAutoNum type="arabicPeriod"/>
            </a:pPr>
            <a:r>
              <a:rPr lang="en-US" altLang="zh-CN" sz="2000" dirty="0" err="1" smtClean="0"/>
              <a:t>QuartusII</a:t>
            </a:r>
            <a:r>
              <a:rPr lang="zh-CN" altLang="en-US" sz="2000" dirty="0" smtClean="0"/>
              <a:t>中建立工程，加入</a:t>
            </a:r>
            <a:r>
              <a:rPr lang="en-US" altLang="zh-CN" sz="2000" dirty="0" smtClean="0"/>
              <a:t>RISC</a:t>
            </a:r>
            <a:r>
              <a:rPr lang="zh-CN" altLang="en-US" sz="2000" dirty="0" smtClean="0"/>
              <a:t>处理器、</a:t>
            </a:r>
            <a:r>
              <a:rPr lang="en-US" altLang="zh-CN" sz="2000" dirty="0" smtClean="0"/>
              <a:t>UART</a:t>
            </a:r>
            <a:r>
              <a:rPr lang="zh-CN" altLang="en-US" sz="2000" dirty="0" smtClean="0"/>
              <a:t>模块、指令存储器、数据存储器及总线模块进行综合编译，确认</a:t>
            </a:r>
            <a:r>
              <a:rPr lang="en-US" altLang="zh-CN" sz="2000" dirty="0" smtClean="0"/>
              <a:t>RISC</a:t>
            </a:r>
            <a:r>
              <a:rPr lang="zh-CN" altLang="en-US" sz="2000" dirty="0" smtClean="0"/>
              <a:t>处理器的最大工作主频，并连接</a:t>
            </a:r>
            <a:r>
              <a:rPr lang="en-US" altLang="zh-CN" sz="2000" dirty="0" smtClean="0"/>
              <a:t>UART</a:t>
            </a:r>
            <a:r>
              <a:rPr lang="zh-CN" altLang="en-US" sz="2000" dirty="0" smtClean="0"/>
              <a:t>电缆，利用串口通信测试</a:t>
            </a:r>
            <a:r>
              <a:rPr lang="en-US" altLang="zh-CN" sz="2000" dirty="0" smtClean="0"/>
              <a:t>RISC</a:t>
            </a:r>
            <a:r>
              <a:rPr lang="zh-CN" altLang="en-US" sz="2000" dirty="0" smtClean="0"/>
              <a:t>处理器是否能正常工作。</a:t>
            </a:r>
            <a:endParaRPr lang="en-US" altLang="zh-CN" sz="2000" dirty="0" smtClean="0"/>
          </a:p>
          <a:p>
            <a:pPr marL="342900" indent="-342900">
              <a:buAutoNum type="arabicPeriod"/>
            </a:pPr>
            <a:r>
              <a:rPr lang="zh-CN" altLang="en-US" sz="2000" dirty="0" smtClean="0"/>
              <a:t>课程设计分组进行，各自提交课程设计报告。</a:t>
            </a:r>
            <a:br>
              <a:rPr lang="zh-CN" altLang="en-US" sz="2000" dirty="0" smtClean="0"/>
            </a:br>
            <a:endParaRPr lang="ja-JP" altLang="en-US" sz="2000" dirty="0">
              <a:latin typeface="Calibri" pitchFamily="34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63525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838200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900113" y="1516722"/>
            <a:ext cx="2663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 smtClean="0">
                <a:latin typeface="Times New Roman" pitchFamily="18" charset="0"/>
              </a:rPr>
              <a:t>5</a:t>
            </a:r>
            <a:r>
              <a:rPr lang="zh-CN" altLang="en-US" sz="2000" b="1" dirty="0" smtClean="0">
                <a:latin typeface="Times New Roman" pitchFamily="18" charset="0"/>
              </a:rPr>
              <a:t>段流水线设计：</a:t>
            </a:r>
            <a:endParaRPr lang="en-US" altLang="ja-JP" sz="2000" b="1" dirty="0">
              <a:latin typeface="Times New Roman" pitchFamily="18" charset="0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1907704" y="2780928"/>
            <a:ext cx="4897438" cy="309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50000"/>
              </a:lnSpc>
            </a:pPr>
            <a:r>
              <a:rPr lang="en-US" altLang="zh-CN" sz="2800" dirty="0"/>
              <a:t>IA  : Instruction Address calculation stage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 dirty="0"/>
              <a:t>IF  : Instruction Fetch stage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 dirty="0"/>
              <a:t>DC  : Decode stage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 dirty="0"/>
              <a:t>EX  : Execution stage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 dirty="0" smtClean="0"/>
              <a:t>WB  </a:t>
            </a:r>
            <a:r>
              <a:rPr lang="en-US" altLang="zh-CN" sz="2800" dirty="0"/>
              <a:t>: Write Back </a:t>
            </a:r>
            <a:r>
              <a:rPr lang="en-US" altLang="zh-CN" sz="2800" dirty="0" smtClean="0"/>
              <a:t>stage</a:t>
            </a:r>
            <a:endParaRPr lang="en-US" altLang="ja-JP" sz="2800" dirty="0"/>
          </a:p>
        </p:txBody>
      </p:sp>
      <p:grpSp>
        <p:nvGrpSpPr>
          <p:cNvPr id="10" name="Group 26"/>
          <p:cNvGrpSpPr>
            <a:grpSpLocks/>
          </p:cNvGrpSpPr>
          <p:nvPr/>
        </p:nvGrpSpPr>
        <p:grpSpPr bwMode="auto">
          <a:xfrm>
            <a:off x="2050951" y="2060204"/>
            <a:ext cx="4681538" cy="287338"/>
            <a:chOff x="1247" y="754"/>
            <a:chExt cx="2949" cy="181"/>
          </a:xfrm>
        </p:grpSpPr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124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IA</a:t>
              </a:r>
              <a:endParaRPr lang="en-US" altLang="ja-JP" dirty="0"/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83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IF</a:t>
              </a:r>
              <a:endParaRPr lang="en-US" altLang="ja-JP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242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DC</a:t>
              </a:r>
              <a:endParaRPr lang="en-US" altLang="ja-JP"/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301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EX</a:t>
              </a:r>
              <a:endParaRPr lang="en-US" altLang="ja-JP" dirty="0"/>
            </a:p>
          </p:txBody>
        </p:sp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360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WB</a:t>
              </a:r>
              <a:endParaRPr lang="en-US" altLang="ja-JP" dirty="0"/>
            </a:p>
          </p:txBody>
        </p:sp>
      </p:grpSp>
      <p:sp>
        <p:nvSpPr>
          <p:cNvPr id="24" name="二等辺三角形 23"/>
          <p:cNvSpPr/>
          <p:nvPr/>
        </p:nvSpPr>
        <p:spPr>
          <a:xfrm rot="5400000">
            <a:off x="3707904" y="98072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4037037" y="908720"/>
            <a:ext cx="25511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流水线技术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63525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838200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900113" y="1516722"/>
            <a:ext cx="2663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 smtClean="0">
                <a:latin typeface="Times New Roman" pitchFamily="18" charset="0"/>
              </a:rPr>
              <a:t>5</a:t>
            </a:r>
            <a:r>
              <a:rPr lang="zh-CN" altLang="en-US" sz="2000" b="1" dirty="0" smtClean="0">
                <a:latin typeface="Times New Roman" pitchFamily="18" charset="0"/>
              </a:rPr>
              <a:t>段流水线设计：</a:t>
            </a:r>
            <a:endParaRPr lang="en-US" altLang="ja-JP" sz="2000" b="1" dirty="0">
              <a:latin typeface="Times New Roman" pitchFamily="18" charset="0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755328" y="2781622"/>
            <a:ext cx="4681538" cy="287338"/>
            <a:chOff x="1247" y="754"/>
            <a:chExt cx="2949" cy="181"/>
          </a:xfrm>
        </p:grpSpPr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124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IA</a:t>
              </a:r>
              <a:endParaRPr lang="en-US" altLang="ja-JP" dirty="0"/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83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IF</a:t>
              </a:r>
              <a:endParaRPr lang="en-US" altLang="ja-JP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242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DC</a:t>
              </a:r>
              <a:endParaRPr lang="en-US" altLang="ja-JP"/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301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EX</a:t>
              </a:r>
              <a:endParaRPr lang="en-US" altLang="ja-JP" dirty="0"/>
            </a:p>
          </p:txBody>
        </p:sp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360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WB</a:t>
              </a:r>
              <a:endParaRPr lang="en-US" altLang="ja-JP" dirty="0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1690414" y="3141662"/>
            <a:ext cx="4681538" cy="287338"/>
            <a:chOff x="1247" y="754"/>
            <a:chExt cx="2949" cy="181"/>
          </a:xfrm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124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IA</a:t>
              </a:r>
              <a:endParaRPr lang="en-US" altLang="ja-JP" dirty="0"/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auto">
            <a:xfrm>
              <a:off x="183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IF</a:t>
              </a:r>
              <a:endParaRPr lang="en-US" altLang="ja-JP"/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242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DC</a:t>
              </a:r>
              <a:endParaRPr lang="en-US" altLang="ja-JP"/>
            </a:p>
          </p:txBody>
        </p:sp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301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EX</a:t>
              </a:r>
              <a:endParaRPr lang="en-US" altLang="ja-JP" dirty="0"/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360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WB</a:t>
              </a:r>
              <a:endParaRPr lang="en-US" altLang="ja-JP" dirty="0"/>
            </a:p>
          </p:txBody>
        </p:sp>
      </p:grpSp>
      <p:grpSp>
        <p:nvGrpSpPr>
          <p:cNvPr id="27" name="Group 26"/>
          <p:cNvGrpSpPr>
            <a:grpSpLocks/>
          </p:cNvGrpSpPr>
          <p:nvPr/>
        </p:nvGrpSpPr>
        <p:grpSpPr bwMode="auto">
          <a:xfrm>
            <a:off x="2626518" y="3502396"/>
            <a:ext cx="4681538" cy="287338"/>
            <a:chOff x="1247" y="754"/>
            <a:chExt cx="2949" cy="181"/>
          </a:xfrm>
        </p:grpSpPr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124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IA</a:t>
              </a:r>
              <a:endParaRPr lang="en-US" altLang="ja-JP" dirty="0"/>
            </a:p>
          </p:txBody>
        </p:sp>
        <p:sp>
          <p:nvSpPr>
            <p:cNvPr id="29" name="Rectangle 5"/>
            <p:cNvSpPr>
              <a:spLocks noChangeArrowheads="1"/>
            </p:cNvSpPr>
            <p:nvPr/>
          </p:nvSpPr>
          <p:spPr bwMode="auto">
            <a:xfrm>
              <a:off x="183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IF</a:t>
              </a:r>
              <a:endParaRPr lang="en-US" altLang="ja-JP"/>
            </a:p>
          </p:txBody>
        </p:sp>
        <p:sp>
          <p:nvSpPr>
            <p:cNvPr id="30" name="Rectangle 6"/>
            <p:cNvSpPr>
              <a:spLocks noChangeArrowheads="1"/>
            </p:cNvSpPr>
            <p:nvPr/>
          </p:nvSpPr>
          <p:spPr bwMode="auto">
            <a:xfrm>
              <a:off x="242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DC</a:t>
              </a:r>
              <a:endParaRPr lang="en-US" altLang="ja-JP"/>
            </a:p>
          </p:txBody>
        </p:sp>
        <p:sp>
          <p:nvSpPr>
            <p:cNvPr id="31" name="Rectangle 7"/>
            <p:cNvSpPr>
              <a:spLocks noChangeArrowheads="1"/>
            </p:cNvSpPr>
            <p:nvPr/>
          </p:nvSpPr>
          <p:spPr bwMode="auto">
            <a:xfrm>
              <a:off x="301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EX</a:t>
              </a:r>
              <a:endParaRPr lang="en-US" altLang="ja-JP" dirty="0"/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360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WB</a:t>
              </a:r>
              <a:endParaRPr lang="en-US" altLang="ja-JP" dirty="0"/>
            </a:p>
          </p:txBody>
        </p:sp>
      </p:grpSp>
      <p:grpSp>
        <p:nvGrpSpPr>
          <p:cNvPr id="33" name="Group 26"/>
          <p:cNvGrpSpPr>
            <a:grpSpLocks/>
          </p:cNvGrpSpPr>
          <p:nvPr/>
        </p:nvGrpSpPr>
        <p:grpSpPr bwMode="auto">
          <a:xfrm>
            <a:off x="3562622" y="3861048"/>
            <a:ext cx="4681538" cy="287338"/>
            <a:chOff x="1247" y="754"/>
            <a:chExt cx="2949" cy="181"/>
          </a:xfrm>
        </p:grpSpPr>
        <p:sp>
          <p:nvSpPr>
            <p:cNvPr id="34" name="Rectangle 4"/>
            <p:cNvSpPr>
              <a:spLocks noChangeArrowheads="1"/>
            </p:cNvSpPr>
            <p:nvPr/>
          </p:nvSpPr>
          <p:spPr bwMode="auto">
            <a:xfrm>
              <a:off x="124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IA</a:t>
              </a:r>
              <a:endParaRPr lang="en-US" altLang="ja-JP" dirty="0"/>
            </a:p>
          </p:txBody>
        </p:sp>
        <p:sp>
          <p:nvSpPr>
            <p:cNvPr id="35" name="Rectangle 5"/>
            <p:cNvSpPr>
              <a:spLocks noChangeArrowheads="1"/>
            </p:cNvSpPr>
            <p:nvPr/>
          </p:nvSpPr>
          <p:spPr bwMode="auto">
            <a:xfrm>
              <a:off x="183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IF</a:t>
              </a:r>
              <a:endParaRPr lang="en-US" altLang="ja-JP"/>
            </a:p>
          </p:txBody>
        </p:sp>
        <p:sp>
          <p:nvSpPr>
            <p:cNvPr id="36" name="Rectangle 6"/>
            <p:cNvSpPr>
              <a:spLocks noChangeArrowheads="1"/>
            </p:cNvSpPr>
            <p:nvPr/>
          </p:nvSpPr>
          <p:spPr bwMode="auto">
            <a:xfrm>
              <a:off x="242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DC</a:t>
              </a:r>
              <a:endParaRPr lang="en-US" altLang="ja-JP"/>
            </a:p>
          </p:txBody>
        </p:sp>
        <p:sp>
          <p:nvSpPr>
            <p:cNvPr id="37" name="Rectangle 7"/>
            <p:cNvSpPr>
              <a:spLocks noChangeArrowheads="1"/>
            </p:cNvSpPr>
            <p:nvPr/>
          </p:nvSpPr>
          <p:spPr bwMode="auto">
            <a:xfrm>
              <a:off x="301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EX</a:t>
              </a:r>
              <a:endParaRPr lang="en-US" altLang="ja-JP" dirty="0"/>
            </a:p>
          </p:txBody>
        </p:sp>
        <p:sp>
          <p:nvSpPr>
            <p:cNvPr id="38" name="Rectangle 8"/>
            <p:cNvSpPr>
              <a:spLocks noChangeArrowheads="1"/>
            </p:cNvSpPr>
            <p:nvPr/>
          </p:nvSpPr>
          <p:spPr bwMode="auto">
            <a:xfrm>
              <a:off x="360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WB</a:t>
              </a:r>
              <a:endParaRPr lang="en-US" altLang="ja-JP" dirty="0"/>
            </a:p>
          </p:txBody>
        </p:sp>
      </p:grpSp>
      <p:sp>
        <p:nvSpPr>
          <p:cNvPr id="39" name="正方形/長方形 38"/>
          <p:cNvSpPr/>
          <p:nvPr/>
        </p:nvSpPr>
        <p:spPr>
          <a:xfrm>
            <a:off x="109959" y="2708920"/>
            <a:ext cx="645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Inst0</a:t>
            </a:r>
            <a:endParaRPr lang="ja-JP" altLang="en-US" dirty="0"/>
          </a:p>
        </p:txBody>
      </p:sp>
      <p:sp>
        <p:nvSpPr>
          <p:cNvPr id="40" name="正方形/長方形 39"/>
          <p:cNvSpPr/>
          <p:nvPr/>
        </p:nvSpPr>
        <p:spPr>
          <a:xfrm>
            <a:off x="107256" y="3131676"/>
            <a:ext cx="645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Inst1</a:t>
            </a:r>
            <a:endParaRPr lang="ja-JP" altLang="en-US" dirty="0"/>
          </a:p>
        </p:txBody>
      </p:sp>
      <p:sp>
        <p:nvSpPr>
          <p:cNvPr id="41" name="正方形/長方形 40"/>
          <p:cNvSpPr/>
          <p:nvPr/>
        </p:nvSpPr>
        <p:spPr>
          <a:xfrm>
            <a:off x="107256" y="3501008"/>
            <a:ext cx="645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Inst2</a:t>
            </a:r>
            <a:endParaRPr lang="ja-JP" altLang="en-US" dirty="0"/>
          </a:p>
        </p:txBody>
      </p:sp>
      <p:sp>
        <p:nvSpPr>
          <p:cNvPr id="42" name="正方形/長方形 41"/>
          <p:cNvSpPr/>
          <p:nvPr/>
        </p:nvSpPr>
        <p:spPr>
          <a:xfrm>
            <a:off x="107256" y="3851756"/>
            <a:ext cx="645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Inst3</a:t>
            </a:r>
            <a:endParaRPr lang="ja-JP" altLang="en-US" dirty="0"/>
          </a:p>
        </p:txBody>
      </p:sp>
      <p:sp>
        <p:nvSpPr>
          <p:cNvPr id="43" name="二等辺三角形 42"/>
          <p:cNvSpPr/>
          <p:nvPr/>
        </p:nvSpPr>
        <p:spPr>
          <a:xfrm rot="5400000">
            <a:off x="3707904" y="98072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Rectangle 7"/>
          <p:cNvSpPr>
            <a:spLocks noChangeArrowheads="1"/>
          </p:cNvSpPr>
          <p:nvPr/>
        </p:nvSpPr>
        <p:spPr bwMode="auto">
          <a:xfrm>
            <a:off x="4037037" y="908720"/>
            <a:ext cx="25511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流水线技术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grpSp>
        <p:nvGrpSpPr>
          <p:cNvPr id="45" name="Group 26"/>
          <p:cNvGrpSpPr>
            <a:grpSpLocks/>
          </p:cNvGrpSpPr>
          <p:nvPr/>
        </p:nvGrpSpPr>
        <p:grpSpPr bwMode="auto">
          <a:xfrm>
            <a:off x="4498974" y="4258480"/>
            <a:ext cx="4681538" cy="287338"/>
            <a:chOff x="1247" y="754"/>
            <a:chExt cx="2949" cy="181"/>
          </a:xfrm>
        </p:grpSpPr>
        <p:sp>
          <p:nvSpPr>
            <p:cNvPr id="46" name="Rectangle 4"/>
            <p:cNvSpPr>
              <a:spLocks noChangeArrowheads="1"/>
            </p:cNvSpPr>
            <p:nvPr/>
          </p:nvSpPr>
          <p:spPr bwMode="auto">
            <a:xfrm>
              <a:off x="124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IA</a:t>
              </a:r>
              <a:endParaRPr lang="en-US" altLang="ja-JP" dirty="0"/>
            </a:p>
          </p:txBody>
        </p:sp>
        <p:sp>
          <p:nvSpPr>
            <p:cNvPr id="47" name="Rectangle 5"/>
            <p:cNvSpPr>
              <a:spLocks noChangeArrowheads="1"/>
            </p:cNvSpPr>
            <p:nvPr/>
          </p:nvSpPr>
          <p:spPr bwMode="auto">
            <a:xfrm>
              <a:off x="183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IF</a:t>
              </a:r>
              <a:endParaRPr lang="en-US" altLang="ja-JP"/>
            </a:p>
          </p:txBody>
        </p:sp>
        <p:sp>
          <p:nvSpPr>
            <p:cNvPr id="48" name="Rectangle 6"/>
            <p:cNvSpPr>
              <a:spLocks noChangeArrowheads="1"/>
            </p:cNvSpPr>
            <p:nvPr/>
          </p:nvSpPr>
          <p:spPr bwMode="auto">
            <a:xfrm>
              <a:off x="242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/>
                <a:t>DC</a:t>
              </a:r>
              <a:endParaRPr lang="en-US" altLang="ja-JP"/>
            </a:p>
          </p:txBody>
        </p:sp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3017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EX</a:t>
              </a:r>
              <a:endParaRPr lang="en-US" altLang="ja-JP" dirty="0"/>
            </a:p>
          </p:txBody>
        </p:sp>
        <p:sp>
          <p:nvSpPr>
            <p:cNvPr id="50" name="Rectangle 8"/>
            <p:cNvSpPr>
              <a:spLocks noChangeArrowheads="1"/>
            </p:cNvSpPr>
            <p:nvPr/>
          </p:nvSpPr>
          <p:spPr bwMode="auto">
            <a:xfrm>
              <a:off x="3606" y="754"/>
              <a:ext cx="590" cy="181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dirty="0"/>
                <a:t>WB</a:t>
              </a:r>
              <a:endParaRPr lang="en-US" altLang="ja-JP" dirty="0"/>
            </a:p>
          </p:txBody>
        </p:sp>
      </p:grpSp>
      <p:sp>
        <p:nvSpPr>
          <p:cNvPr id="51" name="正方形/長方形 41"/>
          <p:cNvSpPr/>
          <p:nvPr/>
        </p:nvSpPr>
        <p:spPr>
          <a:xfrm>
            <a:off x="107504" y="4211796"/>
            <a:ext cx="645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Inst3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25511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设计步骤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246" name="内容占位符 2"/>
          <p:cNvSpPr txBox="1">
            <a:spLocks/>
          </p:cNvSpPr>
          <p:nvPr/>
        </p:nvSpPr>
        <p:spPr>
          <a:xfrm>
            <a:off x="457200" y="1439416"/>
            <a:ext cx="8229600" cy="3717776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数据通路的设计</a:t>
            </a:r>
            <a:endParaRPr kumimoji="1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数据流向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存储器 </a:t>
            </a:r>
            <a:r>
              <a:rPr lang="en-US" altLang="zh-CN" sz="2400" dirty="0" smtClean="0"/>
              <a:t>Instruction M</a:t>
            </a:r>
            <a:r>
              <a:rPr kumimoji="1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emory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Data Memory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寄存器堆栈 </a:t>
            </a:r>
            <a:r>
              <a:rPr lang="en-US" altLang="zh-CN" sz="2400" dirty="0" smtClean="0"/>
              <a:t>R</a:t>
            </a:r>
            <a:r>
              <a:rPr kumimoji="1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egister</a:t>
            </a:r>
            <a:r>
              <a:rPr kumimoji="1" lang="en-US" altLang="zh-CN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File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2400" dirty="0" smtClean="0"/>
              <a:t>流水线</a:t>
            </a:r>
            <a:r>
              <a:rPr lang="zh-CN" altLang="en-US" sz="2400" noProof="0" dirty="0" smtClean="0"/>
              <a:t>寄存器 </a:t>
            </a:r>
            <a:r>
              <a:rPr lang="en-US" altLang="zh-CN" sz="2400" noProof="0" dirty="0" smtClean="0"/>
              <a:t>Pipeline Register</a:t>
            </a:r>
            <a:r>
              <a:rPr lang="zh-CN" altLang="en-US" sz="2400" noProof="0" dirty="0" smtClean="0"/>
              <a:t>，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运算器 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ALU,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多路选择器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multiplexers.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32-bit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25511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设计步骤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457200" y="1295400"/>
            <a:ext cx="8229600" cy="5029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</a:t>
            </a:r>
            <a:r>
              <a:rPr kumimoji="1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控制电路</a:t>
            </a:r>
            <a:endParaRPr kumimoji="1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从数据通路接收指令码，进行译码产生控制信号；</a:t>
            </a:r>
            <a:endParaRPr kumimoji="1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多路选择器的选择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寄存器堆栈写信号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2400" dirty="0" smtClean="0"/>
              <a:t>流水线寄存器写信号</a:t>
            </a:r>
            <a:endParaRPr lang="en-US" altLang="zh-CN" sz="2400" dirty="0" smtClean="0"/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流水线寄存器清除信号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存储器写信号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sz="2400" dirty="0" smtClean="0"/>
              <a:t>ALU</a:t>
            </a:r>
            <a:r>
              <a:rPr lang="zh-CN" altLang="en-US" sz="2400" dirty="0" smtClean="0"/>
              <a:t>操作信号</a:t>
            </a:r>
            <a:endParaRPr lang="en-US" altLang="zh-CN" sz="2400" dirty="0" smtClean="0"/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sz="2400" dirty="0" smtClean="0"/>
              <a:t>……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运算指令（加减、逻辑运算）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3083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9108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79563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3083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3884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270892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latin typeface="Times New Roman" pitchFamily="18" charset="0"/>
              </a:rPr>
              <a:t>Memory</a:t>
            </a:r>
            <a:endParaRPr lang="en-US" altLang="ja-JP" sz="1600" dirty="0"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>
            <a:stCxn id="297" idx="1"/>
          </p:cNvCxnSpPr>
          <p:nvPr/>
        </p:nvCxnSpPr>
        <p:spPr>
          <a:xfrm flipH="1">
            <a:off x="2051720" y="3717032"/>
            <a:ext cx="360040" cy="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44827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latin typeface="Times New Roman" pitchFamily="18" charset="0"/>
              </a:rPr>
              <a:t>IFDC</a:t>
            </a:r>
            <a:endParaRPr lang="en-US" altLang="ja-JP" sz="1600" dirty="0"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正方形/長方形 306"/>
          <p:cNvSpPr/>
          <p:nvPr/>
        </p:nvSpPr>
        <p:spPr>
          <a:xfrm>
            <a:off x="611560" y="1268760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读取指令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47" name="Rectangle 134"/>
          <p:cNvSpPr>
            <a:spLocks noChangeArrowheads="1"/>
          </p:cNvSpPr>
          <p:nvPr/>
        </p:nvSpPr>
        <p:spPr bwMode="auto">
          <a:xfrm>
            <a:off x="1763688" y="3212976"/>
            <a:ext cx="288032" cy="244827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latin typeface="Times New Roman" pitchFamily="18" charset="0"/>
              </a:rPr>
              <a:t>PC</a:t>
            </a:r>
            <a:endParaRPr lang="en-US" altLang="ja-JP" sz="1600" dirty="0">
              <a:latin typeface="Times New Roman" pitchFamily="18" charset="0"/>
            </a:endParaRPr>
          </a:p>
        </p:txBody>
      </p:sp>
      <p:sp>
        <p:nvSpPr>
          <p:cNvPr id="48" name="Text Box 70"/>
          <p:cNvSpPr txBox="1">
            <a:spLocks noChangeArrowheads="1"/>
          </p:cNvSpPr>
          <p:nvPr/>
        </p:nvSpPr>
        <p:spPr bwMode="auto">
          <a:xfrm rot="5400000">
            <a:off x="874327" y="3588866"/>
            <a:ext cx="66863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1400" b="1">
                <a:latin typeface="Times New Roman" pitchFamily="18" charset="0"/>
              </a:rPr>
              <a:t>Adder</a:t>
            </a:r>
          </a:p>
        </p:txBody>
      </p:sp>
      <p:sp>
        <p:nvSpPr>
          <p:cNvPr id="49" name="Freeform 10"/>
          <p:cNvSpPr>
            <a:spLocks/>
          </p:cNvSpPr>
          <p:nvPr/>
        </p:nvSpPr>
        <p:spPr bwMode="auto">
          <a:xfrm rot="16200000">
            <a:off x="846566" y="3482025"/>
            <a:ext cx="685509" cy="43544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2497" y="19945"/>
              </a:cxn>
              <a:cxn ang="0">
                <a:pos x="17482" y="19945"/>
              </a:cxn>
              <a:cxn ang="0">
                <a:pos x="19979" y="0"/>
              </a:cxn>
              <a:cxn ang="0">
                <a:pos x="12487" y="0"/>
              </a:cxn>
              <a:cxn ang="0">
                <a:pos x="9990" y="6648"/>
              </a:cxn>
              <a:cxn ang="0">
                <a:pos x="7492" y="0"/>
              </a:cxn>
              <a:cxn ang="0">
                <a:pos x="0" y="0"/>
              </a:cxn>
            </a:cxnLst>
            <a:rect l="0" t="0" r="r" b="b"/>
            <a:pathLst>
              <a:path w="20000" h="20000">
                <a:moveTo>
                  <a:pt x="0" y="0"/>
                </a:moveTo>
                <a:lnTo>
                  <a:pt x="0" y="0"/>
                </a:lnTo>
                <a:lnTo>
                  <a:pt x="2497" y="19945"/>
                </a:lnTo>
                <a:lnTo>
                  <a:pt x="17482" y="19945"/>
                </a:lnTo>
                <a:lnTo>
                  <a:pt x="19979" y="0"/>
                </a:lnTo>
                <a:lnTo>
                  <a:pt x="12487" y="0"/>
                </a:lnTo>
                <a:lnTo>
                  <a:pt x="9990" y="6648"/>
                </a:lnTo>
                <a:lnTo>
                  <a:pt x="7492" y="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FF0000"/>
            </a:solidFill>
            <a:prstDash val="solid"/>
            <a:round/>
            <a:headEnd type="triangle" w="sm" len="sm"/>
            <a:tailEnd type="none" w="sm" len="sm"/>
          </a:ln>
          <a:effectLst/>
        </p:spPr>
        <p:txBody>
          <a:bodyPr/>
          <a:lstStyle/>
          <a:p>
            <a:endParaRPr lang="ja-JP" altLang="en-US" sz="1400"/>
          </a:p>
        </p:txBody>
      </p:sp>
      <p:cxnSp>
        <p:nvCxnSpPr>
          <p:cNvPr id="51" name="直線矢印コネクタ 50"/>
          <p:cNvCxnSpPr/>
          <p:nvPr/>
        </p:nvCxnSpPr>
        <p:spPr>
          <a:xfrm flipH="1">
            <a:off x="611560" y="3501008"/>
            <a:ext cx="360040" cy="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/>
          <p:cNvCxnSpPr/>
          <p:nvPr/>
        </p:nvCxnSpPr>
        <p:spPr>
          <a:xfrm flipH="1">
            <a:off x="395536" y="3933031"/>
            <a:ext cx="576064" cy="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/>
          <p:cNvCxnSpPr/>
          <p:nvPr/>
        </p:nvCxnSpPr>
        <p:spPr>
          <a:xfrm flipV="1">
            <a:off x="2195736" y="2852936"/>
            <a:ext cx="0" cy="8640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/>
          <p:cNvCxnSpPr/>
          <p:nvPr/>
        </p:nvCxnSpPr>
        <p:spPr>
          <a:xfrm flipH="1">
            <a:off x="395536" y="2852936"/>
            <a:ext cx="1800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/>
          <p:nvPr/>
        </p:nvCxnSpPr>
        <p:spPr>
          <a:xfrm>
            <a:off x="395536" y="2852936"/>
            <a:ext cx="0" cy="10801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Box 228"/>
          <p:cNvSpPr txBox="1">
            <a:spLocks noChangeArrowheads="1"/>
          </p:cNvSpPr>
          <p:nvPr/>
        </p:nvSpPr>
        <p:spPr bwMode="auto">
          <a:xfrm>
            <a:off x="328430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61" name="直線矢印コネクタ 60"/>
          <p:cNvCxnSpPr/>
          <p:nvPr/>
        </p:nvCxnSpPr>
        <p:spPr>
          <a:xfrm flipH="1">
            <a:off x="1403648" y="3717032"/>
            <a:ext cx="360040" cy="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运算指令（加减、逻辑运算）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3083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9108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79563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3083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3884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270892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>
            <a:stCxn id="297" idx="1"/>
          </p:cNvCxnSpPr>
          <p:nvPr/>
        </p:nvCxnSpPr>
        <p:spPr>
          <a:xfrm flipH="1">
            <a:off x="2051720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376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IFDC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正方形/長方形 306"/>
          <p:cNvSpPr/>
          <p:nvPr/>
        </p:nvSpPr>
        <p:spPr>
          <a:xfrm>
            <a:off x="611560" y="1268760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指令译码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39" name="Oval 116"/>
          <p:cNvSpPr>
            <a:spLocks noChangeArrowheads="1"/>
          </p:cNvSpPr>
          <p:nvPr/>
        </p:nvSpPr>
        <p:spPr bwMode="auto">
          <a:xfrm>
            <a:off x="4211960" y="3428802"/>
            <a:ext cx="792088" cy="5762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ja-JP" sz="1400" dirty="0">
                <a:latin typeface="Times New Roman" pitchFamily="18" charset="0"/>
              </a:rPr>
              <a:t>Decoder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flipH="1">
            <a:off x="3851920" y="3717032"/>
            <a:ext cx="360040" cy="5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34"/>
          <p:cNvSpPr>
            <a:spLocks noChangeArrowheads="1"/>
          </p:cNvSpPr>
          <p:nvPr/>
        </p:nvSpPr>
        <p:spPr bwMode="auto">
          <a:xfrm>
            <a:off x="5359186" y="3225552"/>
            <a:ext cx="292934" cy="22916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latin typeface="Times New Roman" pitchFamily="18" charset="0"/>
              </a:rPr>
              <a:t>DCEX</a:t>
            </a:r>
            <a:endParaRPr lang="en-US" altLang="ja-JP" sz="1600" dirty="0">
              <a:latin typeface="Times New Roman" pitchFamily="18" charset="0"/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flipH="1">
            <a:off x="5004048" y="3717032"/>
            <a:ext cx="360040" cy="5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4211960" y="4517504"/>
            <a:ext cx="792088" cy="999728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latin typeface="Times New Roman" pitchFamily="18" charset="0"/>
              </a:rPr>
              <a:t>Register</a:t>
            </a:r>
          </a:p>
          <a:p>
            <a:pPr algn="ctr"/>
            <a:r>
              <a:rPr lang="en-US" altLang="zh-CN" sz="1600" dirty="0" smtClean="0">
                <a:latin typeface="Times New Roman" pitchFamily="18" charset="0"/>
              </a:rPr>
              <a:t>File(GPR)</a:t>
            </a:r>
            <a:endParaRPr lang="en-US" altLang="zh-CN" sz="1600" dirty="0">
              <a:latin typeface="Times New Roman" pitchFamily="18" charset="0"/>
            </a:endParaRPr>
          </a:p>
        </p:txBody>
      </p:sp>
      <p:cxnSp>
        <p:nvCxnSpPr>
          <p:cNvPr id="52" name="直線矢印コネクタ 51"/>
          <p:cNvCxnSpPr/>
          <p:nvPr/>
        </p:nvCxnSpPr>
        <p:spPr>
          <a:xfrm flipH="1">
            <a:off x="5004048" y="5021560"/>
            <a:ext cx="360040" cy="5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/>
          <p:cNvCxnSpPr/>
          <p:nvPr/>
        </p:nvCxnSpPr>
        <p:spPr>
          <a:xfrm flipH="1">
            <a:off x="3851920" y="5021560"/>
            <a:ext cx="360040" cy="5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/>
          <p:cNvCxnSpPr/>
          <p:nvPr/>
        </p:nvCxnSpPr>
        <p:spPr>
          <a:xfrm flipH="1">
            <a:off x="3851920" y="4797152"/>
            <a:ext cx="360040" cy="5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134"/>
          <p:cNvSpPr>
            <a:spLocks noChangeArrowheads="1"/>
          </p:cNvSpPr>
          <p:nvPr/>
        </p:nvSpPr>
        <p:spPr bwMode="auto">
          <a:xfrm>
            <a:off x="1763688" y="3212976"/>
            <a:ext cx="288032" cy="244827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PC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grpSp>
        <p:nvGrpSpPr>
          <p:cNvPr id="71" name="グループ化 70"/>
          <p:cNvGrpSpPr/>
          <p:nvPr/>
        </p:nvGrpSpPr>
        <p:grpSpPr>
          <a:xfrm>
            <a:off x="971599" y="3356992"/>
            <a:ext cx="435445" cy="720080"/>
            <a:chOff x="1187625" y="3356992"/>
            <a:chExt cx="228600" cy="541956"/>
          </a:xfrm>
        </p:grpSpPr>
        <p:sp>
          <p:nvSpPr>
            <p:cNvPr id="72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73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74" name="直線矢印コネクタ 73"/>
          <p:cNvCxnSpPr/>
          <p:nvPr/>
        </p:nvCxnSpPr>
        <p:spPr>
          <a:xfrm flipH="1">
            <a:off x="611560" y="3501008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/>
          <p:cNvCxnSpPr/>
          <p:nvPr/>
        </p:nvCxnSpPr>
        <p:spPr>
          <a:xfrm flipH="1">
            <a:off x="395536" y="3933031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/>
          <p:cNvCxnSpPr/>
          <p:nvPr/>
        </p:nvCxnSpPr>
        <p:spPr>
          <a:xfrm flipV="1">
            <a:off x="2195736" y="2852936"/>
            <a:ext cx="0" cy="8640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/>
          <p:cNvCxnSpPr/>
          <p:nvPr/>
        </p:nvCxnSpPr>
        <p:spPr>
          <a:xfrm flipH="1">
            <a:off x="395536" y="2852936"/>
            <a:ext cx="18002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/>
          <p:cNvCxnSpPr/>
          <p:nvPr/>
        </p:nvCxnSpPr>
        <p:spPr>
          <a:xfrm>
            <a:off x="395536" y="2852936"/>
            <a:ext cx="0" cy="1080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 Box 228"/>
          <p:cNvSpPr txBox="1">
            <a:spLocks noChangeArrowheads="1"/>
          </p:cNvSpPr>
          <p:nvPr/>
        </p:nvSpPr>
        <p:spPr bwMode="auto">
          <a:xfrm>
            <a:off x="328430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80" name="直線矢印コネクタ 79"/>
          <p:cNvCxnSpPr/>
          <p:nvPr/>
        </p:nvCxnSpPr>
        <p:spPr>
          <a:xfrm flipH="1">
            <a:off x="1403648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运算指令（加减、逻辑运算）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3083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9108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79563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3083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3884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270892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>
            <a:stCxn id="297" idx="1"/>
          </p:cNvCxnSpPr>
          <p:nvPr/>
        </p:nvCxnSpPr>
        <p:spPr>
          <a:xfrm flipH="1">
            <a:off x="2051720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376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IFDC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正方形/長方形 306"/>
          <p:cNvSpPr/>
          <p:nvPr/>
        </p:nvSpPr>
        <p:spPr>
          <a:xfrm>
            <a:off x="611560" y="1268760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执行运算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39" name="Oval 116"/>
          <p:cNvSpPr>
            <a:spLocks noChangeArrowheads="1"/>
          </p:cNvSpPr>
          <p:nvPr/>
        </p:nvSpPr>
        <p:spPr bwMode="auto">
          <a:xfrm>
            <a:off x="4211960" y="3428802"/>
            <a:ext cx="792088" cy="576262"/>
          </a:xfrm>
          <a:prstGeom prst="ellips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Decoder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flipH="1">
            <a:off x="3851920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34"/>
          <p:cNvSpPr>
            <a:spLocks noChangeArrowheads="1"/>
          </p:cNvSpPr>
          <p:nvPr/>
        </p:nvSpPr>
        <p:spPr bwMode="auto">
          <a:xfrm>
            <a:off x="5359186" y="3225552"/>
            <a:ext cx="292934" cy="22916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DCEX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flipH="1">
            <a:off x="5004048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グループ化 50"/>
          <p:cNvGrpSpPr/>
          <p:nvPr/>
        </p:nvGrpSpPr>
        <p:grpSpPr>
          <a:xfrm>
            <a:off x="6308725" y="3789040"/>
            <a:ext cx="567531" cy="875878"/>
            <a:chOff x="6308725" y="4055318"/>
            <a:chExt cx="228600" cy="609600"/>
          </a:xfrm>
        </p:grpSpPr>
        <p:sp>
          <p:nvSpPr>
            <p:cNvPr id="53" name="Freeform 32"/>
            <p:cNvSpPr>
              <a:spLocks/>
            </p:cNvSpPr>
            <p:nvPr/>
          </p:nvSpPr>
          <p:spPr bwMode="auto">
            <a:xfrm rot="16200000">
              <a:off x="6118225" y="4245818"/>
              <a:ext cx="6096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rgbClr val="FF0000"/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600"/>
            </a:p>
          </p:txBody>
        </p:sp>
        <p:sp>
          <p:nvSpPr>
            <p:cNvPr id="54" name="Text Box 34"/>
            <p:cNvSpPr txBox="1">
              <a:spLocks noChangeArrowheads="1"/>
            </p:cNvSpPr>
            <p:nvPr/>
          </p:nvSpPr>
          <p:spPr bwMode="auto">
            <a:xfrm rot="5400000">
              <a:off x="6219825" y="4270683"/>
              <a:ext cx="431800" cy="1439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600" b="1" dirty="0">
                  <a:latin typeface="Times New Roman" pitchFamily="18" charset="0"/>
                </a:rPr>
                <a:t>ALU</a:t>
              </a:r>
            </a:p>
          </p:txBody>
        </p:sp>
      </p:grpSp>
      <p:cxnSp>
        <p:nvCxnSpPr>
          <p:cNvPr id="56" name="直線矢印コネクタ 55"/>
          <p:cNvCxnSpPr/>
          <p:nvPr/>
        </p:nvCxnSpPr>
        <p:spPr>
          <a:xfrm flipH="1">
            <a:off x="5652120" y="3933006"/>
            <a:ext cx="648072" cy="5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 flipH="1">
            <a:off x="5652120" y="4509070"/>
            <a:ext cx="648072" cy="5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34"/>
          <p:cNvSpPr>
            <a:spLocks noChangeArrowheads="1"/>
          </p:cNvSpPr>
          <p:nvPr/>
        </p:nvSpPr>
        <p:spPr bwMode="auto">
          <a:xfrm>
            <a:off x="7159386" y="3225552"/>
            <a:ext cx="292934" cy="22916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latin typeface="Times New Roman" pitchFamily="18" charset="0"/>
              </a:rPr>
              <a:t>EX</a:t>
            </a:r>
            <a:r>
              <a:rPr lang="en-US" altLang="zh-CN" sz="1600" dirty="0" smtClean="0">
                <a:latin typeface="Times New Roman" pitchFamily="18" charset="0"/>
              </a:rPr>
              <a:t>WB</a:t>
            </a:r>
            <a:endParaRPr lang="en-US" altLang="ja-JP" sz="1600" dirty="0">
              <a:latin typeface="Times New Roman" pitchFamily="18" charset="0"/>
            </a:endParaRPr>
          </a:p>
        </p:txBody>
      </p:sp>
      <p:cxnSp>
        <p:nvCxnSpPr>
          <p:cNvPr id="65" name="直線矢印コネクタ 64"/>
          <p:cNvCxnSpPr/>
          <p:nvPr/>
        </p:nvCxnSpPr>
        <p:spPr>
          <a:xfrm flipH="1">
            <a:off x="6876256" y="4221088"/>
            <a:ext cx="288032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13"/>
          <p:cNvSpPr>
            <a:spLocks noChangeArrowheads="1"/>
          </p:cNvSpPr>
          <p:nvPr/>
        </p:nvSpPr>
        <p:spPr bwMode="auto">
          <a:xfrm>
            <a:off x="4211960" y="4517504"/>
            <a:ext cx="792088" cy="9997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Register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File(GPR)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70" name="直線矢印コネクタ 69"/>
          <p:cNvCxnSpPr/>
          <p:nvPr/>
        </p:nvCxnSpPr>
        <p:spPr>
          <a:xfrm flipH="1">
            <a:off x="5004048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/>
          <p:cNvCxnSpPr/>
          <p:nvPr/>
        </p:nvCxnSpPr>
        <p:spPr>
          <a:xfrm flipH="1">
            <a:off x="3851920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/>
          <p:cNvCxnSpPr/>
          <p:nvPr/>
        </p:nvCxnSpPr>
        <p:spPr>
          <a:xfrm flipH="1">
            <a:off x="3851920" y="479715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/>
          <p:cNvCxnSpPr/>
          <p:nvPr/>
        </p:nvCxnSpPr>
        <p:spPr>
          <a:xfrm flipH="1">
            <a:off x="5652120" y="3573016"/>
            <a:ext cx="1512168" cy="5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134"/>
          <p:cNvSpPr>
            <a:spLocks noChangeArrowheads="1"/>
          </p:cNvSpPr>
          <p:nvPr/>
        </p:nvSpPr>
        <p:spPr bwMode="auto">
          <a:xfrm>
            <a:off x="1763688" y="3212976"/>
            <a:ext cx="288032" cy="244827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PC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grpSp>
        <p:nvGrpSpPr>
          <p:cNvPr id="79" name="グループ化 78"/>
          <p:cNvGrpSpPr/>
          <p:nvPr/>
        </p:nvGrpSpPr>
        <p:grpSpPr>
          <a:xfrm>
            <a:off x="971599" y="3356992"/>
            <a:ext cx="435445" cy="720080"/>
            <a:chOff x="1187625" y="3356992"/>
            <a:chExt cx="228600" cy="541956"/>
          </a:xfrm>
        </p:grpSpPr>
        <p:sp>
          <p:nvSpPr>
            <p:cNvPr id="80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81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82" name="直線矢印コネクタ 81"/>
          <p:cNvCxnSpPr/>
          <p:nvPr/>
        </p:nvCxnSpPr>
        <p:spPr>
          <a:xfrm flipH="1">
            <a:off x="611560" y="3501008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/>
          <p:cNvCxnSpPr/>
          <p:nvPr/>
        </p:nvCxnSpPr>
        <p:spPr>
          <a:xfrm flipH="1">
            <a:off x="395536" y="3933031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 flipV="1">
            <a:off x="2195736" y="2852936"/>
            <a:ext cx="0" cy="8640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/>
          <p:cNvCxnSpPr/>
          <p:nvPr/>
        </p:nvCxnSpPr>
        <p:spPr>
          <a:xfrm flipH="1">
            <a:off x="395536" y="2852936"/>
            <a:ext cx="18002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>
            <a:off x="395536" y="2852936"/>
            <a:ext cx="0" cy="1080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 Box 228"/>
          <p:cNvSpPr txBox="1">
            <a:spLocks noChangeArrowheads="1"/>
          </p:cNvSpPr>
          <p:nvPr/>
        </p:nvSpPr>
        <p:spPr bwMode="auto">
          <a:xfrm>
            <a:off x="328430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88" name="直線矢印コネクタ 87"/>
          <p:cNvCxnSpPr/>
          <p:nvPr/>
        </p:nvCxnSpPr>
        <p:spPr>
          <a:xfrm flipH="1">
            <a:off x="1403648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形状 88"/>
          <p:cNvCxnSpPr>
            <a:endCxn id="54" idx="1"/>
          </p:cNvCxnSpPr>
          <p:nvPr/>
        </p:nvCxnSpPr>
        <p:spPr>
          <a:xfrm>
            <a:off x="5652120" y="3645024"/>
            <a:ext cx="971900" cy="246658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6988"/>
            <a:ext cx="9217025" cy="6884988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运算指令（加减、逻辑运算）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3083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9108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79563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3083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3884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270892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>
            <a:stCxn id="297" idx="1"/>
          </p:cNvCxnSpPr>
          <p:nvPr/>
        </p:nvCxnSpPr>
        <p:spPr>
          <a:xfrm flipH="1">
            <a:off x="2051720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376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IFDC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16"/>
          <p:cNvSpPr>
            <a:spLocks noChangeArrowheads="1"/>
          </p:cNvSpPr>
          <p:nvPr/>
        </p:nvSpPr>
        <p:spPr bwMode="auto">
          <a:xfrm>
            <a:off x="4211960" y="3428802"/>
            <a:ext cx="792088" cy="576262"/>
          </a:xfrm>
          <a:prstGeom prst="ellips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Decoder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flipH="1">
            <a:off x="3851920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34"/>
          <p:cNvSpPr>
            <a:spLocks noChangeArrowheads="1"/>
          </p:cNvSpPr>
          <p:nvPr/>
        </p:nvSpPr>
        <p:spPr bwMode="auto">
          <a:xfrm>
            <a:off x="5359186" y="3225552"/>
            <a:ext cx="292934" cy="22916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DCEX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flipH="1">
            <a:off x="5004048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グループ化 50"/>
          <p:cNvGrpSpPr/>
          <p:nvPr/>
        </p:nvGrpSpPr>
        <p:grpSpPr>
          <a:xfrm>
            <a:off x="6308725" y="3789040"/>
            <a:ext cx="567531" cy="875878"/>
            <a:chOff x="6308725" y="4055318"/>
            <a:chExt cx="228600" cy="609600"/>
          </a:xfrm>
        </p:grpSpPr>
        <p:sp>
          <p:nvSpPr>
            <p:cNvPr id="53" name="Freeform 32"/>
            <p:cNvSpPr>
              <a:spLocks/>
            </p:cNvSpPr>
            <p:nvPr/>
          </p:nvSpPr>
          <p:spPr bwMode="auto">
            <a:xfrm rot="16200000">
              <a:off x="6118225" y="4245818"/>
              <a:ext cx="6096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600"/>
            </a:p>
          </p:txBody>
        </p:sp>
        <p:sp>
          <p:nvSpPr>
            <p:cNvPr id="54" name="Text Box 34"/>
            <p:cNvSpPr txBox="1">
              <a:spLocks noChangeArrowheads="1"/>
            </p:cNvSpPr>
            <p:nvPr/>
          </p:nvSpPr>
          <p:spPr bwMode="auto">
            <a:xfrm rot="5400000">
              <a:off x="6219825" y="4274471"/>
              <a:ext cx="431800" cy="136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600" b="1" dirty="0">
                  <a:solidFill>
                    <a:schemeClr val="bg1">
                      <a:lumMod val="75000"/>
                    </a:schemeClr>
                  </a:solidFill>
                  <a:latin typeface="Times New Roman" pitchFamily="18" charset="0"/>
                </a:rPr>
                <a:t>ALU</a:t>
              </a:r>
            </a:p>
          </p:txBody>
        </p:sp>
      </p:grpSp>
      <p:cxnSp>
        <p:nvCxnSpPr>
          <p:cNvPr id="56" name="直線矢印コネクタ 55"/>
          <p:cNvCxnSpPr/>
          <p:nvPr/>
        </p:nvCxnSpPr>
        <p:spPr>
          <a:xfrm flipH="1">
            <a:off x="5652120" y="3933006"/>
            <a:ext cx="648072" cy="5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 flipH="1">
            <a:off x="5652120" y="4509070"/>
            <a:ext cx="648072" cy="5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34"/>
          <p:cNvSpPr>
            <a:spLocks noChangeArrowheads="1"/>
          </p:cNvSpPr>
          <p:nvPr/>
        </p:nvSpPr>
        <p:spPr bwMode="auto">
          <a:xfrm>
            <a:off x="7159386" y="3225552"/>
            <a:ext cx="292934" cy="229168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</a:rPr>
              <a:t>EX</a:t>
            </a:r>
            <a:r>
              <a:rPr lang="en-US" altLang="zh-CN" sz="160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</a:rPr>
              <a:t>WB</a:t>
            </a:r>
            <a:endParaRPr lang="en-US" altLang="ja-JP" sz="1600" dirty="0">
              <a:solidFill>
                <a:schemeClr val="bg1">
                  <a:lumMod val="65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65" name="直線矢印コネクタ 64"/>
          <p:cNvCxnSpPr/>
          <p:nvPr/>
        </p:nvCxnSpPr>
        <p:spPr>
          <a:xfrm flipH="1">
            <a:off x="6876256" y="4221088"/>
            <a:ext cx="28803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13"/>
          <p:cNvSpPr>
            <a:spLocks noChangeArrowheads="1"/>
          </p:cNvSpPr>
          <p:nvPr/>
        </p:nvSpPr>
        <p:spPr bwMode="auto">
          <a:xfrm>
            <a:off x="4211960" y="4517504"/>
            <a:ext cx="792088" cy="9997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Register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File(GPR)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70" name="直線矢印コネクタ 69"/>
          <p:cNvCxnSpPr/>
          <p:nvPr/>
        </p:nvCxnSpPr>
        <p:spPr>
          <a:xfrm flipH="1">
            <a:off x="5004048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/>
          <p:cNvCxnSpPr/>
          <p:nvPr/>
        </p:nvCxnSpPr>
        <p:spPr>
          <a:xfrm flipH="1">
            <a:off x="3851920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/>
          <p:cNvCxnSpPr/>
          <p:nvPr/>
        </p:nvCxnSpPr>
        <p:spPr>
          <a:xfrm flipH="1">
            <a:off x="3851920" y="479715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/>
          <p:cNvCxnSpPr/>
          <p:nvPr/>
        </p:nvCxnSpPr>
        <p:spPr>
          <a:xfrm flipH="1">
            <a:off x="5652120" y="3573016"/>
            <a:ext cx="1512168" cy="5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134"/>
          <p:cNvSpPr>
            <a:spLocks noChangeArrowheads="1"/>
          </p:cNvSpPr>
          <p:nvPr/>
        </p:nvSpPr>
        <p:spPr bwMode="auto">
          <a:xfrm>
            <a:off x="1763688" y="3212976"/>
            <a:ext cx="288032" cy="244827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PC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grpSp>
        <p:nvGrpSpPr>
          <p:cNvPr id="79" name="グループ化 78"/>
          <p:cNvGrpSpPr/>
          <p:nvPr/>
        </p:nvGrpSpPr>
        <p:grpSpPr>
          <a:xfrm>
            <a:off x="971599" y="3356992"/>
            <a:ext cx="435445" cy="720080"/>
            <a:chOff x="1187625" y="3356992"/>
            <a:chExt cx="228600" cy="541956"/>
          </a:xfrm>
        </p:grpSpPr>
        <p:sp>
          <p:nvSpPr>
            <p:cNvPr id="80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81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82" name="直線矢印コネクタ 81"/>
          <p:cNvCxnSpPr/>
          <p:nvPr/>
        </p:nvCxnSpPr>
        <p:spPr>
          <a:xfrm flipH="1">
            <a:off x="611560" y="3501008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/>
          <p:cNvCxnSpPr/>
          <p:nvPr/>
        </p:nvCxnSpPr>
        <p:spPr>
          <a:xfrm flipH="1">
            <a:off x="395536" y="3933031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 flipV="1">
            <a:off x="2195736" y="2852936"/>
            <a:ext cx="0" cy="8640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/>
          <p:cNvCxnSpPr/>
          <p:nvPr/>
        </p:nvCxnSpPr>
        <p:spPr>
          <a:xfrm flipH="1">
            <a:off x="395536" y="2852936"/>
            <a:ext cx="18002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>
            <a:off x="395536" y="2852936"/>
            <a:ext cx="0" cy="1080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 Box 228"/>
          <p:cNvSpPr txBox="1">
            <a:spLocks noChangeArrowheads="1"/>
          </p:cNvSpPr>
          <p:nvPr/>
        </p:nvSpPr>
        <p:spPr bwMode="auto">
          <a:xfrm>
            <a:off x="328430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88" name="直線矢印コネクタ 87"/>
          <p:cNvCxnSpPr/>
          <p:nvPr/>
        </p:nvCxnSpPr>
        <p:spPr>
          <a:xfrm flipH="1">
            <a:off x="1403648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形状 88"/>
          <p:cNvCxnSpPr>
            <a:endCxn id="54" idx="1"/>
          </p:cNvCxnSpPr>
          <p:nvPr/>
        </p:nvCxnSpPr>
        <p:spPr>
          <a:xfrm>
            <a:off x="5652120" y="3645024"/>
            <a:ext cx="971900" cy="246658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1"/>
          <p:cNvCxnSpPr/>
          <p:nvPr/>
        </p:nvCxnSpPr>
        <p:spPr>
          <a:xfrm flipH="1">
            <a:off x="7452320" y="422108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83"/>
          <p:cNvCxnSpPr/>
          <p:nvPr/>
        </p:nvCxnSpPr>
        <p:spPr>
          <a:xfrm>
            <a:off x="7884368" y="4221088"/>
            <a:ext cx="0" cy="14401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85"/>
          <p:cNvCxnSpPr/>
          <p:nvPr/>
        </p:nvCxnSpPr>
        <p:spPr>
          <a:xfrm flipH="1">
            <a:off x="3995936" y="5661248"/>
            <a:ext cx="38884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87"/>
          <p:cNvCxnSpPr/>
          <p:nvPr/>
        </p:nvCxnSpPr>
        <p:spPr>
          <a:xfrm flipV="1">
            <a:off x="3995936" y="5301208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矢印コネクタ 90"/>
          <p:cNvCxnSpPr/>
          <p:nvPr/>
        </p:nvCxnSpPr>
        <p:spPr>
          <a:xfrm>
            <a:off x="3995936" y="5301208"/>
            <a:ext cx="216024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正方形/長方形 306"/>
          <p:cNvSpPr/>
          <p:nvPr/>
        </p:nvSpPr>
        <p:spPr>
          <a:xfrm>
            <a:off x="611560" y="1268760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写回结果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58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6512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Data Hazard (</a:t>
            </a: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运算指令</a:t>
            </a: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)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894730"/>
              </p:ext>
            </p:extLst>
          </p:nvPr>
        </p:nvGraphicFramePr>
        <p:xfrm>
          <a:off x="557973" y="1412776"/>
          <a:ext cx="8190491" cy="482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Picture" r:id="rId6" imgW="5562720" imgH="3276720" progId="Word.Picture.8">
                  <p:embed/>
                </p:oleObj>
              </mc:Choice>
              <mc:Fallback>
                <p:oleObj name="Picture" r:id="rId6" imgW="5562720" imgH="3276720" progId="Word.Picture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73" y="1412776"/>
                        <a:ext cx="8190491" cy="48245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err="1" smtClean="0">
                <a:solidFill>
                  <a:schemeClr val="bg1"/>
                </a:solidFill>
                <a:latin typeface="+mn-ea"/>
                <a:sym typeface="Arial" pitchFamily="34" charset="0"/>
              </a:rPr>
              <a:t>ByPass</a:t>
            </a: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(</a:t>
            </a: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运算指令</a:t>
            </a: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)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3083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8532440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7668344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308304" y="6021288"/>
            <a:ext cx="28803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100392" y="6021288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270892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>
            <a:stCxn id="297" idx="1"/>
          </p:cNvCxnSpPr>
          <p:nvPr/>
        </p:nvCxnSpPr>
        <p:spPr>
          <a:xfrm flipH="1">
            <a:off x="2051720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376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IFDC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16"/>
          <p:cNvSpPr>
            <a:spLocks noChangeArrowheads="1"/>
          </p:cNvSpPr>
          <p:nvPr/>
        </p:nvSpPr>
        <p:spPr bwMode="auto">
          <a:xfrm>
            <a:off x="4211960" y="3428802"/>
            <a:ext cx="792088" cy="576262"/>
          </a:xfrm>
          <a:prstGeom prst="ellips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Decoder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flipH="1">
            <a:off x="3851920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34"/>
          <p:cNvSpPr>
            <a:spLocks noChangeArrowheads="1"/>
          </p:cNvSpPr>
          <p:nvPr/>
        </p:nvSpPr>
        <p:spPr bwMode="auto">
          <a:xfrm>
            <a:off x="5359186" y="3225552"/>
            <a:ext cx="292934" cy="22916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DCEX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flipH="1">
            <a:off x="5004048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50"/>
          <p:cNvGrpSpPr/>
          <p:nvPr/>
        </p:nvGrpSpPr>
        <p:grpSpPr>
          <a:xfrm>
            <a:off x="6308725" y="3789040"/>
            <a:ext cx="567531" cy="875878"/>
            <a:chOff x="6308725" y="4055318"/>
            <a:chExt cx="228600" cy="609600"/>
          </a:xfrm>
        </p:grpSpPr>
        <p:sp>
          <p:nvSpPr>
            <p:cNvPr id="53" name="Freeform 32"/>
            <p:cNvSpPr>
              <a:spLocks/>
            </p:cNvSpPr>
            <p:nvPr/>
          </p:nvSpPr>
          <p:spPr bwMode="auto">
            <a:xfrm rot="16200000">
              <a:off x="6118225" y="4245818"/>
              <a:ext cx="6096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600"/>
            </a:p>
          </p:txBody>
        </p:sp>
        <p:sp>
          <p:nvSpPr>
            <p:cNvPr id="54" name="Text Box 34"/>
            <p:cNvSpPr txBox="1">
              <a:spLocks noChangeArrowheads="1"/>
            </p:cNvSpPr>
            <p:nvPr/>
          </p:nvSpPr>
          <p:spPr bwMode="auto">
            <a:xfrm rot="5400000">
              <a:off x="6219825" y="4274471"/>
              <a:ext cx="431800" cy="136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6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ALU</a:t>
              </a:r>
            </a:p>
          </p:txBody>
        </p:sp>
      </p:grpSp>
      <p:cxnSp>
        <p:nvCxnSpPr>
          <p:cNvPr id="56" name="直線矢印コネクタ 55"/>
          <p:cNvCxnSpPr/>
          <p:nvPr/>
        </p:nvCxnSpPr>
        <p:spPr>
          <a:xfrm flipH="1">
            <a:off x="5652120" y="3861048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 flipH="1">
            <a:off x="5868144" y="4077072"/>
            <a:ext cx="144016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34"/>
          <p:cNvSpPr>
            <a:spLocks noChangeArrowheads="1"/>
          </p:cNvSpPr>
          <p:nvPr/>
        </p:nvSpPr>
        <p:spPr bwMode="auto">
          <a:xfrm>
            <a:off x="7159386" y="3225552"/>
            <a:ext cx="292934" cy="22916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EX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65" name="直線矢印コネクタ 64"/>
          <p:cNvCxnSpPr/>
          <p:nvPr/>
        </p:nvCxnSpPr>
        <p:spPr>
          <a:xfrm flipH="1">
            <a:off x="6876256" y="4221088"/>
            <a:ext cx="28803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/>
          <p:cNvCxnSpPr/>
          <p:nvPr/>
        </p:nvCxnSpPr>
        <p:spPr>
          <a:xfrm flipH="1">
            <a:off x="7452320" y="4221088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13"/>
          <p:cNvSpPr>
            <a:spLocks noChangeArrowheads="1"/>
          </p:cNvSpPr>
          <p:nvPr/>
        </p:nvSpPr>
        <p:spPr bwMode="auto">
          <a:xfrm>
            <a:off x="4211960" y="4517504"/>
            <a:ext cx="792088" cy="9997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Register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File(GPR)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78" name="直線矢印コネクタ 77"/>
          <p:cNvCxnSpPr/>
          <p:nvPr/>
        </p:nvCxnSpPr>
        <p:spPr>
          <a:xfrm flipH="1">
            <a:off x="5004048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/>
          <p:cNvCxnSpPr/>
          <p:nvPr/>
        </p:nvCxnSpPr>
        <p:spPr>
          <a:xfrm flipH="1">
            <a:off x="3851920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>
            <a:off x="7884368" y="4221088"/>
            <a:ext cx="0" cy="1440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 flipH="1">
            <a:off x="3995936" y="5661248"/>
            <a:ext cx="38884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V="1">
            <a:off x="3995936" y="5301208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/>
          <p:cNvCxnSpPr/>
          <p:nvPr/>
        </p:nvCxnSpPr>
        <p:spPr>
          <a:xfrm flipH="1">
            <a:off x="3851920" y="479715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/>
          <p:cNvCxnSpPr/>
          <p:nvPr/>
        </p:nvCxnSpPr>
        <p:spPr>
          <a:xfrm>
            <a:off x="3995936" y="5301208"/>
            <a:ext cx="2160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flipH="1">
            <a:off x="5652120" y="3573016"/>
            <a:ext cx="1512168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134"/>
          <p:cNvSpPr>
            <a:spLocks noChangeArrowheads="1"/>
          </p:cNvSpPr>
          <p:nvPr/>
        </p:nvSpPr>
        <p:spPr bwMode="auto">
          <a:xfrm>
            <a:off x="1763688" y="3212976"/>
            <a:ext cx="288032" cy="244827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PC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grpSp>
        <p:nvGrpSpPr>
          <p:cNvPr id="94" name="グループ化 93"/>
          <p:cNvGrpSpPr/>
          <p:nvPr/>
        </p:nvGrpSpPr>
        <p:grpSpPr>
          <a:xfrm>
            <a:off x="971599" y="3356992"/>
            <a:ext cx="435445" cy="720080"/>
            <a:chOff x="1187625" y="3356992"/>
            <a:chExt cx="228600" cy="541956"/>
          </a:xfrm>
        </p:grpSpPr>
        <p:sp>
          <p:nvSpPr>
            <p:cNvPr id="95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96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97" name="直線矢印コネクタ 96"/>
          <p:cNvCxnSpPr/>
          <p:nvPr/>
        </p:nvCxnSpPr>
        <p:spPr>
          <a:xfrm flipH="1">
            <a:off x="611560" y="3501008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/>
          <p:cNvCxnSpPr/>
          <p:nvPr/>
        </p:nvCxnSpPr>
        <p:spPr>
          <a:xfrm flipH="1">
            <a:off x="395536" y="3933031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 flipV="1">
            <a:off x="2195736" y="2852936"/>
            <a:ext cx="0" cy="8640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/>
          <p:cNvCxnSpPr/>
          <p:nvPr/>
        </p:nvCxnSpPr>
        <p:spPr>
          <a:xfrm flipH="1">
            <a:off x="395536" y="2852936"/>
            <a:ext cx="18002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>
            <a:off x="395536" y="2852936"/>
            <a:ext cx="0" cy="1080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Box 228"/>
          <p:cNvSpPr txBox="1">
            <a:spLocks noChangeArrowheads="1"/>
          </p:cNvSpPr>
          <p:nvPr/>
        </p:nvSpPr>
        <p:spPr bwMode="auto">
          <a:xfrm>
            <a:off x="328430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103" name="直線矢印コネクタ 102"/>
          <p:cNvCxnSpPr/>
          <p:nvPr/>
        </p:nvCxnSpPr>
        <p:spPr>
          <a:xfrm flipH="1">
            <a:off x="1403648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形状 75"/>
          <p:cNvCxnSpPr/>
          <p:nvPr/>
        </p:nvCxnSpPr>
        <p:spPr>
          <a:xfrm>
            <a:off x="5652120" y="3645024"/>
            <a:ext cx="971900" cy="24665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012160" y="3809885"/>
            <a:ext cx="169277" cy="339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/>
              <a:t>mux</a:t>
            </a:r>
            <a:endParaRPr lang="zh-CN" altLang="en-US" sz="1100" dirty="0"/>
          </a:p>
        </p:txBody>
      </p:sp>
      <p:cxnSp>
        <p:nvCxnSpPr>
          <p:cNvPr id="104" name="直線矢印コネクタ 55"/>
          <p:cNvCxnSpPr/>
          <p:nvPr/>
        </p:nvCxnSpPr>
        <p:spPr>
          <a:xfrm flipH="1">
            <a:off x="6165603" y="4005064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55"/>
          <p:cNvCxnSpPr/>
          <p:nvPr/>
        </p:nvCxnSpPr>
        <p:spPr>
          <a:xfrm flipH="1">
            <a:off x="5652120" y="4365104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6012160" y="4313941"/>
            <a:ext cx="169277" cy="339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/>
              <a:t>mux</a:t>
            </a:r>
            <a:endParaRPr lang="zh-CN" altLang="en-US" sz="1100" dirty="0"/>
          </a:p>
        </p:txBody>
      </p:sp>
      <p:cxnSp>
        <p:nvCxnSpPr>
          <p:cNvPr id="112" name="直線矢印コネクタ 55"/>
          <p:cNvCxnSpPr/>
          <p:nvPr/>
        </p:nvCxnSpPr>
        <p:spPr>
          <a:xfrm flipH="1">
            <a:off x="6175030" y="4509120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83"/>
          <p:cNvCxnSpPr/>
          <p:nvPr/>
        </p:nvCxnSpPr>
        <p:spPr>
          <a:xfrm>
            <a:off x="7740352" y="4365104"/>
            <a:ext cx="0" cy="1224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85"/>
          <p:cNvCxnSpPr/>
          <p:nvPr/>
        </p:nvCxnSpPr>
        <p:spPr>
          <a:xfrm flipH="1">
            <a:off x="5868144" y="5589240"/>
            <a:ext cx="187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71"/>
          <p:cNvCxnSpPr/>
          <p:nvPr/>
        </p:nvCxnSpPr>
        <p:spPr>
          <a:xfrm flipH="1">
            <a:off x="7452320" y="4365104"/>
            <a:ext cx="288032" cy="838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83"/>
          <p:cNvCxnSpPr/>
          <p:nvPr/>
        </p:nvCxnSpPr>
        <p:spPr>
          <a:xfrm>
            <a:off x="5868144" y="4077072"/>
            <a:ext cx="0" cy="15121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59"/>
          <p:cNvCxnSpPr/>
          <p:nvPr/>
        </p:nvCxnSpPr>
        <p:spPr>
          <a:xfrm flipH="1">
            <a:off x="5868144" y="4581128"/>
            <a:ext cx="144016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6156176" y="4941168"/>
            <a:ext cx="792088" cy="2880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</a:rPr>
              <a:t>BP Controller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27" name="Rectangle 134"/>
          <p:cNvSpPr>
            <a:spLocks noChangeArrowheads="1"/>
          </p:cNvSpPr>
          <p:nvPr/>
        </p:nvSpPr>
        <p:spPr bwMode="auto">
          <a:xfrm>
            <a:off x="8239506" y="3212976"/>
            <a:ext cx="292934" cy="22916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latin typeface="Times New Roman" pitchFamily="18" charset="0"/>
              </a:rPr>
              <a:t>WBXX</a:t>
            </a:r>
            <a:endParaRPr lang="en-US" altLang="ja-JP" sz="1600" dirty="0">
              <a:latin typeface="Times New Roman" pitchFamily="18" charset="0"/>
            </a:endParaRPr>
          </a:p>
        </p:txBody>
      </p:sp>
      <p:cxnSp>
        <p:nvCxnSpPr>
          <p:cNvPr id="128" name="直線矢印コネクタ 91"/>
          <p:cNvCxnSpPr/>
          <p:nvPr/>
        </p:nvCxnSpPr>
        <p:spPr>
          <a:xfrm flipH="1">
            <a:off x="7452320" y="3573016"/>
            <a:ext cx="792088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71"/>
          <p:cNvCxnSpPr/>
          <p:nvPr/>
        </p:nvCxnSpPr>
        <p:spPr>
          <a:xfrm flipH="1">
            <a:off x="8532440" y="4221088"/>
            <a:ext cx="216024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83"/>
          <p:cNvCxnSpPr/>
          <p:nvPr/>
        </p:nvCxnSpPr>
        <p:spPr>
          <a:xfrm>
            <a:off x="8748464" y="4221088"/>
            <a:ext cx="0" cy="15121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85"/>
          <p:cNvCxnSpPr/>
          <p:nvPr/>
        </p:nvCxnSpPr>
        <p:spPr>
          <a:xfrm flipH="1">
            <a:off x="5796136" y="5733256"/>
            <a:ext cx="29523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83"/>
          <p:cNvCxnSpPr/>
          <p:nvPr/>
        </p:nvCxnSpPr>
        <p:spPr>
          <a:xfrm>
            <a:off x="5796136" y="3933056"/>
            <a:ext cx="0" cy="18085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矢印コネクタ 59"/>
          <p:cNvCxnSpPr/>
          <p:nvPr/>
        </p:nvCxnSpPr>
        <p:spPr>
          <a:xfrm flipH="1">
            <a:off x="5796136" y="4437112"/>
            <a:ext cx="21602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59"/>
          <p:cNvCxnSpPr/>
          <p:nvPr/>
        </p:nvCxnSpPr>
        <p:spPr>
          <a:xfrm flipH="1">
            <a:off x="5796136" y="3933056"/>
            <a:ext cx="21602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41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移位指令、</a:t>
            </a: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MOV</a:t>
            </a: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指令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3083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8532440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7668344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308304" y="6021288"/>
            <a:ext cx="28803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100392" y="6021288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270892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>
            <a:stCxn id="297" idx="1"/>
          </p:cNvCxnSpPr>
          <p:nvPr/>
        </p:nvCxnSpPr>
        <p:spPr>
          <a:xfrm flipH="1">
            <a:off x="2051720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376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IFDC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16"/>
          <p:cNvSpPr>
            <a:spLocks noChangeArrowheads="1"/>
          </p:cNvSpPr>
          <p:nvPr/>
        </p:nvSpPr>
        <p:spPr bwMode="auto">
          <a:xfrm>
            <a:off x="4211960" y="3428802"/>
            <a:ext cx="792088" cy="5762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ja-JP" sz="1400" dirty="0">
                <a:latin typeface="Times New Roman" pitchFamily="18" charset="0"/>
              </a:rPr>
              <a:t>Decoder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flipH="1">
            <a:off x="3851920" y="3717032"/>
            <a:ext cx="360040" cy="5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34"/>
          <p:cNvSpPr>
            <a:spLocks noChangeArrowheads="1"/>
          </p:cNvSpPr>
          <p:nvPr/>
        </p:nvSpPr>
        <p:spPr bwMode="auto">
          <a:xfrm>
            <a:off x="5359186" y="3225552"/>
            <a:ext cx="292934" cy="22916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DCEX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flipH="1">
            <a:off x="5004048" y="3717032"/>
            <a:ext cx="360040" cy="5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50"/>
          <p:cNvGrpSpPr/>
          <p:nvPr/>
        </p:nvGrpSpPr>
        <p:grpSpPr>
          <a:xfrm>
            <a:off x="6308725" y="3789040"/>
            <a:ext cx="567531" cy="875878"/>
            <a:chOff x="6308725" y="4055318"/>
            <a:chExt cx="228600" cy="609600"/>
          </a:xfrm>
        </p:grpSpPr>
        <p:sp>
          <p:nvSpPr>
            <p:cNvPr id="53" name="Freeform 32"/>
            <p:cNvSpPr>
              <a:spLocks/>
            </p:cNvSpPr>
            <p:nvPr/>
          </p:nvSpPr>
          <p:spPr bwMode="auto">
            <a:xfrm rot="16200000">
              <a:off x="6118225" y="4245818"/>
              <a:ext cx="6096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600"/>
            </a:p>
          </p:txBody>
        </p:sp>
        <p:sp>
          <p:nvSpPr>
            <p:cNvPr id="54" name="Text Box 34"/>
            <p:cNvSpPr txBox="1">
              <a:spLocks noChangeArrowheads="1"/>
            </p:cNvSpPr>
            <p:nvPr/>
          </p:nvSpPr>
          <p:spPr bwMode="auto">
            <a:xfrm rot="5400000">
              <a:off x="6219825" y="4274471"/>
              <a:ext cx="431800" cy="136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6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ALU</a:t>
              </a:r>
            </a:p>
          </p:txBody>
        </p:sp>
      </p:grpSp>
      <p:cxnSp>
        <p:nvCxnSpPr>
          <p:cNvPr id="56" name="直線矢印コネクタ 55"/>
          <p:cNvCxnSpPr/>
          <p:nvPr/>
        </p:nvCxnSpPr>
        <p:spPr>
          <a:xfrm flipH="1">
            <a:off x="5652120" y="3861048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 flipH="1">
            <a:off x="5868144" y="4077072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34"/>
          <p:cNvSpPr>
            <a:spLocks noChangeArrowheads="1"/>
          </p:cNvSpPr>
          <p:nvPr/>
        </p:nvSpPr>
        <p:spPr bwMode="auto">
          <a:xfrm>
            <a:off x="7159386" y="3225552"/>
            <a:ext cx="292934" cy="22916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EX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65" name="直線矢印コネクタ 64"/>
          <p:cNvCxnSpPr/>
          <p:nvPr/>
        </p:nvCxnSpPr>
        <p:spPr>
          <a:xfrm flipH="1">
            <a:off x="6876256" y="4221088"/>
            <a:ext cx="28803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/>
          <p:cNvCxnSpPr/>
          <p:nvPr/>
        </p:nvCxnSpPr>
        <p:spPr>
          <a:xfrm flipH="1">
            <a:off x="7452320" y="4221088"/>
            <a:ext cx="4320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13"/>
          <p:cNvSpPr>
            <a:spLocks noChangeArrowheads="1"/>
          </p:cNvSpPr>
          <p:nvPr/>
        </p:nvSpPr>
        <p:spPr bwMode="auto">
          <a:xfrm>
            <a:off x="4211960" y="4517504"/>
            <a:ext cx="792088" cy="9997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latin typeface="Times New Roman" pitchFamily="18" charset="0"/>
              </a:rPr>
              <a:t>Register</a:t>
            </a:r>
          </a:p>
          <a:p>
            <a:pPr algn="ctr"/>
            <a:r>
              <a:rPr lang="en-US" altLang="zh-CN" sz="1600" dirty="0" smtClean="0">
                <a:latin typeface="Times New Roman" pitchFamily="18" charset="0"/>
              </a:rPr>
              <a:t>File(GPR)</a:t>
            </a:r>
            <a:endParaRPr lang="en-US" altLang="zh-CN" sz="1600" dirty="0">
              <a:latin typeface="Times New Roman" pitchFamily="18" charset="0"/>
            </a:endParaRPr>
          </a:p>
        </p:txBody>
      </p:sp>
      <p:cxnSp>
        <p:nvCxnSpPr>
          <p:cNvPr id="78" name="直線矢印コネクタ 77"/>
          <p:cNvCxnSpPr/>
          <p:nvPr/>
        </p:nvCxnSpPr>
        <p:spPr>
          <a:xfrm flipH="1">
            <a:off x="5004048" y="5021560"/>
            <a:ext cx="360040" cy="5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/>
          <p:cNvCxnSpPr/>
          <p:nvPr/>
        </p:nvCxnSpPr>
        <p:spPr>
          <a:xfrm flipH="1">
            <a:off x="3851920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>
            <a:off x="7884368" y="4221088"/>
            <a:ext cx="0" cy="1440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 flipH="1">
            <a:off x="3995936" y="5661248"/>
            <a:ext cx="388843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V="1">
            <a:off x="3995936" y="5301208"/>
            <a:ext cx="0" cy="3600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/>
          <p:cNvCxnSpPr/>
          <p:nvPr/>
        </p:nvCxnSpPr>
        <p:spPr>
          <a:xfrm flipH="1">
            <a:off x="3851920" y="4797152"/>
            <a:ext cx="360040" cy="5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/>
          <p:cNvCxnSpPr/>
          <p:nvPr/>
        </p:nvCxnSpPr>
        <p:spPr>
          <a:xfrm>
            <a:off x="3995936" y="5301208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flipH="1">
            <a:off x="5652120" y="3573016"/>
            <a:ext cx="1512168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134"/>
          <p:cNvSpPr>
            <a:spLocks noChangeArrowheads="1"/>
          </p:cNvSpPr>
          <p:nvPr/>
        </p:nvSpPr>
        <p:spPr bwMode="auto">
          <a:xfrm>
            <a:off x="1763688" y="3212976"/>
            <a:ext cx="288032" cy="244827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PC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grpSp>
        <p:nvGrpSpPr>
          <p:cNvPr id="3" name="グループ化 93"/>
          <p:cNvGrpSpPr/>
          <p:nvPr/>
        </p:nvGrpSpPr>
        <p:grpSpPr>
          <a:xfrm>
            <a:off x="971599" y="3356992"/>
            <a:ext cx="435445" cy="720080"/>
            <a:chOff x="1187625" y="3356992"/>
            <a:chExt cx="228600" cy="541956"/>
          </a:xfrm>
        </p:grpSpPr>
        <p:sp>
          <p:nvSpPr>
            <p:cNvPr id="95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96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97" name="直線矢印コネクタ 96"/>
          <p:cNvCxnSpPr/>
          <p:nvPr/>
        </p:nvCxnSpPr>
        <p:spPr>
          <a:xfrm flipH="1">
            <a:off x="611560" y="3501008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/>
          <p:cNvCxnSpPr/>
          <p:nvPr/>
        </p:nvCxnSpPr>
        <p:spPr>
          <a:xfrm flipH="1">
            <a:off x="395536" y="3933031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 flipV="1">
            <a:off x="2195736" y="2852936"/>
            <a:ext cx="0" cy="8640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/>
          <p:cNvCxnSpPr/>
          <p:nvPr/>
        </p:nvCxnSpPr>
        <p:spPr>
          <a:xfrm flipH="1">
            <a:off x="395536" y="2852936"/>
            <a:ext cx="18002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>
            <a:off x="395536" y="2852936"/>
            <a:ext cx="0" cy="1080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Box 228"/>
          <p:cNvSpPr txBox="1">
            <a:spLocks noChangeArrowheads="1"/>
          </p:cNvSpPr>
          <p:nvPr/>
        </p:nvSpPr>
        <p:spPr bwMode="auto">
          <a:xfrm>
            <a:off x="328430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103" name="直線矢印コネクタ 102"/>
          <p:cNvCxnSpPr/>
          <p:nvPr/>
        </p:nvCxnSpPr>
        <p:spPr>
          <a:xfrm flipH="1">
            <a:off x="1403648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形状 75"/>
          <p:cNvCxnSpPr/>
          <p:nvPr/>
        </p:nvCxnSpPr>
        <p:spPr>
          <a:xfrm>
            <a:off x="5652120" y="3645024"/>
            <a:ext cx="971900" cy="24665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012160" y="3809885"/>
            <a:ext cx="169277" cy="339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/>
              <a:t>mux</a:t>
            </a:r>
            <a:endParaRPr lang="zh-CN" altLang="en-US" sz="1100" dirty="0"/>
          </a:p>
        </p:txBody>
      </p:sp>
      <p:cxnSp>
        <p:nvCxnSpPr>
          <p:cNvPr id="104" name="直線矢印コネクタ 55"/>
          <p:cNvCxnSpPr/>
          <p:nvPr/>
        </p:nvCxnSpPr>
        <p:spPr>
          <a:xfrm flipH="1">
            <a:off x="6165603" y="4005064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55"/>
          <p:cNvCxnSpPr/>
          <p:nvPr/>
        </p:nvCxnSpPr>
        <p:spPr>
          <a:xfrm flipH="1">
            <a:off x="5652120" y="4365104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6012160" y="4313941"/>
            <a:ext cx="169277" cy="339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/>
              <a:t>mux</a:t>
            </a:r>
            <a:endParaRPr lang="zh-CN" altLang="en-US" sz="1100" dirty="0"/>
          </a:p>
        </p:txBody>
      </p:sp>
      <p:cxnSp>
        <p:nvCxnSpPr>
          <p:cNvPr id="112" name="直線矢印コネクタ 55"/>
          <p:cNvCxnSpPr/>
          <p:nvPr/>
        </p:nvCxnSpPr>
        <p:spPr>
          <a:xfrm flipH="1">
            <a:off x="6175030" y="4509120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83"/>
          <p:cNvCxnSpPr/>
          <p:nvPr/>
        </p:nvCxnSpPr>
        <p:spPr>
          <a:xfrm>
            <a:off x="7740352" y="4365104"/>
            <a:ext cx="0" cy="12241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85"/>
          <p:cNvCxnSpPr/>
          <p:nvPr/>
        </p:nvCxnSpPr>
        <p:spPr>
          <a:xfrm flipH="1">
            <a:off x="5868144" y="5589240"/>
            <a:ext cx="187220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71"/>
          <p:cNvCxnSpPr/>
          <p:nvPr/>
        </p:nvCxnSpPr>
        <p:spPr>
          <a:xfrm flipH="1">
            <a:off x="7452320" y="4365104"/>
            <a:ext cx="288032" cy="83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83"/>
          <p:cNvCxnSpPr/>
          <p:nvPr/>
        </p:nvCxnSpPr>
        <p:spPr>
          <a:xfrm>
            <a:off x="5868144" y="4077072"/>
            <a:ext cx="0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59"/>
          <p:cNvCxnSpPr/>
          <p:nvPr/>
        </p:nvCxnSpPr>
        <p:spPr>
          <a:xfrm flipH="1">
            <a:off x="5868144" y="458112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6156176" y="4941168"/>
            <a:ext cx="792088" cy="288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</a:rPr>
              <a:t>BP </a:t>
            </a:r>
            <a:r>
              <a:rPr lang="en-US" altLang="zh-CN" sz="1100" dirty="0" err="1" smtClean="0">
                <a:solidFill>
                  <a:schemeClr val="tx1"/>
                </a:solidFill>
              </a:rPr>
              <a:t>Controler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27" name="Rectangle 134"/>
          <p:cNvSpPr>
            <a:spLocks noChangeArrowheads="1"/>
          </p:cNvSpPr>
          <p:nvPr/>
        </p:nvSpPr>
        <p:spPr bwMode="auto">
          <a:xfrm>
            <a:off x="8239506" y="3212976"/>
            <a:ext cx="292934" cy="22916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WBXX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128" name="直線矢印コネクタ 91"/>
          <p:cNvCxnSpPr/>
          <p:nvPr/>
        </p:nvCxnSpPr>
        <p:spPr>
          <a:xfrm flipH="1">
            <a:off x="7452320" y="3573016"/>
            <a:ext cx="79208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71"/>
          <p:cNvCxnSpPr/>
          <p:nvPr/>
        </p:nvCxnSpPr>
        <p:spPr>
          <a:xfrm flipH="1">
            <a:off x="8532440" y="4221088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83"/>
          <p:cNvCxnSpPr/>
          <p:nvPr/>
        </p:nvCxnSpPr>
        <p:spPr>
          <a:xfrm>
            <a:off x="8748464" y="4221088"/>
            <a:ext cx="0" cy="15121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85"/>
          <p:cNvCxnSpPr/>
          <p:nvPr/>
        </p:nvCxnSpPr>
        <p:spPr>
          <a:xfrm flipH="1">
            <a:off x="5796136" y="5733256"/>
            <a:ext cx="29523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83"/>
          <p:cNvCxnSpPr/>
          <p:nvPr/>
        </p:nvCxnSpPr>
        <p:spPr>
          <a:xfrm>
            <a:off x="5796136" y="3933056"/>
            <a:ext cx="0" cy="18085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矢印コネクタ 59"/>
          <p:cNvCxnSpPr/>
          <p:nvPr/>
        </p:nvCxnSpPr>
        <p:spPr>
          <a:xfrm flipH="1">
            <a:off x="5796136" y="4437112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59"/>
          <p:cNvCxnSpPr/>
          <p:nvPr/>
        </p:nvCxnSpPr>
        <p:spPr>
          <a:xfrm flipH="1">
            <a:off x="5796136" y="3933056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39"/>
          <p:cNvCxnSpPr/>
          <p:nvPr/>
        </p:nvCxnSpPr>
        <p:spPr>
          <a:xfrm flipH="1">
            <a:off x="3851920" y="4077072"/>
            <a:ext cx="1512168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读写指令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3083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8532440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7668344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308304" y="6021288"/>
            <a:ext cx="28803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100392" y="6021288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270892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>
            <a:stCxn id="297" idx="1"/>
          </p:cNvCxnSpPr>
          <p:nvPr/>
        </p:nvCxnSpPr>
        <p:spPr>
          <a:xfrm flipH="1">
            <a:off x="2051720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376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IFDC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16"/>
          <p:cNvSpPr>
            <a:spLocks noChangeArrowheads="1"/>
          </p:cNvSpPr>
          <p:nvPr/>
        </p:nvSpPr>
        <p:spPr bwMode="auto">
          <a:xfrm>
            <a:off x="4211960" y="3428802"/>
            <a:ext cx="792088" cy="576262"/>
          </a:xfrm>
          <a:prstGeom prst="ellips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Decoder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flipH="1">
            <a:off x="3851920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34"/>
          <p:cNvSpPr>
            <a:spLocks noChangeArrowheads="1"/>
          </p:cNvSpPr>
          <p:nvPr/>
        </p:nvSpPr>
        <p:spPr bwMode="auto">
          <a:xfrm>
            <a:off x="5359186" y="2132856"/>
            <a:ext cx="292934" cy="3384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DCEX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flipH="1">
            <a:off x="5004048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50"/>
          <p:cNvGrpSpPr/>
          <p:nvPr/>
        </p:nvGrpSpPr>
        <p:grpSpPr>
          <a:xfrm>
            <a:off x="6308725" y="3789040"/>
            <a:ext cx="567531" cy="875878"/>
            <a:chOff x="6308725" y="4055318"/>
            <a:chExt cx="228600" cy="609600"/>
          </a:xfrm>
        </p:grpSpPr>
        <p:sp>
          <p:nvSpPr>
            <p:cNvPr id="53" name="Freeform 32"/>
            <p:cNvSpPr>
              <a:spLocks/>
            </p:cNvSpPr>
            <p:nvPr/>
          </p:nvSpPr>
          <p:spPr bwMode="auto">
            <a:xfrm rot="16200000">
              <a:off x="6118225" y="4245818"/>
              <a:ext cx="6096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600"/>
            </a:p>
          </p:txBody>
        </p:sp>
        <p:sp>
          <p:nvSpPr>
            <p:cNvPr id="54" name="Text Box 34"/>
            <p:cNvSpPr txBox="1">
              <a:spLocks noChangeArrowheads="1"/>
            </p:cNvSpPr>
            <p:nvPr/>
          </p:nvSpPr>
          <p:spPr bwMode="auto">
            <a:xfrm rot="5400000">
              <a:off x="6219825" y="4274471"/>
              <a:ext cx="431800" cy="136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6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ALU</a:t>
              </a:r>
            </a:p>
          </p:txBody>
        </p:sp>
      </p:grpSp>
      <p:cxnSp>
        <p:nvCxnSpPr>
          <p:cNvPr id="56" name="直線矢印コネクタ 55"/>
          <p:cNvCxnSpPr/>
          <p:nvPr/>
        </p:nvCxnSpPr>
        <p:spPr>
          <a:xfrm flipH="1">
            <a:off x="5652120" y="3861048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 flipH="1">
            <a:off x="5868144" y="4077072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34"/>
          <p:cNvSpPr>
            <a:spLocks noChangeArrowheads="1"/>
          </p:cNvSpPr>
          <p:nvPr/>
        </p:nvSpPr>
        <p:spPr bwMode="auto">
          <a:xfrm>
            <a:off x="7159386" y="1988840"/>
            <a:ext cx="292934" cy="35283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</a:rPr>
              <a:t>EX</a:t>
            </a:r>
            <a:r>
              <a:rPr lang="en-US" altLang="zh-CN" sz="1600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</a:rPr>
              <a:t>WB</a:t>
            </a:r>
            <a:endParaRPr lang="en-US" altLang="ja-JP" sz="1600" dirty="0">
              <a:solidFill>
                <a:schemeClr val="bg1">
                  <a:lumMod val="65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65" name="直線矢印コネクタ 64"/>
          <p:cNvCxnSpPr/>
          <p:nvPr/>
        </p:nvCxnSpPr>
        <p:spPr>
          <a:xfrm flipH="1">
            <a:off x="6876256" y="4221088"/>
            <a:ext cx="28803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/>
          <p:cNvCxnSpPr/>
          <p:nvPr/>
        </p:nvCxnSpPr>
        <p:spPr>
          <a:xfrm flipH="1">
            <a:off x="7452320" y="4221088"/>
            <a:ext cx="4320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13"/>
          <p:cNvSpPr>
            <a:spLocks noChangeArrowheads="1"/>
          </p:cNvSpPr>
          <p:nvPr/>
        </p:nvSpPr>
        <p:spPr bwMode="auto">
          <a:xfrm>
            <a:off x="4211960" y="4517504"/>
            <a:ext cx="792088" cy="9997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Register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File(GPR)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78" name="直線矢印コネクタ 77"/>
          <p:cNvCxnSpPr/>
          <p:nvPr/>
        </p:nvCxnSpPr>
        <p:spPr>
          <a:xfrm flipH="1">
            <a:off x="5004048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/>
          <p:cNvCxnSpPr/>
          <p:nvPr/>
        </p:nvCxnSpPr>
        <p:spPr>
          <a:xfrm flipH="1">
            <a:off x="3851920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>
            <a:off x="7884368" y="4221088"/>
            <a:ext cx="0" cy="1440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 flipH="1">
            <a:off x="3995936" y="5661248"/>
            <a:ext cx="388843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V="1">
            <a:off x="3995936" y="5301208"/>
            <a:ext cx="0" cy="3600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/>
          <p:cNvCxnSpPr/>
          <p:nvPr/>
        </p:nvCxnSpPr>
        <p:spPr>
          <a:xfrm flipH="1">
            <a:off x="3851920" y="479715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/>
          <p:cNvCxnSpPr/>
          <p:nvPr/>
        </p:nvCxnSpPr>
        <p:spPr>
          <a:xfrm>
            <a:off x="3995936" y="5301208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flipH="1">
            <a:off x="5652120" y="3573016"/>
            <a:ext cx="1512168" cy="5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134"/>
          <p:cNvSpPr>
            <a:spLocks noChangeArrowheads="1"/>
          </p:cNvSpPr>
          <p:nvPr/>
        </p:nvSpPr>
        <p:spPr bwMode="auto">
          <a:xfrm>
            <a:off x="1763688" y="3212976"/>
            <a:ext cx="288032" cy="244827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PC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grpSp>
        <p:nvGrpSpPr>
          <p:cNvPr id="3" name="グループ化 93"/>
          <p:cNvGrpSpPr/>
          <p:nvPr/>
        </p:nvGrpSpPr>
        <p:grpSpPr>
          <a:xfrm>
            <a:off x="971599" y="3356992"/>
            <a:ext cx="435445" cy="720080"/>
            <a:chOff x="1187625" y="3356992"/>
            <a:chExt cx="228600" cy="541956"/>
          </a:xfrm>
        </p:grpSpPr>
        <p:sp>
          <p:nvSpPr>
            <p:cNvPr id="95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96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97" name="直線矢印コネクタ 96"/>
          <p:cNvCxnSpPr/>
          <p:nvPr/>
        </p:nvCxnSpPr>
        <p:spPr>
          <a:xfrm flipH="1">
            <a:off x="611560" y="3501008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/>
          <p:cNvCxnSpPr/>
          <p:nvPr/>
        </p:nvCxnSpPr>
        <p:spPr>
          <a:xfrm flipH="1">
            <a:off x="395536" y="3933031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 flipV="1">
            <a:off x="2195736" y="2852936"/>
            <a:ext cx="0" cy="8640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/>
          <p:cNvCxnSpPr/>
          <p:nvPr/>
        </p:nvCxnSpPr>
        <p:spPr>
          <a:xfrm flipH="1">
            <a:off x="395536" y="2852936"/>
            <a:ext cx="18002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>
            <a:off x="395536" y="2852936"/>
            <a:ext cx="0" cy="1080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Box 228"/>
          <p:cNvSpPr txBox="1">
            <a:spLocks noChangeArrowheads="1"/>
          </p:cNvSpPr>
          <p:nvPr/>
        </p:nvSpPr>
        <p:spPr bwMode="auto">
          <a:xfrm>
            <a:off x="328430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103" name="直線矢印コネクタ 102"/>
          <p:cNvCxnSpPr/>
          <p:nvPr/>
        </p:nvCxnSpPr>
        <p:spPr>
          <a:xfrm flipH="1">
            <a:off x="1403648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形状 75"/>
          <p:cNvCxnSpPr/>
          <p:nvPr/>
        </p:nvCxnSpPr>
        <p:spPr>
          <a:xfrm>
            <a:off x="5652120" y="3645024"/>
            <a:ext cx="971900" cy="24665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012160" y="3809885"/>
            <a:ext cx="169277" cy="3391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4" name="直線矢印コネクタ 55"/>
          <p:cNvCxnSpPr/>
          <p:nvPr/>
        </p:nvCxnSpPr>
        <p:spPr>
          <a:xfrm flipH="1">
            <a:off x="6165603" y="4005064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55"/>
          <p:cNvCxnSpPr/>
          <p:nvPr/>
        </p:nvCxnSpPr>
        <p:spPr>
          <a:xfrm flipH="1">
            <a:off x="5652120" y="4365104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6012160" y="4313941"/>
            <a:ext cx="169277" cy="3391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2" name="直線矢印コネクタ 55"/>
          <p:cNvCxnSpPr/>
          <p:nvPr/>
        </p:nvCxnSpPr>
        <p:spPr>
          <a:xfrm flipH="1">
            <a:off x="6175030" y="4509120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83"/>
          <p:cNvCxnSpPr/>
          <p:nvPr/>
        </p:nvCxnSpPr>
        <p:spPr>
          <a:xfrm>
            <a:off x="7740352" y="4365104"/>
            <a:ext cx="0" cy="12241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85"/>
          <p:cNvCxnSpPr/>
          <p:nvPr/>
        </p:nvCxnSpPr>
        <p:spPr>
          <a:xfrm flipH="1">
            <a:off x="5868144" y="5589240"/>
            <a:ext cx="187220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71"/>
          <p:cNvCxnSpPr/>
          <p:nvPr/>
        </p:nvCxnSpPr>
        <p:spPr>
          <a:xfrm flipH="1">
            <a:off x="7452320" y="4365104"/>
            <a:ext cx="288032" cy="83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83"/>
          <p:cNvCxnSpPr/>
          <p:nvPr/>
        </p:nvCxnSpPr>
        <p:spPr>
          <a:xfrm>
            <a:off x="5868144" y="4077072"/>
            <a:ext cx="0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59"/>
          <p:cNvCxnSpPr/>
          <p:nvPr/>
        </p:nvCxnSpPr>
        <p:spPr>
          <a:xfrm flipH="1">
            <a:off x="5868144" y="458112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6156176" y="4941168"/>
            <a:ext cx="792088" cy="288032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</a:rPr>
              <a:t>BP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Controler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Rectangle 134"/>
          <p:cNvSpPr>
            <a:spLocks noChangeArrowheads="1"/>
          </p:cNvSpPr>
          <p:nvPr/>
        </p:nvSpPr>
        <p:spPr bwMode="auto">
          <a:xfrm>
            <a:off x="8239506" y="3212976"/>
            <a:ext cx="292934" cy="22916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WBXX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128" name="直線矢印コネクタ 91"/>
          <p:cNvCxnSpPr/>
          <p:nvPr/>
        </p:nvCxnSpPr>
        <p:spPr>
          <a:xfrm flipH="1">
            <a:off x="7452320" y="3573016"/>
            <a:ext cx="79208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71"/>
          <p:cNvCxnSpPr/>
          <p:nvPr/>
        </p:nvCxnSpPr>
        <p:spPr>
          <a:xfrm flipH="1">
            <a:off x="8532440" y="4221088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83"/>
          <p:cNvCxnSpPr/>
          <p:nvPr/>
        </p:nvCxnSpPr>
        <p:spPr>
          <a:xfrm>
            <a:off x="8748464" y="4221088"/>
            <a:ext cx="0" cy="15121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85"/>
          <p:cNvCxnSpPr/>
          <p:nvPr/>
        </p:nvCxnSpPr>
        <p:spPr>
          <a:xfrm flipH="1">
            <a:off x="5796136" y="5733256"/>
            <a:ext cx="29523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83"/>
          <p:cNvCxnSpPr/>
          <p:nvPr/>
        </p:nvCxnSpPr>
        <p:spPr>
          <a:xfrm>
            <a:off x="5796136" y="3933056"/>
            <a:ext cx="0" cy="18085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矢印コネクタ 59"/>
          <p:cNvCxnSpPr/>
          <p:nvPr/>
        </p:nvCxnSpPr>
        <p:spPr>
          <a:xfrm flipH="1">
            <a:off x="5796136" y="4437112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59"/>
          <p:cNvCxnSpPr/>
          <p:nvPr/>
        </p:nvCxnSpPr>
        <p:spPr>
          <a:xfrm flipH="1">
            <a:off x="5796136" y="3933056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39"/>
          <p:cNvCxnSpPr/>
          <p:nvPr/>
        </p:nvCxnSpPr>
        <p:spPr>
          <a:xfrm flipH="1">
            <a:off x="3851920" y="4077072"/>
            <a:ext cx="151216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3"/>
          <p:cNvSpPr>
            <a:spLocks noChangeArrowheads="1"/>
          </p:cNvSpPr>
          <p:nvPr/>
        </p:nvSpPr>
        <p:spPr bwMode="auto">
          <a:xfrm>
            <a:off x="6156176" y="1988840"/>
            <a:ext cx="648072" cy="1296144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latin typeface="Times New Roman" pitchFamily="18" charset="0"/>
              </a:rPr>
              <a:t>DATA</a:t>
            </a:r>
          </a:p>
          <a:p>
            <a:pPr algn="ctr"/>
            <a:r>
              <a:rPr lang="en-US" altLang="zh-CN" sz="1600" dirty="0" smtClean="0">
                <a:latin typeface="Times New Roman" pitchFamily="18" charset="0"/>
              </a:rPr>
              <a:t>Memory</a:t>
            </a:r>
            <a:endParaRPr lang="en-US" altLang="ja-JP" sz="1600" dirty="0">
              <a:latin typeface="Times New Roman" pitchFamily="18" charset="0"/>
            </a:endParaRPr>
          </a:p>
        </p:txBody>
      </p:sp>
      <p:cxnSp>
        <p:nvCxnSpPr>
          <p:cNvPr id="108" name="直線矢印コネクタ 91"/>
          <p:cNvCxnSpPr/>
          <p:nvPr/>
        </p:nvCxnSpPr>
        <p:spPr>
          <a:xfrm flipH="1">
            <a:off x="6804248" y="2708920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91"/>
          <p:cNvCxnSpPr/>
          <p:nvPr/>
        </p:nvCxnSpPr>
        <p:spPr>
          <a:xfrm flipH="1">
            <a:off x="5652120" y="2708870"/>
            <a:ext cx="504056" cy="5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跳转指令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3083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8532440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7668344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308304" y="6021288"/>
            <a:ext cx="28803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100392" y="6021288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270892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>
            <a:stCxn id="297" idx="1"/>
          </p:cNvCxnSpPr>
          <p:nvPr/>
        </p:nvCxnSpPr>
        <p:spPr>
          <a:xfrm flipH="1">
            <a:off x="2051720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376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IFDC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16"/>
          <p:cNvSpPr>
            <a:spLocks noChangeArrowheads="1"/>
          </p:cNvSpPr>
          <p:nvPr/>
        </p:nvSpPr>
        <p:spPr bwMode="auto">
          <a:xfrm>
            <a:off x="4211960" y="3428802"/>
            <a:ext cx="792088" cy="5762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ja-JP" sz="1400" dirty="0">
                <a:latin typeface="Times New Roman" pitchFamily="18" charset="0"/>
              </a:rPr>
              <a:t>Decoder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flipH="1">
            <a:off x="3851920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34"/>
          <p:cNvSpPr>
            <a:spLocks noChangeArrowheads="1"/>
          </p:cNvSpPr>
          <p:nvPr/>
        </p:nvSpPr>
        <p:spPr bwMode="auto">
          <a:xfrm>
            <a:off x="5359186" y="2132856"/>
            <a:ext cx="292934" cy="3384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DCEX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flipH="1">
            <a:off x="5004048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50"/>
          <p:cNvGrpSpPr/>
          <p:nvPr/>
        </p:nvGrpSpPr>
        <p:grpSpPr>
          <a:xfrm>
            <a:off x="6308725" y="3789040"/>
            <a:ext cx="567531" cy="875878"/>
            <a:chOff x="6308725" y="4055318"/>
            <a:chExt cx="228600" cy="609600"/>
          </a:xfrm>
        </p:grpSpPr>
        <p:sp>
          <p:nvSpPr>
            <p:cNvPr id="53" name="Freeform 32"/>
            <p:cNvSpPr>
              <a:spLocks/>
            </p:cNvSpPr>
            <p:nvPr/>
          </p:nvSpPr>
          <p:spPr bwMode="auto">
            <a:xfrm rot="16200000">
              <a:off x="6118225" y="4245818"/>
              <a:ext cx="6096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600"/>
            </a:p>
          </p:txBody>
        </p:sp>
        <p:sp>
          <p:nvSpPr>
            <p:cNvPr id="54" name="Text Box 34"/>
            <p:cNvSpPr txBox="1">
              <a:spLocks noChangeArrowheads="1"/>
            </p:cNvSpPr>
            <p:nvPr/>
          </p:nvSpPr>
          <p:spPr bwMode="auto">
            <a:xfrm rot="5400000">
              <a:off x="6219825" y="4274471"/>
              <a:ext cx="431800" cy="136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6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ALU</a:t>
              </a:r>
            </a:p>
          </p:txBody>
        </p:sp>
      </p:grpSp>
      <p:cxnSp>
        <p:nvCxnSpPr>
          <p:cNvPr id="56" name="直線矢印コネクタ 55"/>
          <p:cNvCxnSpPr/>
          <p:nvPr/>
        </p:nvCxnSpPr>
        <p:spPr>
          <a:xfrm flipH="1">
            <a:off x="5652120" y="3861048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 flipH="1">
            <a:off x="5868144" y="4077072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34"/>
          <p:cNvSpPr>
            <a:spLocks noChangeArrowheads="1"/>
          </p:cNvSpPr>
          <p:nvPr/>
        </p:nvSpPr>
        <p:spPr bwMode="auto">
          <a:xfrm>
            <a:off x="7159386" y="1988840"/>
            <a:ext cx="292934" cy="35283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EX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65" name="直線矢印コネクタ 64"/>
          <p:cNvCxnSpPr/>
          <p:nvPr/>
        </p:nvCxnSpPr>
        <p:spPr>
          <a:xfrm flipH="1">
            <a:off x="6876256" y="4221088"/>
            <a:ext cx="28803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/>
          <p:cNvCxnSpPr/>
          <p:nvPr/>
        </p:nvCxnSpPr>
        <p:spPr>
          <a:xfrm flipH="1">
            <a:off x="7452320" y="4221088"/>
            <a:ext cx="4320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13"/>
          <p:cNvSpPr>
            <a:spLocks noChangeArrowheads="1"/>
          </p:cNvSpPr>
          <p:nvPr/>
        </p:nvSpPr>
        <p:spPr bwMode="auto">
          <a:xfrm>
            <a:off x="4211960" y="4517504"/>
            <a:ext cx="792088" cy="9997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Register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File(GPR)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78" name="直線矢印コネクタ 77"/>
          <p:cNvCxnSpPr/>
          <p:nvPr/>
        </p:nvCxnSpPr>
        <p:spPr>
          <a:xfrm flipH="1">
            <a:off x="5004048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/>
          <p:cNvCxnSpPr/>
          <p:nvPr/>
        </p:nvCxnSpPr>
        <p:spPr>
          <a:xfrm flipH="1">
            <a:off x="3851920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>
            <a:off x="7884368" y="4221088"/>
            <a:ext cx="0" cy="1440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 flipH="1">
            <a:off x="4067944" y="5661248"/>
            <a:ext cx="38164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V="1">
            <a:off x="4067944" y="5301208"/>
            <a:ext cx="0" cy="3600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/>
          <p:cNvCxnSpPr/>
          <p:nvPr/>
        </p:nvCxnSpPr>
        <p:spPr>
          <a:xfrm flipH="1">
            <a:off x="3851920" y="479715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/>
          <p:cNvCxnSpPr/>
          <p:nvPr/>
        </p:nvCxnSpPr>
        <p:spPr>
          <a:xfrm>
            <a:off x="4067944" y="530120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flipH="1">
            <a:off x="5652120" y="3573016"/>
            <a:ext cx="1512168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134"/>
          <p:cNvSpPr>
            <a:spLocks noChangeArrowheads="1"/>
          </p:cNvSpPr>
          <p:nvPr/>
        </p:nvSpPr>
        <p:spPr bwMode="auto">
          <a:xfrm>
            <a:off x="1763688" y="3212976"/>
            <a:ext cx="288032" cy="2448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latin typeface="Times New Roman" pitchFamily="18" charset="0"/>
              </a:rPr>
              <a:t>PC</a:t>
            </a:r>
            <a:endParaRPr lang="en-US" altLang="ja-JP" sz="1600" dirty="0">
              <a:latin typeface="Times New Roman" pitchFamily="18" charset="0"/>
            </a:endParaRPr>
          </a:p>
        </p:txBody>
      </p:sp>
      <p:grpSp>
        <p:nvGrpSpPr>
          <p:cNvPr id="3" name="グループ化 93"/>
          <p:cNvGrpSpPr/>
          <p:nvPr/>
        </p:nvGrpSpPr>
        <p:grpSpPr>
          <a:xfrm>
            <a:off x="750673" y="3356992"/>
            <a:ext cx="360041" cy="720080"/>
            <a:chOff x="1187625" y="3356992"/>
            <a:chExt cx="228600" cy="541956"/>
          </a:xfrm>
        </p:grpSpPr>
        <p:sp>
          <p:nvSpPr>
            <p:cNvPr id="95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96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97" name="直線矢印コネクタ 96"/>
          <p:cNvCxnSpPr/>
          <p:nvPr/>
        </p:nvCxnSpPr>
        <p:spPr>
          <a:xfrm flipH="1">
            <a:off x="390634" y="3501008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/>
          <p:cNvCxnSpPr/>
          <p:nvPr/>
        </p:nvCxnSpPr>
        <p:spPr>
          <a:xfrm flipH="1">
            <a:off x="174610" y="3933031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 flipV="1">
            <a:off x="2195736" y="2852936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/>
          <p:cNvCxnSpPr/>
          <p:nvPr/>
        </p:nvCxnSpPr>
        <p:spPr>
          <a:xfrm flipH="1">
            <a:off x="179512" y="2852936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>
            <a:off x="179512" y="2852936"/>
            <a:ext cx="0" cy="15841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Box 228"/>
          <p:cNvSpPr txBox="1">
            <a:spLocks noChangeArrowheads="1"/>
          </p:cNvSpPr>
          <p:nvPr/>
        </p:nvSpPr>
        <p:spPr bwMode="auto">
          <a:xfrm>
            <a:off x="107504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103" name="直線矢印コネクタ 102"/>
          <p:cNvCxnSpPr/>
          <p:nvPr/>
        </p:nvCxnSpPr>
        <p:spPr>
          <a:xfrm flipH="1">
            <a:off x="1331640" y="4077072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形状 75"/>
          <p:cNvCxnSpPr/>
          <p:nvPr/>
        </p:nvCxnSpPr>
        <p:spPr>
          <a:xfrm>
            <a:off x="5652120" y="3645024"/>
            <a:ext cx="971900" cy="24665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012160" y="3809885"/>
            <a:ext cx="169277" cy="3391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4" name="直線矢印コネクタ 55"/>
          <p:cNvCxnSpPr/>
          <p:nvPr/>
        </p:nvCxnSpPr>
        <p:spPr>
          <a:xfrm flipH="1">
            <a:off x="6165603" y="4005064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55"/>
          <p:cNvCxnSpPr/>
          <p:nvPr/>
        </p:nvCxnSpPr>
        <p:spPr>
          <a:xfrm flipH="1">
            <a:off x="5652120" y="4365104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6012160" y="4313941"/>
            <a:ext cx="169277" cy="3391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2" name="直線矢印コネクタ 55"/>
          <p:cNvCxnSpPr/>
          <p:nvPr/>
        </p:nvCxnSpPr>
        <p:spPr>
          <a:xfrm flipH="1">
            <a:off x="6175030" y="4509120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83"/>
          <p:cNvCxnSpPr/>
          <p:nvPr/>
        </p:nvCxnSpPr>
        <p:spPr>
          <a:xfrm>
            <a:off x="7740352" y="4365104"/>
            <a:ext cx="0" cy="12241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85"/>
          <p:cNvCxnSpPr/>
          <p:nvPr/>
        </p:nvCxnSpPr>
        <p:spPr>
          <a:xfrm flipH="1">
            <a:off x="5868144" y="5589240"/>
            <a:ext cx="187220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71"/>
          <p:cNvCxnSpPr/>
          <p:nvPr/>
        </p:nvCxnSpPr>
        <p:spPr>
          <a:xfrm flipH="1">
            <a:off x="7452320" y="4365104"/>
            <a:ext cx="288032" cy="83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83"/>
          <p:cNvCxnSpPr/>
          <p:nvPr/>
        </p:nvCxnSpPr>
        <p:spPr>
          <a:xfrm>
            <a:off x="5868144" y="4077072"/>
            <a:ext cx="0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59"/>
          <p:cNvCxnSpPr/>
          <p:nvPr/>
        </p:nvCxnSpPr>
        <p:spPr>
          <a:xfrm flipH="1">
            <a:off x="5868144" y="458112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6156176" y="4941168"/>
            <a:ext cx="792088" cy="288032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</a:rPr>
              <a:t>BP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Controler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Rectangle 134"/>
          <p:cNvSpPr>
            <a:spLocks noChangeArrowheads="1"/>
          </p:cNvSpPr>
          <p:nvPr/>
        </p:nvSpPr>
        <p:spPr bwMode="auto">
          <a:xfrm>
            <a:off x="8239506" y="3212976"/>
            <a:ext cx="292934" cy="22916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WBXX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128" name="直線矢印コネクタ 91"/>
          <p:cNvCxnSpPr/>
          <p:nvPr/>
        </p:nvCxnSpPr>
        <p:spPr>
          <a:xfrm flipH="1">
            <a:off x="7452320" y="3573016"/>
            <a:ext cx="79208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71"/>
          <p:cNvCxnSpPr/>
          <p:nvPr/>
        </p:nvCxnSpPr>
        <p:spPr>
          <a:xfrm flipH="1">
            <a:off x="8532440" y="4221088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83"/>
          <p:cNvCxnSpPr/>
          <p:nvPr/>
        </p:nvCxnSpPr>
        <p:spPr>
          <a:xfrm>
            <a:off x="8748464" y="4221088"/>
            <a:ext cx="0" cy="15121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85"/>
          <p:cNvCxnSpPr/>
          <p:nvPr/>
        </p:nvCxnSpPr>
        <p:spPr>
          <a:xfrm flipH="1">
            <a:off x="5796136" y="5733256"/>
            <a:ext cx="29523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83"/>
          <p:cNvCxnSpPr/>
          <p:nvPr/>
        </p:nvCxnSpPr>
        <p:spPr>
          <a:xfrm>
            <a:off x="5796136" y="3933056"/>
            <a:ext cx="0" cy="18085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矢印コネクタ 59"/>
          <p:cNvCxnSpPr/>
          <p:nvPr/>
        </p:nvCxnSpPr>
        <p:spPr>
          <a:xfrm flipH="1">
            <a:off x="5796136" y="4437112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59"/>
          <p:cNvCxnSpPr/>
          <p:nvPr/>
        </p:nvCxnSpPr>
        <p:spPr>
          <a:xfrm flipH="1">
            <a:off x="5796136" y="3933056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39"/>
          <p:cNvCxnSpPr/>
          <p:nvPr/>
        </p:nvCxnSpPr>
        <p:spPr>
          <a:xfrm flipH="1">
            <a:off x="3851920" y="4077072"/>
            <a:ext cx="151216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3"/>
          <p:cNvSpPr>
            <a:spLocks noChangeArrowheads="1"/>
          </p:cNvSpPr>
          <p:nvPr/>
        </p:nvSpPr>
        <p:spPr bwMode="auto">
          <a:xfrm>
            <a:off x="6156176" y="1988840"/>
            <a:ext cx="648072" cy="12961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DATA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108" name="直線矢印コネクタ 91"/>
          <p:cNvCxnSpPr/>
          <p:nvPr/>
        </p:nvCxnSpPr>
        <p:spPr>
          <a:xfrm flipH="1">
            <a:off x="6804248" y="2708920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91"/>
          <p:cNvCxnSpPr/>
          <p:nvPr/>
        </p:nvCxnSpPr>
        <p:spPr>
          <a:xfrm flipH="1">
            <a:off x="5652120" y="2708870"/>
            <a:ext cx="504056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グループ化 93"/>
          <p:cNvGrpSpPr/>
          <p:nvPr/>
        </p:nvGrpSpPr>
        <p:grpSpPr>
          <a:xfrm>
            <a:off x="750675" y="4293096"/>
            <a:ext cx="360039" cy="720080"/>
            <a:chOff x="1187625" y="3356992"/>
            <a:chExt cx="228600" cy="541956"/>
          </a:xfrm>
        </p:grpSpPr>
        <p:sp>
          <p:nvSpPr>
            <p:cNvPr id="107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111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rgbClr val="FF0000"/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114" name="直線矢印コネクタ 97"/>
          <p:cNvCxnSpPr/>
          <p:nvPr/>
        </p:nvCxnSpPr>
        <p:spPr>
          <a:xfrm flipH="1">
            <a:off x="174610" y="4437087"/>
            <a:ext cx="576064" cy="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97"/>
          <p:cNvCxnSpPr/>
          <p:nvPr/>
        </p:nvCxnSpPr>
        <p:spPr>
          <a:xfrm flipH="1">
            <a:off x="174610" y="4869135"/>
            <a:ext cx="576064" cy="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コネクタ 100"/>
          <p:cNvCxnSpPr/>
          <p:nvPr/>
        </p:nvCxnSpPr>
        <p:spPr>
          <a:xfrm>
            <a:off x="174610" y="4869160"/>
            <a:ext cx="0" cy="9361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99"/>
          <p:cNvCxnSpPr/>
          <p:nvPr/>
        </p:nvCxnSpPr>
        <p:spPr>
          <a:xfrm flipH="1">
            <a:off x="179512" y="5805264"/>
            <a:ext cx="38164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00"/>
          <p:cNvCxnSpPr/>
          <p:nvPr/>
        </p:nvCxnSpPr>
        <p:spPr>
          <a:xfrm>
            <a:off x="3995936" y="5445224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コネクタ 99"/>
          <p:cNvCxnSpPr/>
          <p:nvPr/>
        </p:nvCxnSpPr>
        <p:spPr>
          <a:xfrm flipH="1">
            <a:off x="3851920" y="5445224"/>
            <a:ext cx="1440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390634" y="5589240"/>
            <a:ext cx="720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左移</a:t>
            </a:r>
            <a:r>
              <a:rPr lang="en-US" altLang="zh-CN" sz="900" dirty="0" smtClean="0"/>
              <a:t>1</a:t>
            </a:r>
            <a:r>
              <a:rPr lang="zh-CN" altLang="en-US" sz="900" dirty="0" smtClean="0"/>
              <a:t>位</a:t>
            </a:r>
            <a:endParaRPr lang="zh-CN" altLang="en-US" sz="900" dirty="0"/>
          </a:p>
        </p:txBody>
      </p:sp>
      <p:sp>
        <p:nvSpPr>
          <p:cNvPr id="144" name="TextBox 143"/>
          <p:cNvSpPr txBox="1"/>
          <p:nvPr/>
        </p:nvSpPr>
        <p:spPr>
          <a:xfrm>
            <a:off x="1475656" y="4005064"/>
            <a:ext cx="169277" cy="339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/>
              <a:t>mux</a:t>
            </a:r>
            <a:endParaRPr lang="zh-CN" altLang="en-US" sz="1100" dirty="0"/>
          </a:p>
        </p:txBody>
      </p:sp>
      <p:cxnSp>
        <p:nvCxnSpPr>
          <p:cNvPr id="156" name="直線矢印コネクタ 102"/>
          <p:cNvCxnSpPr/>
          <p:nvPr/>
        </p:nvCxnSpPr>
        <p:spPr>
          <a:xfrm flipH="1">
            <a:off x="1331640" y="4149080"/>
            <a:ext cx="144016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1331640" y="4149080"/>
            <a:ext cx="0" cy="43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1331640" y="3789040"/>
            <a:ext cx="0" cy="288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>
            <a:off x="1115616" y="4581128"/>
            <a:ext cx="2160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>
            <a:off x="1115616" y="3789040"/>
            <a:ext cx="2160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02"/>
          <p:cNvCxnSpPr/>
          <p:nvPr/>
        </p:nvCxnSpPr>
        <p:spPr>
          <a:xfrm flipH="1">
            <a:off x="1619672" y="4149080"/>
            <a:ext cx="14401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02"/>
          <p:cNvCxnSpPr/>
          <p:nvPr/>
        </p:nvCxnSpPr>
        <p:spPr>
          <a:xfrm flipH="1">
            <a:off x="1403648" y="4221088"/>
            <a:ext cx="72008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コネクタ 100"/>
          <p:cNvCxnSpPr/>
          <p:nvPr/>
        </p:nvCxnSpPr>
        <p:spPr>
          <a:xfrm>
            <a:off x="1403648" y="4221088"/>
            <a:ext cx="0" cy="15121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コネクタ 99"/>
          <p:cNvCxnSpPr/>
          <p:nvPr/>
        </p:nvCxnSpPr>
        <p:spPr>
          <a:xfrm flipH="1">
            <a:off x="1403648" y="5733256"/>
            <a:ext cx="25202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コネクタ 99"/>
          <p:cNvCxnSpPr/>
          <p:nvPr/>
        </p:nvCxnSpPr>
        <p:spPr>
          <a:xfrm flipH="1">
            <a:off x="3851920" y="5517232"/>
            <a:ext cx="720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コネクタ 100"/>
          <p:cNvCxnSpPr/>
          <p:nvPr/>
        </p:nvCxnSpPr>
        <p:spPr>
          <a:xfrm>
            <a:off x="3923928" y="5517232"/>
            <a:ext cx="0" cy="2160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2483768" y="5517232"/>
            <a:ext cx="720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左移</a:t>
            </a:r>
            <a:r>
              <a:rPr lang="en-US" altLang="zh-CN" sz="900" dirty="0" smtClean="0"/>
              <a:t>1</a:t>
            </a:r>
            <a:r>
              <a:rPr lang="zh-CN" altLang="en-US" sz="900" dirty="0" smtClean="0"/>
              <a:t>位</a:t>
            </a:r>
            <a:endParaRPr lang="zh-CN" altLang="en-US" sz="900" dirty="0"/>
          </a:p>
        </p:txBody>
      </p:sp>
      <p:sp>
        <p:nvSpPr>
          <p:cNvPr id="116" name="TextBox 139"/>
          <p:cNvSpPr txBox="1"/>
          <p:nvPr/>
        </p:nvSpPr>
        <p:spPr>
          <a:xfrm>
            <a:off x="3491880" y="1974032"/>
            <a:ext cx="86409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dirty="0" err="1" smtClean="0">
                <a:solidFill>
                  <a:srgbClr val="FF0000"/>
                </a:solidFill>
              </a:rPr>
              <a:t>IFDC_Flush</a:t>
            </a:r>
            <a:endParaRPr lang="zh-CN" altLang="en-US" sz="900" dirty="0">
              <a:solidFill>
                <a:srgbClr val="FF0000"/>
              </a:solidFill>
            </a:endParaRPr>
          </a:p>
        </p:txBody>
      </p:sp>
      <p:cxnSp>
        <p:nvCxnSpPr>
          <p:cNvPr id="121" name="直接箭头连接符 120"/>
          <p:cNvCxnSpPr/>
          <p:nvPr/>
        </p:nvCxnSpPr>
        <p:spPr>
          <a:xfrm>
            <a:off x="3695135" y="2204864"/>
            <a:ext cx="0" cy="10081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WAIT</a:t>
            </a: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指令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3083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8532440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7668344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308304" y="6021288"/>
            <a:ext cx="28803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100392" y="6021288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270892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>
            <a:stCxn id="297" idx="1"/>
          </p:cNvCxnSpPr>
          <p:nvPr/>
        </p:nvCxnSpPr>
        <p:spPr>
          <a:xfrm flipH="1">
            <a:off x="2051720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376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IFDC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16"/>
          <p:cNvSpPr>
            <a:spLocks noChangeArrowheads="1"/>
          </p:cNvSpPr>
          <p:nvPr/>
        </p:nvSpPr>
        <p:spPr bwMode="auto">
          <a:xfrm>
            <a:off x="4211960" y="3428802"/>
            <a:ext cx="792088" cy="5762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ja-JP" sz="1400" dirty="0">
                <a:latin typeface="Times New Roman" pitchFamily="18" charset="0"/>
              </a:rPr>
              <a:t>Decoder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flipH="1">
            <a:off x="3851920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34"/>
          <p:cNvSpPr>
            <a:spLocks noChangeArrowheads="1"/>
          </p:cNvSpPr>
          <p:nvPr/>
        </p:nvSpPr>
        <p:spPr bwMode="auto">
          <a:xfrm>
            <a:off x="5359186" y="2132856"/>
            <a:ext cx="292934" cy="3384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DCEX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flipH="1">
            <a:off x="5004048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50"/>
          <p:cNvGrpSpPr/>
          <p:nvPr/>
        </p:nvGrpSpPr>
        <p:grpSpPr>
          <a:xfrm>
            <a:off x="6308725" y="3789040"/>
            <a:ext cx="567531" cy="875878"/>
            <a:chOff x="6308725" y="4055318"/>
            <a:chExt cx="228600" cy="609600"/>
          </a:xfrm>
        </p:grpSpPr>
        <p:sp>
          <p:nvSpPr>
            <p:cNvPr id="53" name="Freeform 32"/>
            <p:cNvSpPr>
              <a:spLocks/>
            </p:cNvSpPr>
            <p:nvPr/>
          </p:nvSpPr>
          <p:spPr bwMode="auto">
            <a:xfrm rot="16200000">
              <a:off x="6118225" y="4245818"/>
              <a:ext cx="6096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600"/>
            </a:p>
          </p:txBody>
        </p:sp>
        <p:sp>
          <p:nvSpPr>
            <p:cNvPr id="54" name="Text Box 34"/>
            <p:cNvSpPr txBox="1">
              <a:spLocks noChangeArrowheads="1"/>
            </p:cNvSpPr>
            <p:nvPr/>
          </p:nvSpPr>
          <p:spPr bwMode="auto">
            <a:xfrm rot="5400000">
              <a:off x="6219825" y="4274471"/>
              <a:ext cx="431800" cy="136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6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ALU</a:t>
              </a:r>
            </a:p>
          </p:txBody>
        </p:sp>
      </p:grpSp>
      <p:cxnSp>
        <p:nvCxnSpPr>
          <p:cNvPr id="56" name="直線矢印コネクタ 55"/>
          <p:cNvCxnSpPr/>
          <p:nvPr/>
        </p:nvCxnSpPr>
        <p:spPr>
          <a:xfrm flipH="1">
            <a:off x="5652120" y="3861048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 flipH="1">
            <a:off x="5868144" y="4077072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34"/>
          <p:cNvSpPr>
            <a:spLocks noChangeArrowheads="1"/>
          </p:cNvSpPr>
          <p:nvPr/>
        </p:nvSpPr>
        <p:spPr bwMode="auto">
          <a:xfrm>
            <a:off x="7159386" y="1988840"/>
            <a:ext cx="292934" cy="35283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EX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65" name="直線矢印コネクタ 64"/>
          <p:cNvCxnSpPr/>
          <p:nvPr/>
        </p:nvCxnSpPr>
        <p:spPr>
          <a:xfrm flipH="1">
            <a:off x="6876256" y="4221088"/>
            <a:ext cx="28803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/>
          <p:cNvCxnSpPr/>
          <p:nvPr/>
        </p:nvCxnSpPr>
        <p:spPr>
          <a:xfrm flipH="1">
            <a:off x="7452320" y="4221088"/>
            <a:ext cx="4320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13"/>
          <p:cNvSpPr>
            <a:spLocks noChangeArrowheads="1"/>
          </p:cNvSpPr>
          <p:nvPr/>
        </p:nvSpPr>
        <p:spPr bwMode="auto">
          <a:xfrm>
            <a:off x="4211960" y="4517504"/>
            <a:ext cx="792088" cy="9997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Register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File(GPR)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78" name="直線矢印コネクタ 77"/>
          <p:cNvCxnSpPr/>
          <p:nvPr/>
        </p:nvCxnSpPr>
        <p:spPr>
          <a:xfrm flipH="1">
            <a:off x="5004048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/>
          <p:cNvCxnSpPr/>
          <p:nvPr/>
        </p:nvCxnSpPr>
        <p:spPr>
          <a:xfrm flipH="1">
            <a:off x="3851920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>
            <a:off x="7884368" y="4221088"/>
            <a:ext cx="0" cy="1440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 flipH="1">
            <a:off x="4067944" y="5661248"/>
            <a:ext cx="38164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V="1">
            <a:off x="4067944" y="5301208"/>
            <a:ext cx="0" cy="3600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/>
          <p:cNvCxnSpPr/>
          <p:nvPr/>
        </p:nvCxnSpPr>
        <p:spPr>
          <a:xfrm flipH="1">
            <a:off x="3851920" y="479715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/>
          <p:cNvCxnSpPr/>
          <p:nvPr/>
        </p:nvCxnSpPr>
        <p:spPr>
          <a:xfrm>
            <a:off x="4067944" y="530120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flipH="1">
            <a:off x="5652120" y="3573016"/>
            <a:ext cx="1512168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134"/>
          <p:cNvSpPr>
            <a:spLocks noChangeArrowheads="1"/>
          </p:cNvSpPr>
          <p:nvPr/>
        </p:nvSpPr>
        <p:spPr bwMode="auto">
          <a:xfrm>
            <a:off x="1763688" y="3212976"/>
            <a:ext cx="288032" cy="244827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PC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grpSp>
        <p:nvGrpSpPr>
          <p:cNvPr id="3" name="グループ化 93"/>
          <p:cNvGrpSpPr/>
          <p:nvPr/>
        </p:nvGrpSpPr>
        <p:grpSpPr>
          <a:xfrm>
            <a:off x="750673" y="3356992"/>
            <a:ext cx="360041" cy="720080"/>
            <a:chOff x="1187625" y="3356992"/>
            <a:chExt cx="228600" cy="541956"/>
          </a:xfrm>
        </p:grpSpPr>
        <p:sp>
          <p:nvSpPr>
            <p:cNvPr id="95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96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97" name="直線矢印コネクタ 96"/>
          <p:cNvCxnSpPr/>
          <p:nvPr/>
        </p:nvCxnSpPr>
        <p:spPr>
          <a:xfrm flipH="1">
            <a:off x="390634" y="3501008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/>
          <p:cNvCxnSpPr/>
          <p:nvPr/>
        </p:nvCxnSpPr>
        <p:spPr>
          <a:xfrm flipH="1">
            <a:off x="174610" y="3933031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 flipV="1">
            <a:off x="2195736" y="2852936"/>
            <a:ext cx="0" cy="8640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/>
          <p:cNvCxnSpPr/>
          <p:nvPr/>
        </p:nvCxnSpPr>
        <p:spPr>
          <a:xfrm flipH="1">
            <a:off x="179512" y="2852936"/>
            <a:ext cx="20162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>
            <a:off x="179512" y="2852936"/>
            <a:ext cx="0" cy="15841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Box 228"/>
          <p:cNvSpPr txBox="1">
            <a:spLocks noChangeArrowheads="1"/>
          </p:cNvSpPr>
          <p:nvPr/>
        </p:nvSpPr>
        <p:spPr bwMode="auto">
          <a:xfrm>
            <a:off x="107504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103" name="直線矢印コネクタ 102"/>
          <p:cNvCxnSpPr/>
          <p:nvPr/>
        </p:nvCxnSpPr>
        <p:spPr>
          <a:xfrm flipH="1">
            <a:off x="1331640" y="4077072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形状 75"/>
          <p:cNvCxnSpPr/>
          <p:nvPr/>
        </p:nvCxnSpPr>
        <p:spPr>
          <a:xfrm>
            <a:off x="5652120" y="3645024"/>
            <a:ext cx="971900" cy="24665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012160" y="3809885"/>
            <a:ext cx="169277" cy="3391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4" name="直線矢印コネクタ 55"/>
          <p:cNvCxnSpPr/>
          <p:nvPr/>
        </p:nvCxnSpPr>
        <p:spPr>
          <a:xfrm flipH="1">
            <a:off x="6165603" y="4005064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55"/>
          <p:cNvCxnSpPr/>
          <p:nvPr/>
        </p:nvCxnSpPr>
        <p:spPr>
          <a:xfrm flipH="1">
            <a:off x="5652120" y="4365104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6012160" y="4313941"/>
            <a:ext cx="169277" cy="3391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2" name="直線矢印コネクタ 55"/>
          <p:cNvCxnSpPr/>
          <p:nvPr/>
        </p:nvCxnSpPr>
        <p:spPr>
          <a:xfrm flipH="1">
            <a:off x="6175030" y="4509120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83"/>
          <p:cNvCxnSpPr/>
          <p:nvPr/>
        </p:nvCxnSpPr>
        <p:spPr>
          <a:xfrm>
            <a:off x="7740352" y="4365104"/>
            <a:ext cx="0" cy="12241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85"/>
          <p:cNvCxnSpPr/>
          <p:nvPr/>
        </p:nvCxnSpPr>
        <p:spPr>
          <a:xfrm flipH="1">
            <a:off x="5868144" y="5589240"/>
            <a:ext cx="187220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71"/>
          <p:cNvCxnSpPr/>
          <p:nvPr/>
        </p:nvCxnSpPr>
        <p:spPr>
          <a:xfrm flipH="1">
            <a:off x="7452320" y="4365104"/>
            <a:ext cx="288032" cy="83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83"/>
          <p:cNvCxnSpPr/>
          <p:nvPr/>
        </p:nvCxnSpPr>
        <p:spPr>
          <a:xfrm>
            <a:off x="5868144" y="4077072"/>
            <a:ext cx="0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59"/>
          <p:cNvCxnSpPr/>
          <p:nvPr/>
        </p:nvCxnSpPr>
        <p:spPr>
          <a:xfrm flipH="1">
            <a:off x="5868144" y="458112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6156176" y="4941168"/>
            <a:ext cx="792088" cy="288032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</a:rPr>
              <a:t>BP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Controler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Rectangle 134"/>
          <p:cNvSpPr>
            <a:spLocks noChangeArrowheads="1"/>
          </p:cNvSpPr>
          <p:nvPr/>
        </p:nvSpPr>
        <p:spPr bwMode="auto">
          <a:xfrm>
            <a:off x="8239506" y="3212976"/>
            <a:ext cx="292934" cy="22916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WBXX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128" name="直線矢印コネクタ 91"/>
          <p:cNvCxnSpPr/>
          <p:nvPr/>
        </p:nvCxnSpPr>
        <p:spPr>
          <a:xfrm flipH="1">
            <a:off x="7452320" y="3573016"/>
            <a:ext cx="79208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71"/>
          <p:cNvCxnSpPr/>
          <p:nvPr/>
        </p:nvCxnSpPr>
        <p:spPr>
          <a:xfrm flipH="1">
            <a:off x="8532440" y="4221088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83"/>
          <p:cNvCxnSpPr/>
          <p:nvPr/>
        </p:nvCxnSpPr>
        <p:spPr>
          <a:xfrm>
            <a:off x="8748464" y="4221088"/>
            <a:ext cx="0" cy="15121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85"/>
          <p:cNvCxnSpPr/>
          <p:nvPr/>
        </p:nvCxnSpPr>
        <p:spPr>
          <a:xfrm flipH="1">
            <a:off x="5796136" y="5733256"/>
            <a:ext cx="29523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83"/>
          <p:cNvCxnSpPr/>
          <p:nvPr/>
        </p:nvCxnSpPr>
        <p:spPr>
          <a:xfrm>
            <a:off x="5796136" y="3933056"/>
            <a:ext cx="0" cy="18085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矢印コネクタ 59"/>
          <p:cNvCxnSpPr/>
          <p:nvPr/>
        </p:nvCxnSpPr>
        <p:spPr>
          <a:xfrm flipH="1">
            <a:off x="5796136" y="4437112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59"/>
          <p:cNvCxnSpPr/>
          <p:nvPr/>
        </p:nvCxnSpPr>
        <p:spPr>
          <a:xfrm flipH="1">
            <a:off x="5796136" y="3933056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39"/>
          <p:cNvCxnSpPr/>
          <p:nvPr/>
        </p:nvCxnSpPr>
        <p:spPr>
          <a:xfrm flipH="1">
            <a:off x="3851920" y="4077072"/>
            <a:ext cx="151216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3"/>
          <p:cNvSpPr>
            <a:spLocks noChangeArrowheads="1"/>
          </p:cNvSpPr>
          <p:nvPr/>
        </p:nvSpPr>
        <p:spPr bwMode="auto">
          <a:xfrm>
            <a:off x="6156176" y="1988840"/>
            <a:ext cx="648072" cy="12961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DATA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108" name="直線矢印コネクタ 91"/>
          <p:cNvCxnSpPr/>
          <p:nvPr/>
        </p:nvCxnSpPr>
        <p:spPr>
          <a:xfrm flipH="1">
            <a:off x="6804248" y="2708920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91"/>
          <p:cNvCxnSpPr/>
          <p:nvPr/>
        </p:nvCxnSpPr>
        <p:spPr>
          <a:xfrm flipH="1">
            <a:off x="5652120" y="2708870"/>
            <a:ext cx="504056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グループ化 93"/>
          <p:cNvGrpSpPr/>
          <p:nvPr/>
        </p:nvGrpSpPr>
        <p:grpSpPr>
          <a:xfrm>
            <a:off x="750675" y="4293094"/>
            <a:ext cx="360039" cy="720081"/>
            <a:chOff x="1187625" y="3356992"/>
            <a:chExt cx="228600" cy="541957"/>
          </a:xfrm>
        </p:grpSpPr>
        <p:sp>
          <p:nvSpPr>
            <p:cNvPr id="107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49622"/>
              <a:ext cx="503237" cy="195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111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14" name="直線矢印コネクタ 97"/>
          <p:cNvCxnSpPr/>
          <p:nvPr/>
        </p:nvCxnSpPr>
        <p:spPr>
          <a:xfrm flipH="1">
            <a:off x="174610" y="4437087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97"/>
          <p:cNvCxnSpPr/>
          <p:nvPr/>
        </p:nvCxnSpPr>
        <p:spPr>
          <a:xfrm flipH="1">
            <a:off x="174610" y="4869135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コネクタ 100"/>
          <p:cNvCxnSpPr/>
          <p:nvPr/>
        </p:nvCxnSpPr>
        <p:spPr>
          <a:xfrm>
            <a:off x="174610" y="4869160"/>
            <a:ext cx="0" cy="9361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99"/>
          <p:cNvCxnSpPr/>
          <p:nvPr/>
        </p:nvCxnSpPr>
        <p:spPr>
          <a:xfrm flipH="1">
            <a:off x="179512" y="5805264"/>
            <a:ext cx="38164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00"/>
          <p:cNvCxnSpPr/>
          <p:nvPr/>
        </p:nvCxnSpPr>
        <p:spPr>
          <a:xfrm>
            <a:off x="3995936" y="5445224"/>
            <a:ext cx="0" cy="3600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コネクタ 99"/>
          <p:cNvCxnSpPr/>
          <p:nvPr/>
        </p:nvCxnSpPr>
        <p:spPr>
          <a:xfrm flipH="1">
            <a:off x="3851920" y="5445224"/>
            <a:ext cx="14401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390634" y="5589240"/>
            <a:ext cx="720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左移</a:t>
            </a:r>
            <a:r>
              <a:rPr lang="en-US" altLang="zh-CN" sz="900" dirty="0" smtClean="0"/>
              <a:t>1</a:t>
            </a:r>
            <a:r>
              <a:rPr lang="zh-CN" altLang="en-US" sz="900" dirty="0" smtClean="0"/>
              <a:t>位</a:t>
            </a:r>
            <a:endParaRPr lang="zh-CN" altLang="en-US" sz="900" dirty="0"/>
          </a:p>
        </p:txBody>
      </p:sp>
      <p:sp>
        <p:nvSpPr>
          <p:cNvPr id="144" name="TextBox 143"/>
          <p:cNvSpPr txBox="1"/>
          <p:nvPr/>
        </p:nvSpPr>
        <p:spPr>
          <a:xfrm>
            <a:off x="1475656" y="4005064"/>
            <a:ext cx="169277" cy="3391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6" name="直線矢印コネクタ 102"/>
          <p:cNvCxnSpPr/>
          <p:nvPr/>
        </p:nvCxnSpPr>
        <p:spPr>
          <a:xfrm flipH="1">
            <a:off x="1331640" y="4149080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1331640" y="4149080"/>
            <a:ext cx="0" cy="4320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1331640" y="3789040"/>
            <a:ext cx="0" cy="288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>
            <a:off x="1115616" y="4581128"/>
            <a:ext cx="2160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>
            <a:off x="1115616" y="3789040"/>
            <a:ext cx="2160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02"/>
          <p:cNvCxnSpPr/>
          <p:nvPr/>
        </p:nvCxnSpPr>
        <p:spPr>
          <a:xfrm flipH="1">
            <a:off x="1619672" y="4149080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02"/>
          <p:cNvCxnSpPr/>
          <p:nvPr/>
        </p:nvCxnSpPr>
        <p:spPr>
          <a:xfrm flipH="1">
            <a:off x="1403648" y="4221088"/>
            <a:ext cx="7200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コネクタ 100"/>
          <p:cNvCxnSpPr/>
          <p:nvPr/>
        </p:nvCxnSpPr>
        <p:spPr>
          <a:xfrm>
            <a:off x="1403648" y="4221088"/>
            <a:ext cx="0" cy="15121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コネクタ 99"/>
          <p:cNvCxnSpPr/>
          <p:nvPr/>
        </p:nvCxnSpPr>
        <p:spPr>
          <a:xfrm flipH="1">
            <a:off x="1403648" y="5733256"/>
            <a:ext cx="25202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コネクタ 99"/>
          <p:cNvCxnSpPr/>
          <p:nvPr/>
        </p:nvCxnSpPr>
        <p:spPr>
          <a:xfrm flipH="1">
            <a:off x="3851920" y="5517232"/>
            <a:ext cx="7200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コネクタ 100"/>
          <p:cNvCxnSpPr/>
          <p:nvPr/>
        </p:nvCxnSpPr>
        <p:spPr>
          <a:xfrm>
            <a:off x="3923928" y="5517232"/>
            <a:ext cx="0" cy="2160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2483768" y="5517232"/>
            <a:ext cx="720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左移</a:t>
            </a:r>
            <a:r>
              <a:rPr lang="en-US" altLang="zh-CN" sz="900" dirty="0" smtClean="0"/>
              <a:t>1</a:t>
            </a:r>
            <a:r>
              <a:rPr lang="zh-CN" altLang="en-US" sz="900" dirty="0" smtClean="0"/>
              <a:t>位</a:t>
            </a:r>
            <a:endParaRPr lang="zh-CN" altLang="en-US" sz="900" dirty="0"/>
          </a:p>
        </p:txBody>
      </p:sp>
      <p:cxnSp>
        <p:nvCxnSpPr>
          <p:cNvPr id="121" name="直接箭头连接符 120"/>
          <p:cNvCxnSpPr/>
          <p:nvPr/>
        </p:nvCxnSpPr>
        <p:spPr>
          <a:xfrm>
            <a:off x="1907704" y="2204864"/>
            <a:ext cx="0" cy="10081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>
          <a:xfrm>
            <a:off x="3563888" y="2204864"/>
            <a:ext cx="0" cy="10081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691680" y="1916832"/>
            <a:ext cx="5040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dirty="0" smtClean="0">
                <a:solidFill>
                  <a:srgbClr val="FF0000"/>
                </a:solidFill>
              </a:rPr>
              <a:t>PC_W</a:t>
            </a:r>
            <a:endParaRPr lang="zh-CN" altLang="en-US" sz="900" dirty="0">
              <a:solidFill>
                <a:srgbClr val="FF0000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3203848" y="1974032"/>
            <a:ext cx="72008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dirty="0" smtClean="0">
                <a:solidFill>
                  <a:srgbClr val="FF0000"/>
                </a:solidFill>
              </a:rPr>
              <a:t>IFDC_W</a:t>
            </a:r>
            <a:endParaRPr lang="zh-CN" altLang="en-US" sz="900" dirty="0">
              <a:solidFill>
                <a:srgbClr val="FF0000"/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3633446" y="1974032"/>
            <a:ext cx="86409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dirty="0" err="1" smtClean="0">
                <a:solidFill>
                  <a:schemeClr val="bg1">
                    <a:lumMod val="50000"/>
                  </a:schemeClr>
                </a:solidFill>
              </a:rPr>
              <a:t>IFDC_Flush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4" name="直接箭头连接符 133"/>
          <p:cNvCxnSpPr/>
          <p:nvPr/>
        </p:nvCxnSpPr>
        <p:spPr>
          <a:xfrm>
            <a:off x="3836701" y="2204864"/>
            <a:ext cx="0" cy="10081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6512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Data Hazard(</a:t>
            </a: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写指令</a:t>
            </a: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)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472905"/>
              </p:ext>
            </p:extLst>
          </p:nvPr>
        </p:nvGraphicFramePr>
        <p:xfrm>
          <a:off x="557973" y="1412776"/>
          <a:ext cx="8190491" cy="482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Picture" r:id="rId5" imgW="5562720" imgH="3276720" progId="Word.Picture.8">
                  <p:embed/>
                </p:oleObj>
              </mc:Choice>
              <mc:Fallback>
                <p:oleObj name="Picture" r:id="rId5" imgW="5562720" imgH="3276720" progId="Word.Picture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73" y="1412776"/>
                        <a:ext cx="8190491" cy="48245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6512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Data Hazard(</a:t>
            </a: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写指令</a:t>
            </a: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)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048847"/>
              </p:ext>
            </p:extLst>
          </p:nvPr>
        </p:nvGraphicFramePr>
        <p:xfrm>
          <a:off x="557973" y="1412776"/>
          <a:ext cx="8190491" cy="482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Picture" r:id="rId5" imgW="5562720" imgH="3276720" progId="Word.Picture.8">
                  <p:embed/>
                </p:oleObj>
              </mc:Choice>
              <mc:Fallback>
                <p:oleObj name="Picture" r:id="rId5" imgW="5562720" imgH="327672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73" y="1412776"/>
                        <a:ext cx="8190491" cy="48245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102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6512" y="-26988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Data Hazard(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  <a:sym typeface="Arial" pitchFamily="34" charset="0"/>
              </a:rPr>
              <a:t>读</a:t>
            </a: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指令</a:t>
            </a:r>
            <a:r>
              <a:rPr lang="en-US" altLang="zh-CN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)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761725"/>
              </p:ext>
            </p:extLst>
          </p:nvPr>
        </p:nvGraphicFramePr>
        <p:xfrm>
          <a:off x="557973" y="1412776"/>
          <a:ext cx="8190491" cy="482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Picture" r:id="rId5" imgW="5562720" imgH="3276720" progId="Word.Picture.8">
                  <p:embed/>
                </p:oleObj>
              </mc:Choice>
              <mc:Fallback>
                <p:oleObj name="Picture" r:id="rId5" imgW="5562720" imgH="327672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73" y="1412776"/>
                        <a:ext cx="8190491" cy="48245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560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读写指令的</a:t>
            </a:r>
            <a:r>
              <a:rPr lang="en-US" altLang="zh-CN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bypass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66834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8892480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8028384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668344" y="6021288"/>
            <a:ext cx="28803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460432" y="6021288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270892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>
            <a:stCxn id="297" idx="1"/>
          </p:cNvCxnSpPr>
          <p:nvPr/>
        </p:nvCxnSpPr>
        <p:spPr>
          <a:xfrm flipH="1">
            <a:off x="2051720" y="3717032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376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IFDC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16"/>
          <p:cNvSpPr>
            <a:spLocks noChangeArrowheads="1"/>
          </p:cNvSpPr>
          <p:nvPr/>
        </p:nvSpPr>
        <p:spPr bwMode="auto">
          <a:xfrm>
            <a:off x="4211960" y="3428802"/>
            <a:ext cx="792088" cy="576262"/>
          </a:xfrm>
          <a:prstGeom prst="ellips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Decoder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flipH="1">
            <a:off x="3851920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34"/>
          <p:cNvSpPr>
            <a:spLocks noChangeArrowheads="1"/>
          </p:cNvSpPr>
          <p:nvPr/>
        </p:nvSpPr>
        <p:spPr bwMode="auto">
          <a:xfrm>
            <a:off x="5359186" y="2132856"/>
            <a:ext cx="292934" cy="3384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DCEX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flipH="1">
            <a:off x="5004048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50"/>
          <p:cNvGrpSpPr/>
          <p:nvPr/>
        </p:nvGrpSpPr>
        <p:grpSpPr>
          <a:xfrm>
            <a:off x="6308725" y="3789040"/>
            <a:ext cx="567531" cy="875878"/>
            <a:chOff x="6308725" y="4055318"/>
            <a:chExt cx="228600" cy="609600"/>
          </a:xfrm>
        </p:grpSpPr>
        <p:sp>
          <p:nvSpPr>
            <p:cNvPr id="53" name="Freeform 32"/>
            <p:cNvSpPr>
              <a:spLocks/>
            </p:cNvSpPr>
            <p:nvPr/>
          </p:nvSpPr>
          <p:spPr bwMode="auto">
            <a:xfrm rot="16200000">
              <a:off x="6118225" y="4245818"/>
              <a:ext cx="6096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600"/>
            </a:p>
          </p:txBody>
        </p:sp>
        <p:sp>
          <p:nvSpPr>
            <p:cNvPr id="54" name="Text Box 34"/>
            <p:cNvSpPr txBox="1">
              <a:spLocks noChangeArrowheads="1"/>
            </p:cNvSpPr>
            <p:nvPr/>
          </p:nvSpPr>
          <p:spPr bwMode="auto">
            <a:xfrm rot="5400000">
              <a:off x="6219825" y="4274471"/>
              <a:ext cx="431800" cy="136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6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ALU</a:t>
              </a:r>
            </a:p>
          </p:txBody>
        </p:sp>
      </p:grpSp>
      <p:cxnSp>
        <p:nvCxnSpPr>
          <p:cNvPr id="56" name="直線矢印コネクタ 55"/>
          <p:cNvCxnSpPr/>
          <p:nvPr/>
        </p:nvCxnSpPr>
        <p:spPr>
          <a:xfrm flipH="1">
            <a:off x="5652120" y="3861048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 flipH="1">
            <a:off x="5868144" y="4077072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34"/>
          <p:cNvSpPr>
            <a:spLocks noChangeArrowheads="1"/>
          </p:cNvSpPr>
          <p:nvPr/>
        </p:nvSpPr>
        <p:spPr bwMode="auto">
          <a:xfrm>
            <a:off x="7519426" y="1988840"/>
            <a:ext cx="292934" cy="35283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EX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72" name="直線矢印コネクタ 71"/>
          <p:cNvCxnSpPr/>
          <p:nvPr/>
        </p:nvCxnSpPr>
        <p:spPr>
          <a:xfrm flipH="1">
            <a:off x="7812360" y="4221088"/>
            <a:ext cx="4320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13"/>
          <p:cNvSpPr>
            <a:spLocks noChangeArrowheads="1"/>
          </p:cNvSpPr>
          <p:nvPr/>
        </p:nvSpPr>
        <p:spPr bwMode="auto">
          <a:xfrm>
            <a:off x="4211960" y="4517504"/>
            <a:ext cx="792088" cy="9997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Register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File(GPR)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78" name="直線矢印コネクタ 77"/>
          <p:cNvCxnSpPr/>
          <p:nvPr/>
        </p:nvCxnSpPr>
        <p:spPr>
          <a:xfrm flipH="1">
            <a:off x="5004048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/>
          <p:cNvCxnSpPr/>
          <p:nvPr/>
        </p:nvCxnSpPr>
        <p:spPr>
          <a:xfrm flipH="1">
            <a:off x="3851920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>
            <a:off x="8244408" y="4221088"/>
            <a:ext cx="0" cy="1440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 flipH="1">
            <a:off x="4067944" y="5661248"/>
            <a:ext cx="417646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V="1">
            <a:off x="4067944" y="5301208"/>
            <a:ext cx="0" cy="3600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/>
          <p:cNvCxnSpPr/>
          <p:nvPr/>
        </p:nvCxnSpPr>
        <p:spPr>
          <a:xfrm flipH="1">
            <a:off x="3851920" y="479715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/>
          <p:cNvCxnSpPr/>
          <p:nvPr/>
        </p:nvCxnSpPr>
        <p:spPr>
          <a:xfrm>
            <a:off x="4067944" y="530120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flipH="1">
            <a:off x="5652120" y="3573016"/>
            <a:ext cx="1872208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134"/>
          <p:cNvSpPr>
            <a:spLocks noChangeArrowheads="1"/>
          </p:cNvSpPr>
          <p:nvPr/>
        </p:nvSpPr>
        <p:spPr bwMode="auto">
          <a:xfrm>
            <a:off x="1763688" y="3212976"/>
            <a:ext cx="288032" cy="244827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PC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grpSp>
        <p:nvGrpSpPr>
          <p:cNvPr id="3" name="グループ化 93"/>
          <p:cNvGrpSpPr/>
          <p:nvPr/>
        </p:nvGrpSpPr>
        <p:grpSpPr>
          <a:xfrm>
            <a:off x="750673" y="3356992"/>
            <a:ext cx="360041" cy="720080"/>
            <a:chOff x="1187625" y="3356992"/>
            <a:chExt cx="228600" cy="541956"/>
          </a:xfrm>
        </p:grpSpPr>
        <p:sp>
          <p:nvSpPr>
            <p:cNvPr id="95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96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97" name="直線矢印コネクタ 96"/>
          <p:cNvCxnSpPr/>
          <p:nvPr/>
        </p:nvCxnSpPr>
        <p:spPr>
          <a:xfrm flipH="1">
            <a:off x="390634" y="3501008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/>
          <p:cNvCxnSpPr/>
          <p:nvPr/>
        </p:nvCxnSpPr>
        <p:spPr>
          <a:xfrm flipH="1">
            <a:off x="174610" y="3933031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 flipV="1">
            <a:off x="2195736" y="2852936"/>
            <a:ext cx="0" cy="8640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/>
          <p:cNvCxnSpPr/>
          <p:nvPr/>
        </p:nvCxnSpPr>
        <p:spPr>
          <a:xfrm flipH="1">
            <a:off x="179512" y="2852936"/>
            <a:ext cx="20162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>
            <a:off x="179512" y="2852936"/>
            <a:ext cx="0" cy="15841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Box 228"/>
          <p:cNvSpPr txBox="1">
            <a:spLocks noChangeArrowheads="1"/>
          </p:cNvSpPr>
          <p:nvPr/>
        </p:nvSpPr>
        <p:spPr bwMode="auto">
          <a:xfrm>
            <a:off x="107504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103" name="直線矢印コネクタ 102"/>
          <p:cNvCxnSpPr/>
          <p:nvPr/>
        </p:nvCxnSpPr>
        <p:spPr>
          <a:xfrm flipH="1">
            <a:off x="1331640" y="4077072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形状 75"/>
          <p:cNvCxnSpPr/>
          <p:nvPr/>
        </p:nvCxnSpPr>
        <p:spPr>
          <a:xfrm>
            <a:off x="5652120" y="3645024"/>
            <a:ext cx="971900" cy="24665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012160" y="3809885"/>
            <a:ext cx="169277" cy="3391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4" name="直線矢印コネクタ 55"/>
          <p:cNvCxnSpPr/>
          <p:nvPr/>
        </p:nvCxnSpPr>
        <p:spPr>
          <a:xfrm flipH="1">
            <a:off x="6165603" y="4005064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55"/>
          <p:cNvCxnSpPr/>
          <p:nvPr/>
        </p:nvCxnSpPr>
        <p:spPr>
          <a:xfrm flipH="1">
            <a:off x="5652120" y="4365104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6012160" y="4313941"/>
            <a:ext cx="169277" cy="3391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2" name="直線矢印コネクタ 55"/>
          <p:cNvCxnSpPr/>
          <p:nvPr/>
        </p:nvCxnSpPr>
        <p:spPr>
          <a:xfrm flipH="1">
            <a:off x="6175030" y="4509120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83"/>
          <p:cNvCxnSpPr/>
          <p:nvPr/>
        </p:nvCxnSpPr>
        <p:spPr>
          <a:xfrm>
            <a:off x="8100392" y="4365104"/>
            <a:ext cx="0" cy="12241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85"/>
          <p:cNvCxnSpPr/>
          <p:nvPr/>
        </p:nvCxnSpPr>
        <p:spPr>
          <a:xfrm flipH="1">
            <a:off x="5868144" y="5589240"/>
            <a:ext cx="22322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71"/>
          <p:cNvCxnSpPr/>
          <p:nvPr/>
        </p:nvCxnSpPr>
        <p:spPr>
          <a:xfrm flipH="1">
            <a:off x="7812360" y="4365104"/>
            <a:ext cx="288032" cy="83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83"/>
          <p:cNvCxnSpPr/>
          <p:nvPr/>
        </p:nvCxnSpPr>
        <p:spPr>
          <a:xfrm>
            <a:off x="5868144" y="2400043"/>
            <a:ext cx="0" cy="3189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59"/>
          <p:cNvCxnSpPr/>
          <p:nvPr/>
        </p:nvCxnSpPr>
        <p:spPr>
          <a:xfrm flipH="1">
            <a:off x="5868144" y="458112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6156176" y="4941168"/>
            <a:ext cx="792088" cy="288032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</a:rPr>
              <a:t>BP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Controler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Rectangle 134"/>
          <p:cNvSpPr>
            <a:spLocks noChangeArrowheads="1"/>
          </p:cNvSpPr>
          <p:nvPr/>
        </p:nvSpPr>
        <p:spPr bwMode="auto">
          <a:xfrm>
            <a:off x="8599546" y="1988840"/>
            <a:ext cx="292934" cy="35158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WBXX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128" name="直線矢印コネクタ 91"/>
          <p:cNvCxnSpPr/>
          <p:nvPr/>
        </p:nvCxnSpPr>
        <p:spPr>
          <a:xfrm flipH="1">
            <a:off x="7812360" y="3573016"/>
            <a:ext cx="79208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71"/>
          <p:cNvCxnSpPr/>
          <p:nvPr/>
        </p:nvCxnSpPr>
        <p:spPr>
          <a:xfrm flipH="1">
            <a:off x="8892480" y="4221088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83"/>
          <p:cNvCxnSpPr/>
          <p:nvPr/>
        </p:nvCxnSpPr>
        <p:spPr>
          <a:xfrm>
            <a:off x="9108504" y="4221088"/>
            <a:ext cx="0" cy="15121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85"/>
          <p:cNvCxnSpPr/>
          <p:nvPr/>
        </p:nvCxnSpPr>
        <p:spPr>
          <a:xfrm flipH="1">
            <a:off x="5796136" y="5733256"/>
            <a:ext cx="334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83"/>
          <p:cNvCxnSpPr/>
          <p:nvPr/>
        </p:nvCxnSpPr>
        <p:spPr>
          <a:xfrm>
            <a:off x="5796136" y="2256027"/>
            <a:ext cx="0" cy="34856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矢印コネクタ 59"/>
          <p:cNvCxnSpPr/>
          <p:nvPr/>
        </p:nvCxnSpPr>
        <p:spPr>
          <a:xfrm flipH="1">
            <a:off x="5796136" y="4437112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59"/>
          <p:cNvCxnSpPr/>
          <p:nvPr/>
        </p:nvCxnSpPr>
        <p:spPr>
          <a:xfrm flipH="1">
            <a:off x="5796136" y="3933056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39"/>
          <p:cNvCxnSpPr/>
          <p:nvPr/>
        </p:nvCxnSpPr>
        <p:spPr>
          <a:xfrm flipH="1">
            <a:off x="3851920" y="4077072"/>
            <a:ext cx="151216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3"/>
          <p:cNvSpPr>
            <a:spLocks noChangeArrowheads="1"/>
          </p:cNvSpPr>
          <p:nvPr/>
        </p:nvSpPr>
        <p:spPr bwMode="auto">
          <a:xfrm>
            <a:off x="6300192" y="1988840"/>
            <a:ext cx="504056" cy="12961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DATA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grpSp>
        <p:nvGrpSpPr>
          <p:cNvPr id="4" name="グループ化 93"/>
          <p:cNvGrpSpPr/>
          <p:nvPr/>
        </p:nvGrpSpPr>
        <p:grpSpPr>
          <a:xfrm>
            <a:off x="750675" y="4293094"/>
            <a:ext cx="360039" cy="720081"/>
            <a:chOff x="1187625" y="3356992"/>
            <a:chExt cx="228600" cy="541957"/>
          </a:xfrm>
        </p:grpSpPr>
        <p:sp>
          <p:nvSpPr>
            <p:cNvPr id="107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49622"/>
              <a:ext cx="503237" cy="195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111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14" name="直線矢印コネクタ 97"/>
          <p:cNvCxnSpPr/>
          <p:nvPr/>
        </p:nvCxnSpPr>
        <p:spPr>
          <a:xfrm flipH="1">
            <a:off x="174610" y="4437087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97"/>
          <p:cNvCxnSpPr/>
          <p:nvPr/>
        </p:nvCxnSpPr>
        <p:spPr>
          <a:xfrm flipH="1">
            <a:off x="174610" y="4869135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コネクタ 100"/>
          <p:cNvCxnSpPr/>
          <p:nvPr/>
        </p:nvCxnSpPr>
        <p:spPr>
          <a:xfrm>
            <a:off x="174610" y="4869160"/>
            <a:ext cx="0" cy="9361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99"/>
          <p:cNvCxnSpPr/>
          <p:nvPr/>
        </p:nvCxnSpPr>
        <p:spPr>
          <a:xfrm flipH="1">
            <a:off x="179512" y="5805264"/>
            <a:ext cx="38164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00"/>
          <p:cNvCxnSpPr/>
          <p:nvPr/>
        </p:nvCxnSpPr>
        <p:spPr>
          <a:xfrm>
            <a:off x="3995936" y="5445224"/>
            <a:ext cx="0" cy="3600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コネクタ 99"/>
          <p:cNvCxnSpPr/>
          <p:nvPr/>
        </p:nvCxnSpPr>
        <p:spPr>
          <a:xfrm flipH="1">
            <a:off x="3851920" y="5445224"/>
            <a:ext cx="14401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390634" y="5589240"/>
            <a:ext cx="720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左移</a:t>
            </a:r>
            <a:r>
              <a:rPr lang="en-US" altLang="zh-CN" sz="900" dirty="0" smtClean="0"/>
              <a:t>1</a:t>
            </a:r>
            <a:r>
              <a:rPr lang="zh-CN" altLang="en-US" sz="900" dirty="0" smtClean="0"/>
              <a:t>位</a:t>
            </a:r>
            <a:endParaRPr lang="zh-CN" altLang="en-US" sz="900" dirty="0"/>
          </a:p>
        </p:txBody>
      </p:sp>
      <p:sp>
        <p:nvSpPr>
          <p:cNvPr id="144" name="TextBox 143"/>
          <p:cNvSpPr txBox="1"/>
          <p:nvPr/>
        </p:nvSpPr>
        <p:spPr>
          <a:xfrm>
            <a:off x="1475656" y="4005064"/>
            <a:ext cx="169277" cy="3391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6" name="直線矢印コネクタ 102"/>
          <p:cNvCxnSpPr/>
          <p:nvPr/>
        </p:nvCxnSpPr>
        <p:spPr>
          <a:xfrm flipH="1">
            <a:off x="1331640" y="4149080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1331640" y="4149080"/>
            <a:ext cx="0" cy="4320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1331640" y="3789040"/>
            <a:ext cx="0" cy="288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>
            <a:off x="1115616" y="4581128"/>
            <a:ext cx="2160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>
            <a:off x="1115616" y="3789040"/>
            <a:ext cx="2160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02"/>
          <p:cNvCxnSpPr/>
          <p:nvPr/>
        </p:nvCxnSpPr>
        <p:spPr>
          <a:xfrm flipH="1">
            <a:off x="1619672" y="4149080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02"/>
          <p:cNvCxnSpPr/>
          <p:nvPr/>
        </p:nvCxnSpPr>
        <p:spPr>
          <a:xfrm flipH="1">
            <a:off x="1403648" y="4221088"/>
            <a:ext cx="7200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コネクタ 100"/>
          <p:cNvCxnSpPr/>
          <p:nvPr/>
        </p:nvCxnSpPr>
        <p:spPr>
          <a:xfrm>
            <a:off x="1403648" y="4221088"/>
            <a:ext cx="0" cy="15121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コネクタ 99"/>
          <p:cNvCxnSpPr/>
          <p:nvPr/>
        </p:nvCxnSpPr>
        <p:spPr>
          <a:xfrm flipH="1">
            <a:off x="1403648" y="5733256"/>
            <a:ext cx="25202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コネクタ 99"/>
          <p:cNvCxnSpPr/>
          <p:nvPr/>
        </p:nvCxnSpPr>
        <p:spPr>
          <a:xfrm flipH="1">
            <a:off x="3851920" y="5517232"/>
            <a:ext cx="7200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コネクタ 100"/>
          <p:cNvCxnSpPr/>
          <p:nvPr/>
        </p:nvCxnSpPr>
        <p:spPr>
          <a:xfrm>
            <a:off x="3923928" y="5517232"/>
            <a:ext cx="0" cy="2160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2483768" y="5517232"/>
            <a:ext cx="720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左移</a:t>
            </a:r>
            <a:r>
              <a:rPr lang="en-US" altLang="zh-CN" sz="900" dirty="0" smtClean="0"/>
              <a:t>1</a:t>
            </a:r>
            <a:r>
              <a:rPr lang="zh-CN" altLang="en-US" sz="900" dirty="0" smtClean="0"/>
              <a:t>位</a:t>
            </a:r>
            <a:endParaRPr lang="zh-CN" altLang="en-US" sz="900" dirty="0"/>
          </a:p>
        </p:txBody>
      </p:sp>
      <p:cxnSp>
        <p:nvCxnSpPr>
          <p:cNvPr id="121" name="直接箭头连接符 120"/>
          <p:cNvCxnSpPr/>
          <p:nvPr/>
        </p:nvCxnSpPr>
        <p:spPr>
          <a:xfrm>
            <a:off x="1907704" y="2204864"/>
            <a:ext cx="0" cy="10081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691680" y="1916832"/>
            <a:ext cx="5040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</a:rPr>
              <a:t>PC_W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4" name="直線矢印コネクタ 55"/>
          <p:cNvCxnSpPr/>
          <p:nvPr/>
        </p:nvCxnSpPr>
        <p:spPr>
          <a:xfrm flipH="1">
            <a:off x="5652120" y="2852936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矢印コネクタ 59"/>
          <p:cNvCxnSpPr/>
          <p:nvPr/>
        </p:nvCxnSpPr>
        <p:spPr>
          <a:xfrm flipH="1">
            <a:off x="5868144" y="3068960"/>
            <a:ext cx="144016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6012160" y="2801773"/>
            <a:ext cx="169277" cy="339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6" name="直線矢印コネクタ 55"/>
          <p:cNvCxnSpPr/>
          <p:nvPr/>
        </p:nvCxnSpPr>
        <p:spPr>
          <a:xfrm flipH="1">
            <a:off x="6165603" y="2996952"/>
            <a:ext cx="144017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矢印コネクタ 59"/>
          <p:cNvCxnSpPr/>
          <p:nvPr/>
        </p:nvCxnSpPr>
        <p:spPr>
          <a:xfrm flipH="1">
            <a:off x="5796136" y="2924944"/>
            <a:ext cx="21602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7236296" y="2996952"/>
            <a:ext cx="169277" cy="36004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66" name="直線矢印コネクタ 91"/>
          <p:cNvCxnSpPr/>
          <p:nvPr/>
        </p:nvCxnSpPr>
        <p:spPr>
          <a:xfrm flipH="1">
            <a:off x="7380312" y="314096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39"/>
          <p:cNvCxnSpPr/>
          <p:nvPr/>
        </p:nvCxnSpPr>
        <p:spPr>
          <a:xfrm flipH="1">
            <a:off x="7020272" y="3068960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71"/>
          <p:cNvCxnSpPr/>
          <p:nvPr/>
        </p:nvCxnSpPr>
        <p:spPr>
          <a:xfrm flipH="1">
            <a:off x="6804248" y="2636912"/>
            <a:ext cx="216024" cy="83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>
            <a:off x="7020272" y="2636912"/>
            <a:ext cx="0" cy="4320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矢印コネクタ 71"/>
          <p:cNvCxnSpPr/>
          <p:nvPr/>
        </p:nvCxnSpPr>
        <p:spPr>
          <a:xfrm flipH="1">
            <a:off x="6876256" y="4221088"/>
            <a:ext cx="144016" cy="83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>
            <a:off x="7020272" y="3284984"/>
            <a:ext cx="0" cy="9361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矢印コネクタ 39"/>
          <p:cNvCxnSpPr/>
          <p:nvPr/>
        </p:nvCxnSpPr>
        <p:spPr>
          <a:xfrm flipH="1">
            <a:off x="7020272" y="3284984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矢印コネクタ 55"/>
          <p:cNvCxnSpPr/>
          <p:nvPr/>
        </p:nvCxnSpPr>
        <p:spPr>
          <a:xfrm flipH="1">
            <a:off x="5652120" y="2184019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矢印コネクタ 59"/>
          <p:cNvCxnSpPr/>
          <p:nvPr/>
        </p:nvCxnSpPr>
        <p:spPr>
          <a:xfrm flipH="1">
            <a:off x="5868144" y="2400043"/>
            <a:ext cx="144016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6012160" y="2132856"/>
            <a:ext cx="169277" cy="339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2" name="直線矢印コネクタ 55"/>
          <p:cNvCxnSpPr/>
          <p:nvPr/>
        </p:nvCxnSpPr>
        <p:spPr>
          <a:xfrm flipH="1">
            <a:off x="6165603" y="2328035"/>
            <a:ext cx="144017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矢印コネクタ 59"/>
          <p:cNvCxnSpPr/>
          <p:nvPr/>
        </p:nvCxnSpPr>
        <p:spPr>
          <a:xfrm flipH="1">
            <a:off x="5796136" y="2256027"/>
            <a:ext cx="21602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>
            <a:off x="3563888" y="2204864"/>
            <a:ext cx="0" cy="10081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35"/>
          <p:cNvSpPr txBox="1"/>
          <p:nvPr/>
        </p:nvSpPr>
        <p:spPr>
          <a:xfrm>
            <a:off x="3203848" y="1974032"/>
            <a:ext cx="72008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</a:rPr>
              <a:t>IFDC_W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7" name="TextBox 139"/>
          <p:cNvSpPr txBox="1"/>
          <p:nvPr/>
        </p:nvSpPr>
        <p:spPr>
          <a:xfrm>
            <a:off x="3633446" y="1974032"/>
            <a:ext cx="86409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dirty="0" err="1" smtClean="0">
                <a:solidFill>
                  <a:schemeClr val="bg1">
                    <a:lumMod val="50000"/>
                  </a:schemeClr>
                </a:solidFill>
              </a:rPr>
              <a:t>IFDC_Flush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60" name="直接箭头连接符 159"/>
          <p:cNvCxnSpPr/>
          <p:nvPr/>
        </p:nvCxnSpPr>
        <p:spPr>
          <a:xfrm>
            <a:off x="3836701" y="2204864"/>
            <a:ext cx="0" cy="10081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读写指令的</a:t>
            </a:r>
            <a:r>
              <a:rPr lang="en-US" altLang="zh-CN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bypass</a:t>
            </a:r>
            <a:r>
              <a:rPr lang="zh-CN" altLang="en-US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（</a:t>
            </a:r>
            <a:r>
              <a:rPr lang="en-US" altLang="zh-CN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FPGA</a:t>
            </a:r>
            <a:r>
              <a:rPr lang="zh-CN" altLang="en-US" sz="20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版）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cxnSp>
        <p:nvCxnSpPr>
          <p:cNvPr id="247" name="直線コネクタ 246"/>
          <p:cNvCxnSpPr/>
          <p:nvPr/>
        </p:nvCxnSpPr>
        <p:spPr>
          <a:xfrm>
            <a:off x="1075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>
            <a:off x="19077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 Box 228"/>
          <p:cNvSpPr txBox="1">
            <a:spLocks noChangeArrowheads="1"/>
          </p:cNvSpPr>
          <p:nvPr/>
        </p:nvSpPr>
        <p:spPr bwMode="auto">
          <a:xfrm>
            <a:off x="7555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>
                <a:latin typeface="Times New Roman" pitchFamily="18" charset="0"/>
                <a:ea typeface="MS Mincho" pitchFamily="49" charset="-128"/>
              </a:rPr>
              <a:t>IA</a:t>
            </a:r>
            <a:endParaRPr lang="en-US" altLang="ja-JP" sz="1200" dirty="0"/>
          </a:p>
        </p:txBody>
      </p:sp>
      <p:cxnSp>
        <p:nvCxnSpPr>
          <p:cNvPr id="255" name="直線矢印コネクタ 254"/>
          <p:cNvCxnSpPr/>
          <p:nvPr/>
        </p:nvCxnSpPr>
        <p:spPr>
          <a:xfrm flipH="1">
            <a:off x="1075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矢印コネクタ 255"/>
          <p:cNvCxnSpPr/>
          <p:nvPr/>
        </p:nvCxnSpPr>
        <p:spPr>
          <a:xfrm flipH="1">
            <a:off x="11876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/>
          <p:cNvCxnSpPr/>
          <p:nvPr/>
        </p:nvCxnSpPr>
        <p:spPr>
          <a:xfrm>
            <a:off x="37079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 Box 228"/>
          <p:cNvSpPr txBox="1">
            <a:spLocks noChangeArrowheads="1"/>
          </p:cNvSpPr>
          <p:nvPr/>
        </p:nvSpPr>
        <p:spPr bwMode="auto">
          <a:xfrm>
            <a:off x="25557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I</a:t>
            </a:r>
            <a:r>
              <a:rPr lang="en-US" altLang="zh-CN" sz="1200" b="1" dirty="0" smtClean="0">
                <a:latin typeface="Times New Roman" pitchFamily="18" charset="0"/>
                <a:ea typeface="MS Mincho" pitchFamily="49" charset="-128"/>
              </a:rPr>
              <a:t>F</a:t>
            </a:r>
            <a:endParaRPr lang="en-US" altLang="ja-JP" sz="1200" dirty="0"/>
          </a:p>
        </p:txBody>
      </p:sp>
      <p:cxnSp>
        <p:nvCxnSpPr>
          <p:cNvPr id="275" name="直線矢印コネクタ 274"/>
          <p:cNvCxnSpPr/>
          <p:nvPr/>
        </p:nvCxnSpPr>
        <p:spPr>
          <a:xfrm flipH="1">
            <a:off x="19077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矢印コネクタ 275"/>
          <p:cNvCxnSpPr/>
          <p:nvPr/>
        </p:nvCxnSpPr>
        <p:spPr>
          <a:xfrm flipH="1">
            <a:off x="29878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コネクタ 276"/>
          <p:cNvCxnSpPr/>
          <p:nvPr/>
        </p:nvCxnSpPr>
        <p:spPr>
          <a:xfrm>
            <a:off x="550810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 Box 228"/>
          <p:cNvSpPr txBox="1">
            <a:spLocks noChangeArrowheads="1"/>
          </p:cNvSpPr>
          <p:nvPr/>
        </p:nvSpPr>
        <p:spPr bwMode="auto">
          <a:xfrm>
            <a:off x="43559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DC</a:t>
            </a:r>
            <a:endParaRPr lang="en-US" altLang="ja-JP" sz="1200" dirty="0"/>
          </a:p>
        </p:txBody>
      </p:sp>
      <p:cxnSp>
        <p:nvCxnSpPr>
          <p:cNvPr id="279" name="直線矢印コネクタ 278"/>
          <p:cNvCxnSpPr/>
          <p:nvPr/>
        </p:nvCxnSpPr>
        <p:spPr>
          <a:xfrm flipH="1">
            <a:off x="37079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矢印コネクタ 279"/>
          <p:cNvCxnSpPr/>
          <p:nvPr/>
        </p:nvCxnSpPr>
        <p:spPr>
          <a:xfrm flipH="1">
            <a:off x="478802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コネクタ 280"/>
          <p:cNvCxnSpPr/>
          <p:nvPr/>
        </p:nvCxnSpPr>
        <p:spPr>
          <a:xfrm>
            <a:off x="7668344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 Box 228"/>
          <p:cNvSpPr txBox="1">
            <a:spLocks noChangeArrowheads="1"/>
          </p:cNvSpPr>
          <p:nvPr/>
        </p:nvSpPr>
        <p:spPr bwMode="auto">
          <a:xfrm>
            <a:off x="6156176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EX</a:t>
            </a:r>
            <a:endParaRPr lang="en-US" altLang="ja-JP" sz="1200" dirty="0"/>
          </a:p>
        </p:txBody>
      </p:sp>
      <p:cxnSp>
        <p:nvCxnSpPr>
          <p:cNvPr id="283" name="直線矢印コネクタ 282"/>
          <p:cNvCxnSpPr/>
          <p:nvPr/>
        </p:nvCxnSpPr>
        <p:spPr>
          <a:xfrm flipH="1">
            <a:off x="5508104" y="6021288"/>
            <a:ext cx="72008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矢印コネクタ 283"/>
          <p:cNvCxnSpPr/>
          <p:nvPr/>
        </p:nvCxnSpPr>
        <p:spPr>
          <a:xfrm flipH="1">
            <a:off x="6588224" y="6021288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コネクタ 284"/>
          <p:cNvCxnSpPr/>
          <p:nvPr/>
        </p:nvCxnSpPr>
        <p:spPr>
          <a:xfrm>
            <a:off x="8892480" y="5877272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228"/>
          <p:cNvSpPr txBox="1">
            <a:spLocks noChangeArrowheads="1"/>
          </p:cNvSpPr>
          <p:nvPr/>
        </p:nvSpPr>
        <p:spPr bwMode="auto">
          <a:xfrm>
            <a:off x="8028384" y="5936704"/>
            <a:ext cx="499154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ja-JP" sz="1200" b="1" dirty="0" smtClean="0">
                <a:latin typeface="Times New Roman" pitchFamily="18" charset="0"/>
                <a:ea typeface="MS Mincho" pitchFamily="49" charset="-128"/>
              </a:rPr>
              <a:t>WB</a:t>
            </a:r>
            <a:endParaRPr lang="en-US" altLang="ja-JP" sz="1200" dirty="0"/>
          </a:p>
        </p:txBody>
      </p:sp>
      <p:cxnSp>
        <p:nvCxnSpPr>
          <p:cNvPr id="287" name="直線矢印コネクタ 286"/>
          <p:cNvCxnSpPr/>
          <p:nvPr/>
        </p:nvCxnSpPr>
        <p:spPr>
          <a:xfrm flipH="1">
            <a:off x="7668344" y="6021288"/>
            <a:ext cx="28803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矢印コネクタ 287"/>
          <p:cNvCxnSpPr/>
          <p:nvPr/>
        </p:nvCxnSpPr>
        <p:spPr>
          <a:xfrm flipH="1">
            <a:off x="8460432" y="6021288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13"/>
          <p:cNvSpPr>
            <a:spLocks noChangeArrowheads="1"/>
          </p:cNvSpPr>
          <p:nvPr/>
        </p:nvSpPr>
        <p:spPr bwMode="auto">
          <a:xfrm>
            <a:off x="2411760" y="1988840"/>
            <a:ext cx="792088" cy="20162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Instruction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298" name="直線矢印コネクタ 297"/>
          <p:cNvCxnSpPr/>
          <p:nvPr/>
        </p:nvCxnSpPr>
        <p:spPr>
          <a:xfrm flipH="1">
            <a:off x="1691680" y="2780928"/>
            <a:ext cx="720080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134"/>
          <p:cNvSpPr>
            <a:spLocks noChangeArrowheads="1"/>
          </p:cNvSpPr>
          <p:nvPr/>
        </p:nvSpPr>
        <p:spPr bwMode="auto">
          <a:xfrm>
            <a:off x="3563888" y="3212976"/>
            <a:ext cx="288032" cy="2376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IFDC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304" name="直線矢印コネクタ 303"/>
          <p:cNvCxnSpPr/>
          <p:nvPr/>
        </p:nvCxnSpPr>
        <p:spPr>
          <a:xfrm flipH="1">
            <a:off x="3203848" y="3717032"/>
            <a:ext cx="360040" cy="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16"/>
          <p:cNvSpPr>
            <a:spLocks noChangeArrowheads="1"/>
          </p:cNvSpPr>
          <p:nvPr/>
        </p:nvSpPr>
        <p:spPr bwMode="auto">
          <a:xfrm>
            <a:off x="4211960" y="3428802"/>
            <a:ext cx="792088" cy="576262"/>
          </a:xfrm>
          <a:prstGeom prst="ellips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Decoder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flipH="1">
            <a:off x="3851920" y="371703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/>
          <p:cNvCxnSpPr/>
          <p:nvPr/>
        </p:nvCxnSpPr>
        <p:spPr>
          <a:xfrm flipH="1" flipV="1">
            <a:off x="5004048" y="3717082"/>
            <a:ext cx="416497" cy="604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50"/>
          <p:cNvGrpSpPr/>
          <p:nvPr/>
        </p:nvGrpSpPr>
        <p:grpSpPr>
          <a:xfrm>
            <a:off x="6308725" y="3789040"/>
            <a:ext cx="567531" cy="875878"/>
            <a:chOff x="6308725" y="4055318"/>
            <a:chExt cx="228600" cy="609600"/>
          </a:xfrm>
        </p:grpSpPr>
        <p:sp>
          <p:nvSpPr>
            <p:cNvPr id="53" name="Freeform 32"/>
            <p:cNvSpPr>
              <a:spLocks/>
            </p:cNvSpPr>
            <p:nvPr/>
          </p:nvSpPr>
          <p:spPr bwMode="auto">
            <a:xfrm rot="16200000">
              <a:off x="6118225" y="4245818"/>
              <a:ext cx="6096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600"/>
            </a:p>
          </p:txBody>
        </p:sp>
        <p:sp>
          <p:nvSpPr>
            <p:cNvPr id="54" name="Text Box 34"/>
            <p:cNvSpPr txBox="1">
              <a:spLocks noChangeArrowheads="1"/>
            </p:cNvSpPr>
            <p:nvPr/>
          </p:nvSpPr>
          <p:spPr bwMode="auto">
            <a:xfrm rot="5400000">
              <a:off x="6219825" y="4274471"/>
              <a:ext cx="431800" cy="136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6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ALU</a:t>
              </a:r>
            </a:p>
          </p:txBody>
        </p:sp>
      </p:grpSp>
      <p:cxnSp>
        <p:nvCxnSpPr>
          <p:cNvPr id="56" name="直線矢印コネクタ 55"/>
          <p:cNvCxnSpPr/>
          <p:nvPr/>
        </p:nvCxnSpPr>
        <p:spPr>
          <a:xfrm flipH="1">
            <a:off x="5652120" y="3861048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 flipH="1">
            <a:off x="5868144" y="4077072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34"/>
          <p:cNvSpPr>
            <a:spLocks noChangeArrowheads="1"/>
          </p:cNvSpPr>
          <p:nvPr/>
        </p:nvSpPr>
        <p:spPr bwMode="auto">
          <a:xfrm>
            <a:off x="7519426" y="1988840"/>
            <a:ext cx="292934" cy="35283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EX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72" name="直線矢印コネクタ 71"/>
          <p:cNvCxnSpPr/>
          <p:nvPr/>
        </p:nvCxnSpPr>
        <p:spPr>
          <a:xfrm flipH="1">
            <a:off x="7812360" y="4221088"/>
            <a:ext cx="4320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13"/>
          <p:cNvSpPr>
            <a:spLocks noChangeArrowheads="1"/>
          </p:cNvSpPr>
          <p:nvPr/>
        </p:nvSpPr>
        <p:spPr bwMode="auto">
          <a:xfrm>
            <a:off x="4211960" y="4517504"/>
            <a:ext cx="792088" cy="9997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Register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File(GPR)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78" name="直線矢印コネクタ 77"/>
          <p:cNvCxnSpPr/>
          <p:nvPr/>
        </p:nvCxnSpPr>
        <p:spPr>
          <a:xfrm flipH="1">
            <a:off x="5004048" y="5021560"/>
            <a:ext cx="416497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/>
          <p:cNvCxnSpPr/>
          <p:nvPr/>
        </p:nvCxnSpPr>
        <p:spPr>
          <a:xfrm flipH="1">
            <a:off x="3851920" y="5021560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>
            <a:off x="8244408" y="4221088"/>
            <a:ext cx="0" cy="1440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 flipH="1">
            <a:off x="4067944" y="5661248"/>
            <a:ext cx="417646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V="1">
            <a:off x="4067944" y="5301208"/>
            <a:ext cx="0" cy="3600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/>
          <p:cNvCxnSpPr/>
          <p:nvPr/>
        </p:nvCxnSpPr>
        <p:spPr>
          <a:xfrm flipH="1">
            <a:off x="3851920" y="4797152"/>
            <a:ext cx="360040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/>
          <p:cNvCxnSpPr/>
          <p:nvPr/>
        </p:nvCxnSpPr>
        <p:spPr>
          <a:xfrm>
            <a:off x="4067944" y="530120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flipH="1">
            <a:off x="5652120" y="3573016"/>
            <a:ext cx="1872208" cy="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134"/>
          <p:cNvSpPr>
            <a:spLocks noChangeArrowheads="1"/>
          </p:cNvSpPr>
          <p:nvPr/>
        </p:nvSpPr>
        <p:spPr bwMode="auto">
          <a:xfrm>
            <a:off x="1835696" y="3212976"/>
            <a:ext cx="288032" cy="244827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PC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grpSp>
        <p:nvGrpSpPr>
          <p:cNvPr id="3" name="グループ化 93"/>
          <p:cNvGrpSpPr/>
          <p:nvPr/>
        </p:nvGrpSpPr>
        <p:grpSpPr>
          <a:xfrm>
            <a:off x="750673" y="3356992"/>
            <a:ext cx="360041" cy="720080"/>
            <a:chOff x="1187625" y="3356992"/>
            <a:chExt cx="228600" cy="541956"/>
          </a:xfrm>
        </p:grpSpPr>
        <p:sp>
          <p:nvSpPr>
            <p:cNvPr id="95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66541"/>
              <a:ext cx="503237" cy="161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96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/>
            </a:p>
          </p:txBody>
        </p:sp>
      </p:grpSp>
      <p:cxnSp>
        <p:nvCxnSpPr>
          <p:cNvPr id="97" name="直線矢印コネクタ 96"/>
          <p:cNvCxnSpPr/>
          <p:nvPr/>
        </p:nvCxnSpPr>
        <p:spPr>
          <a:xfrm flipH="1">
            <a:off x="390634" y="3501008"/>
            <a:ext cx="360040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/>
          <p:cNvCxnSpPr/>
          <p:nvPr/>
        </p:nvCxnSpPr>
        <p:spPr>
          <a:xfrm flipH="1">
            <a:off x="174610" y="3933031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 flipV="1">
            <a:off x="2267744" y="2852936"/>
            <a:ext cx="0" cy="158415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/>
          <p:cNvCxnSpPr/>
          <p:nvPr/>
        </p:nvCxnSpPr>
        <p:spPr>
          <a:xfrm flipH="1">
            <a:off x="179512" y="2852936"/>
            <a:ext cx="208823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>
            <a:off x="179512" y="2852936"/>
            <a:ext cx="0" cy="15841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Box 228"/>
          <p:cNvSpPr txBox="1">
            <a:spLocks noChangeArrowheads="1"/>
          </p:cNvSpPr>
          <p:nvPr/>
        </p:nvSpPr>
        <p:spPr bwMode="auto">
          <a:xfrm>
            <a:off x="107504" y="3284984"/>
            <a:ext cx="64317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/>
          <a:p>
            <a:pPr algn="ctr"/>
            <a:r>
              <a:rPr lang="en-US" altLang="zh-CN" sz="1200" dirty="0" smtClean="0"/>
              <a:t>2</a:t>
            </a:r>
            <a:endParaRPr lang="en-US" altLang="ja-JP" sz="1200" dirty="0"/>
          </a:p>
        </p:txBody>
      </p:sp>
      <p:cxnSp>
        <p:nvCxnSpPr>
          <p:cNvPr id="103" name="直線矢印コネクタ 102"/>
          <p:cNvCxnSpPr/>
          <p:nvPr/>
        </p:nvCxnSpPr>
        <p:spPr>
          <a:xfrm flipH="1">
            <a:off x="1331640" y="4077072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形状 75"/>
          <p:cNvCxnSpPr/>
          <p:nvPr/>
        </p:nvCxnSpPr>
        <p:spPr>
          <a:xfrm>
            <a:off x="5652120" y="3645024"/>
            <a:ext cx="971900" cy="24665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012160" y="3809885"/>
            <a:ext cx="169277" cy="3391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4" name="直線矢印コネクタ 55"/>
          <p:cNvCxnSpPr/>
          <p:nvPr/>
        </p:nvCxnSpPr>
        <p:spPr>
          <a:xfrm flipH="1">
            <a:off x="6165603" y="4005064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55"/>
          <p:cNvCxnSpPr/>
          <p:nvPr/>
        </p:nvCxnSpPr>
        <p:spPr>
          <a:xfrm flipH="1">
            <a:off x="5652120" y="4365104"/>
            <a:ext cx="3600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6012160" y="4313941"/>
            <a:ext cx="169277" cy="3391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2" name="直線矢印コネクタ 55"/>
          <p:cNvCxnSpPr/>
          <p:nvPr/>
        </p:nvCxnSpPr>
        <p:spPr>
          <a:xfrm flipH="1">
            <a:off x="6175030" y="4509120"/>
            <a:ext cx="1440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83"/>
          <p:cNvCxnSpPr/>
          <p:nvPr/>
        </p:nvCxnSpPr>
        <p:spPr>
          <a:xfrm>
            <a:off x="8100392" y="4365104"/>
            <a:ext cx="0" cy="12241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85"/>
          <p:cNvCxnSpPr/>
          <p:nvPr/>
        </p:nvCxnSpPr>
        <p:spPr>
          <a:xfrm flipH="1">
            <a:off x="5220072" y="5589240"/>
            <a:ext cx="28803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71"/>
          <p:cNvCxnSpPr/>
          <p:nvPr/>
        </p:nvCxnSpPr>
        <p:spPr>
          <a:xfrm flipH="1">
            <a:off x="7812360" y="4365104"/>
            <a:ext cx="288032" cy="83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83"/>
          <p:cNvCxnSpPr/>
          <p:nvPr/>
        </p:nvCxnSpPr>
        <p:spPr>
          <a:xfrm>
            <a:off x="5868144" y="4077072"/>
            <a:ext cx="0" cy="1512168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59"/>
          <p:cNvCxnSpPr/>
          <p:nvPr/>
        </p:nvCxnSpPr>
        <p:spPr>
          <a:xfrm flipH="1">
            <a:off x="5868144" y="4581128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6156176" y="4941168"/>
            <a:ext cx="867170" cy="288032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</a:rPr>
              <a:t>BP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Controler</a:t>
            </a:r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</a:rPr>
              <a:t> 1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Rectangle 134"/>
          <p:cNvSpPr>
            <a:spLocks noChangeArrowheads="1"/>
          </p:cNvSpPr>
          <p:nvPr/>
        </p:nvSpPr>
        <p:spPr bwMode="auto">
          <a:xfrm>
            <a:off x="8599546" y="1988840"/>
            <a:ext cx="292934" cy="35158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WBXX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128" name="直線矢印コネクタ 91"/>
          <p:cNvCxnSpPr/>
          <p:nvPr/>
        </p:nvCxnSpPr>
        <p:spPr>
          <a:xfrm flipH="1">
            <a:off x="7812360" y="3573016"/>
            <a:ext cx="79208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71"/>
          <p:cNvCxnSpPr/>
          <p:nvPr/>
        </p:nvCxnSpPr>
        <p:spPr>
          <a:xfrm flipH="1">
            <a:off x="8892480" y="4221088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83"/>
          <p:cNvCxnSpPr/>
          <p:nvPr/>
        </p:nvCxnSpPr>
        <p:spPr>
          <a:xfrm>
            <a:off x="9108504" y="4221088"/>
            <a:ext cx="0" cy="15121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85"/>
          <p:cNvCxnSpPr/>
          <p:nvPr/>
        </p:nvCxnSpPr>
        <p:spPr>
          <a:xfrm flipH="1">
            <a:off x="5796136" y="5733256"/>
            <a:ext cx="334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83"/>
          <p:cNvCxnSpPr/>
          <p:nvPr/>
        </p:nvCxnSpPr>
        <p:spPr>
          <a:xfrm>
            <a:off x="5796136" y="3933031"/>
            <a:ext cx="0" cy="1808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矢印コネクタ 59"/>
          <p:cNvCxnSpPr/>
          <p:nvPr/>
        </p:nvCxnSpPr>
        <p:spPr>
          <a:xfrm flipH="1">
            <a:off x="5796136" y="4437112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59"/>
          <p:cNvCxnSpPr/>
          <p:nvPr/>
        </p:nvCxnSpPr>
        <p:spPr>
          <a:xfrm flipH="1">
            <a:off x="5796136" y="3933056"/>
            <a:ext cx="21602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39"/>
          <p:cNvCxnSpPr/>
          <p:nvPr/>
        </p:nvCxnSpPr>
        <p:spPr>
          <a:xfrm flipH="1">
            <a:off x="3851920" y="4077072"/>
            <a:ext cx="157927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グループ化 93"/>
          <p:cNvGrpSpPr/>
          <p:nvPr/>
        </p:nvGrpSpPr>
        <p:grpSpPr>
          <a:xfrm>
            <a:off x="750675" y="4293094"/>
            <a:ext cx="360039" cy="720081"/>
            <a:chOff x="1187625" y="3356992"/>
            <a:chExt cx="228600" cy="541957"/>
          </a:xfrm>
        </p:grpSpPr>
        <p:sp>
          <p:nvSpPr>
            <p:cNvPr id="107" name="Text Box 70"/>
            <p:cNvSpPr txBox="1">
              <a:spLocks noChangeArrowheads="1"/>
            </p:cNvSpPr>
            <p:nvPr/>
          </p:nvSpPr>
          <p:spPr bwMode="auto">
            <a:xfrm rot="5400000">
              <a:off x="1060451" y="3549622"/>
              <a:ext cx="503237" cy="195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1400" b="1" dirty="0">
                  <a:solidFill>
                    <a:schemeClr val="bg1">
                      <a:lumMod val="50000"/>
                    </a:schemeClr>
                  </a:solidFill>
                  <a:latin typeface="Times New Roman" pitchFamily="18" charset="0"/>
                </a:rPr>
                <a:t>Adder</a:t>
              </a:r>
            </a:p>
          </p:txBody>
        </p:sp>
        <p:sp>
          <p:nvSpPr>
            <p:cNvPr id="111" name="Freeform 10"/>
            <p:cNvSpPr>
              <a:spLocks/>
            </p:cNvSpPr>
            <p:nvPr/>
          </p:nvSpPr>
          <p:spPr bwMode="auto">
            <a:xfrm rot="16200000">
              <a:off x="1043956" y="3500661"/>
              <a:ext cx="515937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497" y="19945"/>
                </a:cxn>
                <a:cxn ang="0">
                  <a:pos x="17482" y="19945"/>
                </a:cxn>
                <a:cxn ang="0">
                  <a:pos x="19979" y="0"/>
                </a:cxn>
                <a:cxn ang="0">
                  <a:pos x="12487" y="0"/>
                </a:cxn>
                <a:cxn ang="0">
                  <a:pos x="9990" y="6648"/>
                </a:cxn>
                <a:cxn ang="0">
                  <a:pos x="7492" y="0"/>
                </a:cxn>
                <a:cxn ang="0">
                  <a:pos x="0" y="0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0"/>
                  </a:lnTo>
                  <a:lnTo>
                    <a:pt x="2497" y="19945"/>
                  </a:lnTo>
                  <a:lnTo>
                    <a:pt x="17482" y="19945"/>
                  </a:lnTo>
                  <a:lnTo>
                    <a:pt x="19979" y="0"/>
                  </a:lnTo>
                  <a:lnTo>
                    <a:pt x="12487" y="0"/>
                  </a:lnTo>
                  <a:lnTo>
                    <a:pt x="9990" y="6648"/>
                  </a:lnTo>
                  <a:lnTo>
                    <a:pt x="74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sm" len="sm"/>
              <a:tailEnd type="none" w="sm" len="sm"/>
            </a:ln>
            <a:effectLst/>
          </p:spPr>
          <p:txBody>
            <a:bodyPr/>
            <a:lstStyle/>
            <a:p>
              <a:endParaRPr lang="ja-JP" alt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14" name="直線矢印コネクタ 97"/>
          <p:cNvCxnSpPr/>
          <p:nvPr/>
        </p:nvCxnSpPr>
        <p:spPr>
          <a:xfrm flipH="1">
            <a:off x="174610" y="4437087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97"/>
          <p:cNvCxnSpPr/>
          <p:nvPr/>
        </p:nvCxnSpPr>
        <p:spPr>
          <a:xfrm flipH="1">
            <a:off x="174610" y="4869135"/>
            <a:ext cx="576064" cy="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コネクタ 100"/>
          <p:cNvCxnSpPr/>
          <p:nvPr/>
        </p:nvCxnSpPr>
        <p:spPr>
          <a:xfrm>
            <a:off x="174610" y="4869160"/>
            <a:ext cx="0" cy="9361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99"/>
          <p:cNvCxnSpPr/>
          <p:nvPr/>
        </p:nvCxnSpPr>
        <p:spPr>
          <a:xfrm flipH="1">
            <a:off x="179512" y="5805264"/>
            <a:ext cx="38164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00"/>
          <p:cNvCxnSpPr/>
          <p:nvPr/>
        </p:nvCxnSpPr>
        <p:spPr>
          <a:xfrm>
            <a:off x="3995936" y="5445224"/>
            <a:ext cx="0" cy="3600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コネクタ 99"/>
          <p:cNvCxnSpPr/>
          <p:nvPr/>
        </p:nvCxnSpPr>
        <p:spPr>
          <a:xfrm flipH="1">
            <a:off x="3851920" y="5445224"/>
            <a:ext cx="14401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390634" y="5589240"/>
            <a:ext cx="720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左移</a:t>
            </a:r>
            <a:r>
              <a:rPr lang="en-US" altLang="zh-CN" sz="900" dirty="0" smtClean="0"/>
              <a:t>1</a:t>
            </a:r>
            <a:r>
              <a:rPr lang="zh-CN" altLang="en-US" sz="900" dirty="0" smtClean="0"/>
              <a:t>位</a:t>
            </a:r>
            <a:endParaRPr lang="zh-CN" altLang="en-US" sz="900" dirty="0"/>
          </a:p>
        </p:txBody>
      </p:sp>
      <p:sp>
        <p:nvSpPr>
          <p:cNvPr id="144" name="TextBox 143"/>
          <p:cNvSpPr txBox="1"/>
          <p:nvPr/>
        </p:nvSpPr>
        <p:spPr>
          <a:xfrm>
            <a:off x="1475656" y="4005064"/>
            <a:ext cx="169277" cy="3391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6" name="直線矢印コネクタ 102"/>
          <p:cNvCxnSpPr/>
          <p:nvPr/>
        </p:nvCxnSpPr>
        <p:spPr>
          <a:xfrm flipH="1">
            <a:off x="1331640" y="4149080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1331640" y="4149080"/>
            <a:ext cx="0" cy="4320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1331640" y="3789040"/>
            <a:ext cx="0" cy="2880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>
            <a:off x="1115616" y="4581128"/>
            <a:ext cx="2160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>
            <a:off x="1115616" y="3789040"/>
            <a:ext cx="2160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02"/>
          <p:cNvCxnSpPr/>
          <p:nvPr/>
        </p:nvCxnSpPr>
        <p:spPr>
          <a:xfrm flipH="1">
            <a:off x="1644934" y="4221087"/>
            <a:ext cx="190762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02"/>
          <p:cNvCxnSpPr/>
          <p:nvPr/>
        </p:nvCxnSpPr>
        <p:spPr>
          <a:xfrm flipH="1">
            <a:off x="1403648" y="4221088"/>
            <a:ext cx="7200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コネクタ 100"/>
          <p:cNvCxnSpPr/>
          <p:nvPr/>
        </p:nvCxnSpPr>
        <p:spPr>
          <a:xfrm>
            <a:off x="1403648" y="4221088"/>
            <a:ext cx="0" cy="15121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コネクタ 99"/>
          <p:cNvCxnSpPr/>
          <p:nvPr/>
        </p:nvCxnSpPr>
        <p:spPr>
          <a:xfrm flipH="1">
            <a:off x="1403648" y="5733256"/>
            <a:ext cx="25202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コネクタ 99"/>
          <p:cNvCxnSpPr/>
          <p:nvPr/>
        </p:nvCxnSpPr>
        <p:spPr>
          <a:xfrm flipH="1">
            <a:off x="3851920" y="5517232"/>
            <a:ext cx="7200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コネクタ 100"/>
          <p:cNvCxnSpPr/>
          <p:nvPr/>
        </p:nvCxnSpPr>
        <p:spPr>
          <a:xfrm>
            <a:off x="3923928" y="5517232"/>
            <a:ext cx="0" cy="2160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2483768" y="5517232"/>
            <a:ext cx="720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左移</a:t>
            </a:r>
            <a:r>
              <a:rPr lang="en-US" altLang="zh-CN" sz="900" dirty="0" smtClean="0"/>
              <a:t>1</a:t>
            </a:r>
            <a:r>
              <a:rPr lang="zh-CN" altLang="en-US" sz="900" dirty="0" smtClean="0"/>
              <a:t>位</a:t>
            </a:r>
            <a:endParaRPr lang="zh-CN" altLang="en-US" sz="900" dirty="0"/>
          </a:p>
        </p:txBody>
      </p:sp>
      <p:cxnSp>
        <p:nvCxnSpPr>
          <p:cNvPr id="121" name="直接箭头连接符 120"/>
          <p:cNvCxnSpPr/>
          <p:nvPr/>
        </p:nvCxnSpPr>
        <p:spPr>
          <a:xfrm>
            <a:off x="1907704" y="2204864"/>
            <a:ext cx="0" cy="10081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691680" y="1916832"/>
            <a:ext cx="5040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</a:rPr>
              <a:t>PC_W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7092280" y="2996952"/>
            <a:ext cx="169277" cy="36004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66" name="直線矢印コネクタ 91"/>
          <p:cNvCxnSpPr/>
          <p:nvPr/>
        </p:nvCxnSpPr>
        <p:spPr>
          <a:xfrm flipH="1">
            <a:off x="7261559" y="3140968"/>
            <a:ext cx="262768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39"/>
          <p:cNvCxnSpPr/>
          <p:nvPr/>
        </p:nvCxnSpPr>
        <p:spPr>
          <a:xfrm flipH="1">
            <a:off x="6948264" y="3068960"/>
            <a:ext cx="144016" cy="838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>
            <a:off x="6948264" y="2291545"/>
            <a:ext cx="4902" cy="7774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矢印コネクタ 71"/>
          <p:cNvCxnSpPr/>
          <p:nvPr/>
        </p:nvCxnSpPr>
        <p:spPr>
          <a:xfrm flipH="1">
            <a:off x="6876256" y="4229470"/>
            <a:ext cx="72008" cy="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>
            <a:off x="6948264" y="3284984"/>
            <a:ext cx="0" cy="9361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矢印コネクタ 39"/>
          <p:cNvCxnSpPr/>
          <p:nvPr/>
        </p:nvCxnSpPr>
        <p:spPr>
          <a:xfrm flipH="1">
            <a:off x="6948264" y="3284984"/>
            <a:ext cx="1440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3"/>
          <p:cNvSpPr>
            <a:spLocks noChangeArrowheads="1"/>
          </p:cNvSpPr>
          <p:nvPr/>
        </p:nvSpPr>
        <p:spPr bwMode="auto">
          <a:xfrm>
            <a:off x="5724128" y="1635089"/>
            <a:ext cx="504056" cy="12961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DATA</a:t>
            </a:r>
          </a:p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Memory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134" name="直線矢印コネクタ 55"/>
          <p:cNvCxnSpPr/>
          <p:nvPr/>
        </p:nvCxnSpPr>
        <p:spPr>
          <a:xfrm flipH="1">
            <a:off x="5148065" y="2484627"/>
            <a:ext cx="283129" cy="826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矢印コネクタ 59"/>
          <p:cNvCxnSpPr/>
          <p:nvPr/>
        </p:nvCxnSpPr>
        <p:spPr>
          <a:xfrm flipH="1">
            <a:off x="5292080" y="2715209"/>
            <a:ext cx="144016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5436096" y="2448022"/>
            <a:ext cx="169277" cy="339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6" name="直線矢印コネクタ 55"/>
          <p:cNvCxnSpPr/>
          <p:nvPr/>
        </p:nvCxnSpPr>
        <p:spPr>
          <a:xfrm flipH="1">
            <a:off x="5589539" y="2643201"/>
            <a:ext cx="144017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矢印コネクタ 59"/>
          <p:cNvCxnSpPr/>
          <p:nvPr/>
        </p:nvCxnSpPr>
        <p:spPr>
          <a:xfrm flipH="1">
            <a:off x="5220072" y="2571193"/>
            <a:ext cx="21602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71"/>
          <p:cNvCxnSpPr/>
          <p:nvPr/>
        </p:nvCxnSpPr>
        <p:spPr>
          <a:xfrm flipH="1">
            <a:off x="6228184" y="2291545"/>
            <a:ext cx="72008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矢印コネクタ 55"/>
          <p:cNvCxnSpPr/>
          <p:nvPr/>
        </p:nvCxnSpPr>
        <p:spPr>
          <a:xfrm flipH="1">
            <a:off x="5148064" y="1830268"/>
            <a:ext cx="28803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矢印コネクタ 59"/>
          <p:cNvCxnSpPr/>
          <p:nvPr/>
        </p:nvCxnSpPr>
        <p:spPr>
          <a:xfrm flipH="1">
            <a:off x="5292080" y="2046292"/>
            <a:ext cx="144016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5436096" y="1779105"/>
            <a:ext cx="169277" cy="339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vert" wrap="square" lIns="0" rIns="0" rtlCol="0">
            <a:spAutoFit/>
          </a:bodyPr>
          <a:lstStyle/>
          <a:p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mux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2" name="直線矢印コネクタ 55"/>
          <p:cNvCxnSpPr/>
          <p:nvPr/>
        </p:nvCxnSpPr>
        <p:spPr>
          <a:xfrm flipH="1">
            <a:off x="5589539" y="1974284"/>
            <a:ext cx="144017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矢印コネクタ 59"/>
          <p:cNvCxnSpPr/>
          <p:nvPr/>
        </p:nvCxnSpPr>
        <p:spPr>
          <a:xfrm flipH="1">
            <a:off x="5220072" y="1902276"/>
            <a:ext cx="21602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>
            <a:off x="3563888" y="2204864"/>
            <a:ext cx="0" cy="10081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35"/>
          <p:cNvSpPr txBox="1"/>
          <p:nvPr/>
        </p:nvSpPr>
        <p:spPr>
          <a:xfrm>
            <a:off x="3203848" y="1974032"/>
            <a:ext cx="72008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</a:rPr>
              <a:t>IFDC_W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7" name="TextBox 139"/>
          <p:cNvSpPr txBox="1"/>
          <p:nvPr/>
        </p:nvSpPr>
        <p:spPr>
          <a:xfrm>
            <a:off x="3633446" y="1974032"/>
            <a:ext cx="86409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dirty="0" err="1" smtClean="0">
                <a:solidFill>
                  <a:schemeClr val="bg1">
                    <a:lumMod val="50000"/>
                  </a:schemeClr>
                </a:solidFill>
              </a:rPr>
              <a:t>IFDC_Flush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60" name="直接箭头连接符 159"/>
          <p:cNvCxnSpPr/>
          <p:nvPr/>
        </p:nvCxnSpPr>
        <p:spPr>
          <a:xfrm>
            <a:off x="3836701" y="2204864"/>
            <a:ext cx="0" cy="10081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コネクタ 83"/>
          <p:cNvCxnSpPr/>
          <p:nvPr/>
        </p:nvCxnSpPr>
        <p:spPr>
          <a:xfrm>
            <a:off x="7380312" y="3156285"/>
            <a:ext cx="12631" cy="23609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コネクタ 85"/>
          <p:cNvCxnSpPr/>
          <p:nvPr/>
        </p:nvCxnSpPr>
        <p:spPr>
          <a:xfrm flipH="1">
            <a:off x="5273802" y="5494928"/>
            <a:ext cx="2116238" cy="125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コネクタ 83"/>
          <p:cNvCxnSpPr/>
          <p:nvPr/>
        </p:nvCxnSpPr>
        <p:spPr>
          <a:xfrm>
            <a:off x="5281626" y="2046292"/>
            <a:ext cx="9348" cy="34583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コネクタ 83"/>
          <p:cNvCxnSpPr/>
          <p:nvPr/>
        </p:nvCxnSpPr>
        <p:spPr>
          <a:xfrm>
            <a:off x="5220072" y="1906005"/>
            <a:ext cx="3075" cy="36748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コネクタ 83"/>
          <p:cNvCxnSpPr/>
          <p:nvPr/>
        </p:nvCxnSpPr>
        <p:spPr>
          <a:xfrm flipH="1">
            <a:off x="5141591" y="1830268"/>
            <a:ext cx="2485" cy="319129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34"/>
          <p:cNvSpPr>
            <a:spLocks noChangeArrowheads="1"/>
          </p:cNvSpPr>
          <p:nvPr/>
        </p:nvSpPr>
        <p:spPr bwMode="auto">
          <a:xfrm>
            <a:off x="5431194" y="3212926"/>
            <a:ext cx="292934" cy="21602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altLang="ja-JP" sz="16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</a:rPr>
              <a:t>DCEX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3982401" y="1562793"/>
            <a:ext cx="867170" cy="288032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</a:rPr>
              <a:t>BP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Controler</a:t>
            </a:r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</a:rPr>
              <a:t> 0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0" name="直接连接符 49"/>
          <p:cNvCxnSpPr>
            <a:stCxn id="93" idx="3"/>
          </p:cNvCxnSpPr>
          <p:nvPr/>
        </p:nvCxnSpPr>
        <p:spPr>
          <a:xfrm flipV="1">
            <a:off x="2123728" y="4437087"/>
            <a:ext cx="144016" cy="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1691680" y="2780928"/>
            <a:ext cx="0" cy="1440160"/>
          </a:xfrm>
          <a:prstGeom prst="line">
            <a:avLst/>
          </a:prstGeom>
          <a:ln>
            <a:solidFill>
              <a:srgbClr val="FF0000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72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组件模块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14542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加法器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1960" y="2996952"/>
            <a:ext cx="1152128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Add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3347864" y="335699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3347864" y="443711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5364088" y="3933056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71800" y="3224009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A</a:t>
            </a:r>
            <a:endParaRPr lang="zh-CN" alt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771800" y="4304129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B</a:t>
            </a:r>
            <a:endParaRPr lang="zh-CN" alt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6300192" y="3789040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C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组件模块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14542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选择器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35696" y="2996952"/>
            <a:ext cx="1152128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MUX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971600" y="335699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971600" y="443711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2987824" y="3933056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5536" y="3224009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A</a:t>
            </a:r>
            <a:endParaRPr lang="zh-CN" alt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395536" y="4304129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C</a:t>
            </a:r>
            <a:endParaRPr lang="zh-CN" alt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3923928" y="3789040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D</a:t>
            </a:r>
            <a:endParaRPr lang="zh-CN" altLang="en-US" sz="1200" dirty="0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971600" y="3922023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5536" y="3789040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B</a:t>
            </a:r>
            <a:endParaRPr lang="zh-CN" altLang="en-US" sz="1200" dirty="0"/>
          </a:p>
        </p:txBody>
      </p:sp>
      <p:cxnSp>
        <p:nvCxnSpPr>
          <p:cNvPr id="20" name="直接箭头连接符 19"/>
          <p:cNvCxnSpPr>
            <a:endCxn id="33" idx="0"/>
          </p:cNvCxnSpPr>
          <p:nvPr/>
        </p:nvCxnSpPr>
        <p:spPr>
          <a:xfrm>
            <a:off x="2411760" y="2492896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51720" y="2204864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 smtClean="0"/>
              <a:t>Sel</a:t>
            </a:r>
            <a:endParaRPr lang="zh-CN" altLang="en-US" sz="1200" dirty="0"/>
          </a:p>
        </p:txBody>
      </p:sp>
      <p:sp>
        <p:nvSpPr>
          <p:cNvPr id="22" name="矩形 21"/>
          <p:cNvSpPr/>
          <p:nvPr/>
        </p:nvSpPr>
        <p:spPr>
          <a:xfrm>
            <a:off x="6084168" y="2996952"/>
            <a:ext cx="1152128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MUX</a:t>
            </a:r>
            <a:endParaRPr lang="zh-CN" altLang="en-US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5220072" y="335699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5220072" y="443711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7236296" y="3933056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44008" y="3224009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A</a:t>
            </a:r>
            <a:endParaRPr lang="zh-CN" alt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4644008" y="4304129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B</a:t>
            </a:r>
            <a:endParaRPr lang="zh-CN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8172400" y="3789040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D</a:t>
            </a:r>
            <a:endParaRPr lang="zh-CN" altLang="en-US" sz="1200" dirty="0"/>
          </a:p>
        </p:txBody>
      </p:sp>
      <p:cxnSp>
        <p:nvCxnSpPr>
          <p:cNvPr id="31" name="直接箭头连接符 30"/>
          <p:cNvCxnSpPr>
            <a:endCxn id="22" idx="0"/>
          </p:cNvCxnSpPr>
          <p:nvPr/>
        </p:nvCxnSpPr>
        <p:spPr>
          <a:xfrm>
            <a:off x="6660232" y="2492896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0192" y="2204864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 smtClean="0"/>
              <a:t>Sel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组件模块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2377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流水线寄存器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1524000" y="2428096"/>
          <a:ext cx="6096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4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PC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PC(#32)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/>
                        <a:t>IFDC</a:t>
                      </a:r>
                      <a:endParaRPr lang="zh-CN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Instruction(#16)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/>
                        <a:t>DCEX</a:t>
                      </a:r>
                      <a:endParaRPr lang="zh-CN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ALU_OP(#4), DW(#1),WB(#1), </a:t>
                      </a:r>
                      <a:r>
                        <a:rPr lang="en-US" altLang="zh-CN" sz="1400" b="0" dirty="0" err="1" smtClean="0">
                          <a:solidFill>
                            <a:schemeClr val="tx1"/>
                          </a:solidFill>
                        </a:rPr>
                        <a:t>WBData_Sel</a:t>
                      </a:r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(#1),</a:t>
                      </a:r>
                    </a:p>
                    <a:p>
                      <a:pPr algn="l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Reg0(#32),Reg1(#32),</a:t>
                      </a:r>
                      <a:r>
                        <a:rPr lang="en-US" altLang="zh-CN" sz="1400" b="0" dirty="0" err="1" smtClean="0">
                          <a:solidFill>
                            <a:schemeClr val="tx1"/>
                          </a:solidFill>
                        </a:rPr>
                        <a:t>Imm</a:t>
                      </a:r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(#5),RegAddr0(#5),RegAddr1(#5)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/>
                        <a:t>EXWB</a:t>
                      </a:r>
                      <a:endParaRPr lang="zh-CN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WB(#1),</a:t>
                      </a:r>
                      <a:r>
                        <a:rPr lang="en-US" altLang="zh-CN" sz="1400" b="0" dirty="0" err="1" smtClean="0">
                          <a:solidFill>
                            <a:schemeClr val="tx1"/>
                          </a:solidFill>
                        </a:rPr>
                        <a:t>WBData</a:t>
                      </a:r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(#32),</a:t>
                      </a:r>
                      <a:r>
                        <a:rPr lang="en-US" altLang="zh-CN" sz="1400" b="0" dirty="0" err="1" smtClean="0">
                          <a:solidFill>
                            <a:schemeClr val="tx1"/>
                          </a:solidFill>
                        </a:rPr>
                        <a:t>WBAddr</a:t>
                      </a:r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(#5)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/>
                        <a:t>WBXX</a:t>
                      </a:r>
                      <a:endParaRPr lang="zh-CN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WB(#1),</a:t>
                      </a:r>
                      <a:r>
                        <a:rPr lang="en-US" altLang="zh-CN" sz="1400" b="0" dirty="0" err="1" smtClean="0">
                          <a:solidFill>
                            <a:schemeClr val="tx1"/>
                          </a:solidFill>
                        </a:rPr>
                        <a:t>WBData</a:t>
                      </a:r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(#32),</a:t>
                      </a:r>
                      <a:r>
                        <a:rPr lang="en-US" altLang="zh-CN" sz="1400" b="0" dirty="0" err="1" smtClean="0">
                          <a:solidFill>
                            <a:schemeClr val="tx1"/>
                          </a:solidFill>
                        </a:rPr>
                        <a:t>WBAddr</a:t>
                      </a:r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(#5)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27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组件模块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14542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译码器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1960" y="2996952"/>
            <a:ext cx="1152128" cy="2016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Decoder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3347864" y="3933056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5364088" y="3068960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555776" y="3687415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 smtClean="0"/>
              <a:t>OpCode</a:t>
            </a:r>
            <a:r>
              <a:rPr lang="en-US" altLang="zh-CN" sz="1200" dirty="0" smtClean="0"/>
              <a:t> (#6)</a:t>
            </a:r>
            <a:endParaRPr lang="zh-CN" alt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6300192" y="2924944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ALU_OP(#4)</a:t>
            </a:r>
            <a:endParaRPr lang="zh-CN" altLang="en-US" sz="1200" dirty="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364088" y="3440033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00192" y="3296017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DW(#1)</a:t>
            </a:r>
            <a:endParaRPr lang="zh-CN" altLang="en-US" sz="1200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5364088" y="3800073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00192" y="3656057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WB(#1)</a:t>
            </a:r>
            <a:endParaRPr lang="zh-CN" altLang="en-US" sz="1200" dirty="0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5364088" y="4088105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0192" y="3944089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PC_W(#1)</a:t>
            </a:r>
            <a:endParaRPr lang="zh-CN" altLang="en-US" sz="1200" dirty="0"/>
          </a:p>
        </p:txBody>
      </p:sp>
      <p:cxnSp>
        <p:nvCxnSpPr>
          <p:cNvPr id="31" name="直接箭头连接符 30"/>
          <p:cNvCxnSpPr/>
          <p:nvPr/>
        </p:nvCxnSpPr>
        <p:spPr>
          <a:xfrm>
            <a:off x="5364088" y="4376137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0192" y="4232121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IFDC_W(#1)</a:t>
            </a:r>
            <a:endParaRPr lang="zh-CN" altLang="en-US" sz="1200" dirty="0"/>
          </a:p>
        </p:txBody>
      </p:sp>
      <p:cxnSp>
        <p:nvCxnSpPr>
          <p:cNvPr id="42" name="直接箭头连接符 41"/>
          <p:cNvCxnSpPr/>
          <p:nvPr/>
        </p:nvCxnSpPr>
        <p:spPr>
          <a:xfrm>
            <a:off x="5364088" y="4653136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300192" y="4509120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 smtClean="0"/>
              <a:t>WBData_Sel</a:t>
            </a:r>
            <a:r>
              <a:rPr lang="en-US" altLang="zh-CN" sz="1200" dirty="0" smtClean="0"/>
              <a:t>(#1)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28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组件模块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2043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400" dirty="0" smtClean="0">
                <a:solidFill>
                  <a:srgbClr val="FF0000"/>
                </a:solidFill>
              </a:rPr>
              <a:t>Register File</a:t>
            </a:r>
          </a:p>
        </p:txBody>
      </p:sp>
      <p:sp>
        <p:nvSpPr>
          <p:cNvPr id="33" name="矩形 32"/>
          <p:cNvSpPr/>
          <p:nvPr/>
        </p:nvSpPr>
        <p:spPr>
          <a:xfrm>
            <a:off x="4211960" y="2996952"/>
            <a:ext cx="1152128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RegFile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(32 registers)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3347864" y="3314601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5364088" y="371703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339752" y="3068960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RegAddr0 (#5)</a:t>
            </a:r>
            <a:endParaRPr lang="zh-CN" alt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6300192" y="3573016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Reg0(#32)</a:t>
            </a:r>
            <a:endParaRPr lang="zh-CN" altLang="en-US" sz="1200" dirty="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364088" y="4088105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00192" y="3944089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Reg1(#32)</a:t>
            </a:r>
            <a:endParaRPr lang="zh-CN" altLang="en-US" sz="1200" dirty="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3347864" y="3602633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39752" y="3356992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RegAddr1 (#5)</a:t>
            </a:r>
            <a:endParaRPr lang="zh-CN" altLang="en-US" sz="1200" dirty="0"/>
          </a:p>
        </p:txBody>
      </p:sp>
      <p:cxnSp>
        <p:nvCxnSpPr>
          <p:cNvPr id="36" name="直接箭头连接符 35"/>
          <p:cNvCxnSpPr/>
          <p:nvPr/>
        </p:nvCxnSpPr>
        <p:spPr>
          <a:xfrm>
            <a:off x="3347864" y="4610745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195736" y="4509120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 smtClean="0"/>
              <a:t>WBData</a:t>
            </a:r>
            <a:r>
              <a:rPr lang="en-US" altLang="zh-CN" sz="1200" dirty="0" smtClean="0"/>
              <a:t> (#32)</a:t>
            </a:r>
            <a:endParaRPr lang="zh-CN" altLang="en-US" sz="1200" dirty="0"/>
          </a:p>
        </p:txBody>
      </p:sp>
      <p:cxnSp>
        <p:nvCxnSpPr>
          <p:cNvPr id="42" name="直接箭头连接符 41"/>
          <p:cNvCxnSpPr/>
          <p:nvPr/>
        </p:nvCxnSpPr>
        <p:spPr>
          <a:xfrm>
            <a:off x="3347864" y="4365104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339752" y="4232121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 smtClean="0"/>
              <a:t>Waddr</a:t>
            </a:r>
            <a:r>
              <a:rPr lang="en-US" altLang="zh-CN" sz="1200" dirty="0" smtClean="0"/>
              <a:t> (#5)</a:t>
            </a:r>
            <a:endParaRPr lang="zh-CN" altLang="en-US" sz="1200" dirty="0"/>
          </a:p>
        </p:txBody>
      </p:sp>
      <p:cxnSp>
        <p:nvCxnSpPr>
          <p:cNvPr id="44" name="直接箭头连接符 43"/>
          <p:cNvCxnSpPr/>
          <p:nvPr/>
        </p:nvCxnSpPr>
        <p:spPr>
          <a:xfrm>
            <a:off x="3347864" y="4106689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339752" y="3944089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WB(#1)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29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组件模块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1029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400" dirty="0" smtClean="0">
                <a:solidFill>
                  <a:srgbClr val="FF0000"/>
                </a:solidFill>
              </a:rPr>
              <a:t>ALU</a:t>
            </a:r>
          </a:p>
        </p:txBody>
      </p:sp>
      <p:sp>
        <p:nvSpPr>
          <p:cNvPr id="33" name="矩形 32"/>
          <p:cNvSpPr/>
          <p:nvPr/>
        </p:nvSpPr>
        <p:spPr>
          <a:xfrm>
            <a:off x="4211960" y="2996952"/>
            <a:ext cx="1152128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ALU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3347864" y="3530625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5364088" y="371703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339752" y="3368025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ALU_OP (#4)</a:t>
            </a:r>
            <a:endParaRPr lang="zh-CN" alt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6300192" y="3573016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 smtClean="0"/>
              <a:t>ALU_Result</a:t>
            </a:r>
            <a:r>
              <a:rPr lang="en-US" altLang="zh-CN" sz="1200" dirty="0" smtClean="0"/>
              <a:t>(#32)</a:t>
            </a:r>
            <a:endParaRPr lang="zh-CN" altLang="en-US" sz="1200" dirty="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3347864" y="3933056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39752" y="3800073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OP0 (#32)</a:t>
            </a:r>
            <a:endParaRPr lang="zh-CN" altLang="en-US" sz="1200" dirty="0"/>
          </a:p>
        </p:txBody>
      </p:sp>
      <p:cxnSp>
        <p:nvCxnSpPr>
          <p:cNvPr id="44" name="直接箭头连接符 43"/>
          <p:cNvCxnSpPr/>
          <p:nvPr/>
        </p:nvCxnSpPr>
        <p:spPr>
          <a:xfrm>
            <a:off x="3347864" y="4322713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339752" y="4160113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OP1(#32)</a:t>
            </a:r>
            <a:endParaRPr lang="zh-CN" altLang="en-US" sz="1200" dirty="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364088" y="4016097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00192" y="3872081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ALU_Z(#1)</a:t>
            </a:r>
            <a:endParaRPr lang="zh-CN" altLang="en-US" sz="1200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5364088" y="4304129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00192" y="4160113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ALU_N(#1)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、体系结构设计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30</a:t>
            </a:fld>
            <a:endParaRPr kumimoji="1" lang="ja-JP" altLang="en-US" dirty="0"/>
          </a:p>
        </p:txBody>
      </p:sp>
      <p:sp>
        <p:nvSpPr>
          <p:cNvPr id="244" name="二等辺三角形 243"/>
          <p:cNvSpPr/>
          <p:nvPr/>
        </p:nvSpPr>
        <p:spPr>
          <a:xfrm rot="5400000">
            <a:off x="3707904" y="800708"/>
            <a:ext cx="360040" cy="28803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Rectangle 7"/>
          <p:cNvSpPr>
            <a:spLocks noChangeArrowheads="1"/>
          </p:cNvSpPr>
          <p:nvPr/>
        </p:nvSpPr>
        <p:spPr bwMode="auto">
          <a:xfrm>
            <a:off x="4037037" y="764704"/>
            <a:ext cx="4351387" cy="36004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+mn-ea"/>
                <a:sym typeface="Arial" pitchFamily="34" charset="0"/>
              </a:rPr>
              <a:t>组件模块</a:t>
            </a:r>
            <a:endParaRPr lang="zh-CN" altLang="en-US" sz="20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2696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400" dirty="0" err="1" smtClean="0">
                <a:solidFill>
                  <a:srgbClr val="FF0000"/>
                </a:solidFill>
              </a:rPr>
              <a:t>ByPass</a:t>
            </a:r>
            <a:r>
              <a:rPr lang="en-US" altLang="zh-CN" sz="2400" dirty="0" smtClean="0">
                <a:solidFill>
                  <a:srgbClr val="FF0000"/>
                </a:solidFill>
              </a:rPr>
              <a:t> Controller</a:t>
            </a:r>
          </a:p>
        </p:txBody>
      </p:sp>
      <p:sp>
        <p:nvSpPr>
          <p:cNvPr id="33" name="矩形 32"/>
          <p:cNvSpPr/>
          <p:nvPr/>
        </p:nvSpPr>
        <p:spPr>
          <a:xfrm>
            <a:off x="4211960" y="1556792"/>
            <a:ext cx="1872208" cy="4176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BPController</a:t>
            </a:r>
            <a:endParaRPr lang="zh-CN" altLang="en-US" dirty="0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6084168" y="3152001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020272" y="3007985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Sel0(#2)</a:t>
            </a:r>
            <a:endParaRPr lang="zh-CN" altLang="en-US" sz="1200" dirty="0"/>
          </a:p>
        </p:txBody>
      </p:sp>
      <p:cxnSp>
        <p:nvCxnSpPr>
          <p:cNvPr id="31" name="直接箭头连接符 30"/>
          <p:cNvCxnSpPr/>
          <p:nvPr/>
        </p:nvCxnSpPr>
        <p:spPr>
          <a:xfrm>
            <a:off x="3347864" y="258348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619672" y="2420888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 EXWB_WB(#1)</a:t>
            </a:r>
            <a:endParaRPr lang="zh-CN" altLang="en-US" sz="1200" dirty="0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3347864" y="2810545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19672" y="2647945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EXWB_WBAddr</a:t>
            </a:r>
            <a:r>
              <a:rPr lang="en-US" altLang="zh-CN" sz="1200" dirty="0" smtClean="0"/>
              <a:t>(#5)</a:t>
            </a:r>
            <a:endParaRPr lang="zh-CN" altLang="en-US" sz="1200" dirty="0"/>
          </a:p>
        </p:txBody>
      </p:sp>
      <p:cxnSp>
        <p:nvCxnSpPr>
          <p:cNvPr id="42" name="直接箭头连接符 41"/>
          <p:cNvCxnSpPr/>
          <p:nvPr/>
        </p:nvCxnSpPr>
        <p:spPr>
          <a:xfrm>
            <a:off x="3347864" y="3231560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619672" y="3068960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 WBXX_WB(#1)</a:t>
            </a:r>
            <a:endParaRPr lang="zh-CN" altLang="en-US" sz="1200" dirty="0"/>
          </a:p>
        </p:txBody>
      </p:sp>
      <p:cxnSp>
        <p:nvCxnSpPr>
          <p:cNvPr id="46" name="直接箭头连接符 45"/>
          <p:cNvCxnSpPr/>
          <p:nvPr/>
        </p:nvCxnSpPr>
        <p:spPr>
          <a:xfrm>
            <a:off x="3347864" y="3458617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619672" y="3296017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WBXX_WBAddr</a:t>
            </a:r>
            <a:r>
              <a:rPr lang="en-US" altLang="zh-CN" sz="1200" dirty="0" smtClean="0"/>
              <a:t>(#5)</a:t>
            </a:r>
            <a:endParaRPr lang="zh-CN" altLang="en-US" sz="1200" dirty="0"/>
          </a:p>
        </p:txBody>
      </p:sp>
      <p:cxnSp>
        <p:nvCxnSpPr>
          <p:cNvPr id="48" name="直接箭头连接符 47"/>
          <p:cNvCxnSpPr/>
          <p:nvPr/>
        </p:nvCxnSpPr>
        <p:spPr>
          <a:xfrm>
            <a:off x="6084168" y="3523074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020272" y="3379058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Sel1(#2)</a:t>
            </a:r>
            <a:endParaRPr lang="zh-CN" altLang="en-US" sz="1200" dirty="0"/>
          </a:p>
        </p:txBody>
      </p:sp>
      <p:cxnSp>
        <p:nvCxnSpPr>
          <p:cNvPr id="50" name="直接箭头连接符 49"/>
          <p:cNvCxnSpPr/>
          <p:nvPr/>
        </p:nvCxnSpPr>
        <p:spPr>
          <a:xfrm>
            <a:off x="6084168" y="3944089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20272" y="3800073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Sel2(#2)</a:t>
            </a:r>
            <a:endParaRPr lang="zh-CN" altLang="en-US" sz="1200" dirty="0"/>
          </a:p>
        </p:txBody>
      </p:sp>
      <p:cxnSp>
        <p:nvCxnSpPr>
          <p:cNvPr id="39" name="直接箭头连接符 38"/>
          <p:cNvCxnSpPr/>
          <p:nvPr/>
        </p:nvCxnSpPr>
        <p:spPr>
          <a:xfrm>
            <a:off x="3347864" y="4149080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3347864" y="4376137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3347864" y="4592161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619672" y="4016097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 DCEX_DW(#1)</a:t>
            </a:r>
            <a:endParaRPr lang="zh-CN" altLang="en-US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1619672" y="4243154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 DCEX_RegAddr0(#5)</a:t>
            </a:r>
            <a:endParaRPr lang="zh-CN" altLang="en-US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1619672" y="4448145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 DCEX_RegAddr1(#5)</a:t>
            </a:r>
            <a:endParaRPr lang="zh-CN" altLang="en-US" sz="1200" dirty="0"/>
          </a:p>
        </p:txBody>
      </p:sp>
      <p:cxnSp>
        <p:nvCxnSpPr>
          <p:cNvPr id="54" name="直接箭头连接符 53"/>
          <p:cNvCxnSpPr/>
          <p:nvPr/>
        </p:nvCxnSpPr>
        <p:spPr>
          <a:xfrm>
            <a:off x="3347864" y="3922023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619672" y="3789040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 DCEX_WB(#1)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Arial" pitchFamily="34" charset="0"/>
              </a:rPr>
              <a:t>四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、仿真测试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31</a:t>
            </a:fld>
            <a:endParaRPr kumimoji="1" lang="ja-JP" altLang="en-US" dirty="0"/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仿真平台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4211960" y="2996952"/>
            <a:ext cx="1152128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RISC16</a:t>
            </a:r>
            <a:endParaRPr lang="zh-CN" altLang="en-US" dirty="0"/>
          </a:p>
        </p:txBody>
      </p:sp>
      <p:sp>
        <p:nvSpPr>
          <p:cNvPr id="150" name="矩形 149"/>
          <p:cNvSpPr/>
          <p:nvPr/>
        </p:nvSpPr>
        <p:spPr>
          <a:xfrm>
            <a:off x="6444208" y="2996952"/>
            <a:ext cx="1152128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DATA</a:t>
            </a:r>
          </a:p>
          <a:p>
            <a:pPr algn="ctr"/>
            <a:r>
              <a:rPr lang="en-US" altLang="zh-CN" dirty="0" smtClean="0"/>
              <a:t>Memory</a:t>
            </a:r>
            <a:endParaRPr lang="zh-CN" altLang="en-US" dirty="0"/>
          </a:p>
        </p:txBody>
      </p:sp>
      <p:sp>
        <p:nvSpPr>
          <p:cNvPr id="151" name="矩形 150"/>
          <p:cNvSpPr/>
          <p:nvPr/>
        </p:nvSpPr>
        <p:spPr>
          <a:xfrm>
            <a:off x="1835696" y="2996952"/>
            <a:ext cx="1296144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Instruction</a:t>
            </a:r>
          </a:p>
          <a:p>
            <a:pPr algn="ctr"/>
            <a:r>
              <a:rPr lang="en-US" altLang="zh-CN" dirty="0" smtClean="0"/>
              <a:t>Memory</a:t>
            </a:r>
            <a:endParaRPr lang="zh-CN" altLang="en-US" dirty="0"/>
          </a:p>
        </p:txBody>
      </p:sp>
      <p:cxnSp>
        <p:nvCxnSpPr>
          <p:cNvPr id="153" name="直接箭头连接符 152"/>
          <p:cNvCxnSpPr/>
          <p:nvPr/>
        </p:nvCxnSpPr>
        <p:spPr>
          <a:xfrm flipH="1">
            <a:off x="3131840" y="350100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3275856" y="3270176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InstAddr</a:t>
            </a:r>
            <a:endParaRPr lang="en-US" altLang="zh-CN" sz="1200" dirty="0" smtClean="0"/>
          </a:p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#32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157" name="直接箭头连接符 156"/>
          <p:cNvCxnSpPr/>
          <p:nvPr/>
        </p:nvCxnSpPr>
        <p:spPr>
          <a:xfrm>
            <a:off x="3131840" y="4365104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3275856" y="4077072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Inst </a:t>
            </a:r>
            <a:r>
              <a:rPr lang="zh-CN" altLang="en-US" sz="1200" dirty="0" smtClean="0"/>
              <a:t>（</a:t>
            </a:r>
            <a:r>
              <a:rPr lang="en-US" altLang="zh-CN" sz="1200" dirty="0" smtClean="0"/>
              <a:t>#16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164" name="直接箭头连接符 163"/>
          <p:cNvCxnSpPr/>
          <p:nvPr/>
        </p:nvCxnSpPr>
        <p:spPr>
          <a:xfrm>
            <a:off x="5364088" y="3284984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5508104" y="3068960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DAddr</a:t>
            </a:r>
            <a:endParaRPr lang="en-US" altLang="zh-CN" sz="1200" dirty="0" smtClean="0"/>
          </a:p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#32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167" name="直接箭头连接符 166"/>
          <p:cNvCxnSpPr/>
          <p:nvPr/>
        </p:nvCxnSpPr>
        <p:spPr>
          <a:xfrm>
            <a:off x="5364088" y="3759423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5508104" y="3543399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DW</a:t>
            </a:r>
          </a:p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#1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171" name="直接箭头连接符 170"/>
          <p:cNvCxnSpPr/>
          <p:nvPr/>
        </p:nvCxnSpPr>
        <p:spPr>
          <a:xfrm>
            <a:off x="5364088" y="414908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5508104" y="3933056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WData</a:t>
            </a:r>
            <a:endParaRPr lang="en-US" altLang="zh-CN" sz="1200" dirty="0" smtClean="0"/>
          </a:p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#32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175" name="直接箭头连接符 174"/>
          <p:cNvCxnSpPr/>
          <p:nvPr/>
        </p:nvCxnSpPr>
        <p:spPr>
          <a:xfrm>
            <a:off x="5364088" y="4623519"/>
            <a:ext cx="1080120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5508104" y="4407495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RData</a:t>
            </a:r>
            <a:endParaRPr lang="en-US" altLang="zh-CN" sz="1200" dirty="0" smtClean="0"/>
          </a:p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#32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179" name="直接箭头连接符 178"/>
          <p:cNvCxnSpPr/>
          <p:nvPr/>
        </p:nvCxnSpPr>
        <p:spPr>
          <a:xfrm>
            <a:off x="4788024" y="2564904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4427984" y="2319263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CLK</a:t>
            </a:r>
            <a:endParaRPr lang="zh-CN" altLang="en-US" sz="1200" dirty="0"/>
          </a:p>
        </p:txBody>
      </p:sp>
      <p:cxnSp>
        <p:nvCxnSpPr>
          <p:cNvPr id="181" name="直接箭头连接符 180"/>
          <p:cNvCxnSpPr/>
          <p:nvPr/>
        </p:nvCxnSpPr>
        <p:spPr>
          <a:xfrm>
            <a:off x="4788024" y="4797152"/>
            <a:ext cx="0" cy="43204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427984" y="5127575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 smtClean="0"/>
              <a:t>Rstn</a:t>
            </a:r>
            <a:endParaRPr lang="zh-CN" altLang="en-US" sz="1200" dirty="0"/>
          </a:p>
        </p:txBody>
      </p:sp>
      <p:cxnSp>
        <p:nvCxnSpPr>
          <p:cNvPr id="184" name="形状 183"/>
          <p:cNvCxnSpPr>
            <a:endCxn id="150" idx="0"/>
          </p:cNvCxnSpPr>
          <p:nvPr/>
        </p:nvCxnSpPr>
        <p:spPr>
          <a:xfrm>
            <a:off x="4788024" y="2780928"/>
            <a:ext cx="2232248" cy="21602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圆角矩形 188"/>
          <p:cNvSpPr/>
          <p:nvPr/>
        </p:nvSpPr>
        <p:spPr>
          <a:xfrm>
            <a:off x="971600" y="1916832"/>
            <a:ext cx="7344816" cy="38884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TextBox 189"/>
          <p:cNvSpPr txBox="1"/>
          <p:nvPr/>
        </p:nvSpPr>
        <p:spPr>
          <a:xfrm>
            <a:off x="1691680" y="198884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/>
              <a:t>TestBench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352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3343275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Arial" pitchFamily="34" charset="0"/>
              </a:rPr>
              <a:t>四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、仿真测试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32</a:t>
            </a:fld>
            <a:endParaRPr kumimoji="1" lang="ja-JP" altLang="en-US" dirty="0"/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11464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步骤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5786" y="1796757"/>
            <a:ext cx="81369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+mn-ea"/>
              </a:rPr>
              <a:t>1.</a:t>
            </a:r>
            <a:r>
              <a:rPr lang="zh-CN" altLang="en-US" sz="2400" dirty="0" smtClean="0">
                <a:latin typeface="+mn-ea"/>
              </a:rPr>
              <a:t>完成</a:t>
            </a:r>
            <a:r>
              <a:rPr lang="en-US" altLang="zh-CN" sz="2400" dirty="0" smtClean="0">
                <a:latin typeface="+mn-ea"/>
              </a:rPr>
              <a:t>/RISC16/RISC16.v</a:t>
            </a:r>
            <a:r>
              <a:rPr lang="zh-CN" altLang="en-US" sz="2400" dirty="0" smtClean="0">
                <a:latin typeface="+mn-ea"/>
              </a:rPr>
              <a:t>的</a:t>
            </a:r>
            <a:r>
              <a:rPr lang="en-US" altLang="zh-CN" sz="2400" dirty="0" smtClean="0">
                <a:latin typeface="+mn-ea"/>
              </a:rPr>
              <a:t>RTL</a:t>
            </a:r>
            <a:r>
              <a:rPr lang="zh-CN" altLang="en-US" sz="2400" dirty="0" smtClean="0">
                <a:latin typeface="+mn-ea"/>
              </a:rPr>
              <a:t>设计</a:t>
            </a:r>
            <a:r>
              <a:rPr lang="zh-CN" altLang="en-US" sz="2400" dirty="0">
                <a:latin typeface="+mn-ea"/>
              </a:rPr>
              <a:t>；</a:t>
            </a:r>
            <a:endParaRPr lang="en-US" altLang="zh-CN" sz="2400" dirty="0" smtClean="0">
              <a:latin typeface="+mn-ea"/>
            </a:endParaRPr>
          </a:p>
          <a:p>
            <a:r>
              <a:rPr lang="en-US" altLang="zh-CN" sz="2400" dirty="0" smtClean="0">
                <a:latin typeface="+mn-ea"/>
              </a:rPr>
              <a:t>2.</a:t>
            </a:r>
            <a:r>
              <a:rPr lang="zh-CN" altLang="en-US" sz="2400" dirty="0" smtClean="0">
                <a:latin typeface="+mn-ea"/>
              </a:rPr>
              <a:t>在</a:t>
            </a:r>
            <a:r>
              <a:rPr lang="en-US" altLang="zh-CN" sz="2400" dirty="0" smtClean="0">
                <a:latin typeface="+mn-ea"/>
              </a:rPr>
              <a:t>simulation</a:t>
            </a:r>
            <a:r>
              <a:rPr lang="zh-CN" altLang="en-US" sz="2400" dirty="0" smtClean="0">
                <a:latin typeface="+mn-ea"/>
              </a:rPr>
              <a:t>中建立</a:t>
            </a:r>
            <a:r>
              <a:rPr lang="en-US" altLang="zh-CN" sz="2400" dirty="0" err="1">
                <a:latin typeface="+mn-ea"/>
              </a:rPr>
              <a:t>ModelSim</a:t>
            </a:r>
            <a:r>
              <a:rPr lang="zh-CN" altLang="en-US" sz="2400" dirty="0" smtClean="0">
                <a:latin typeface="+mn-ea"/>
              </a:rPr>
              <a:t>工程，添加设计文件</a:t>
            </a:r>
            <a:r>
              <a:rPr lang="en-US" altLang="zh-CN" sz="2400" dirty="0" smtClean="0">
                <a:latin typeface="+mn-ea"/>
              </a:rPr>
              <a:t>(RISC16.v)</a:t>
            </a:r>
            <a:r>
              <a:rPr lang="zh-CN" altLang="en-US" sz="2400" dirty="0" smtClean="0">
                <a:latin typeface="+mn-ea"/>
              </a:rPr>
              <a:t>及测试文件</a:t>
            </a:r>
            <a:r>
              <a:rPr lang="en-US" altLang="zh-CN" sz="2400" dirty="0" smtClean="0">
                <a:latin typeface="+mn-ea"/>
              </a:rPr>
              <a:t>(RISC16_test.v,InstRAM.v,DataRAM.v)</a:t>
            </a:r>
            <a:r>
              <a:rPr lang="zh-CN" altLang="en-US" sz="2400" dirty="0" smtClean="0">
                <a:latin typeface="+mn-ea"/>
              </a:rPr>
              <a:t>，编译；</a:t>
            </a:r>
            <a:endParaRPr lang="en-US" altLang="zh-CN" sz="2400" dirty="0" smtClean="0">
              <a:latin typeface="+mn-ea"/>
            </a:endParaRPr>
          </a:p>
          <a:p>
            <a:r>
              <a:rPr lang="en-US" altLang="zh-CN" sz="2400" dirty="0" smtClean="0">
                <a:latin typeface="+mn-ea"/>
              </a:rPr>
              <a:t>3.</a:t>
            </a:r>
            <a:r>
              <a:rPr lang="zh-CN" altLang="en-US" sz="2400" dirty="0" smtClean="0">
                <a:latin typeface="+mn-ea"/>
              </a:rPr>
              <a:t>在脚本窗口输入</a:t>
            </a:r>
            <a:r>
              <a:rPr lang="en-US" altLang="zh-CN" sz="2400" dirty="0" err="1">
                <a:latin typeface="+mn-ea"/>
              </a:rPr>
              <a:t>vsim</a:t>
            </a:r>
            <a:r>
              <a:rPr lang="en-US" altLang="zh-CN" sz="2400" dirty="0">
                <a:latin typeface="+mn-ea"/>
              </a:rPr>
              <a:t> </a:t>
            </a:r>
            <a:r>
              <a:rPr lang="en-US" altLang="zh-CN" sz="2400" dirty="0" smtClean="0">
                <a:latin typeface="+mn-ea"/>
              </a:rPr>
              <a:t>work.RISC16_test</a:t>
            </a:r>
          </a:p>
          <a:p>
            <a:r>
              <a:rPr lang="en-US" altLang="zh-CN" sz="2400" dirty="0" smtClean="0">
                <a:latin typeface="+mn-ea"/>
              </a:rPr>
              <a:t>4.</a:t>
            </a:r>
            <a:r>
              <a:rPr lang="zh-CN" altLang="en-US" sz="2400" dirty="0" smtClean="0">
                <a:latin typeface="+mn-ea"/>
              </a:rPr>
              <a:t>执行仿真：</a:t>
            </a:r>
            <a:r>
              <a:rPr lang="en-US" altLang="zh-CN" sz="2400" dirty="0" smtClean="0">
                <a:latin typeface="+mn-ea"/>
              </a:rPr>
              <a:t>run –all</a:t>
            </a:r>
          </a:p>
          <a:p>
            <a:r>
              <a:rPr lang="en-US" altLang="zh-CN" sz="2400" dirty="0" smtClean="0">
                <a:latin typeface="+mn-ea"/>
              </a:rPr>
              <a:t>  </a:t>
            </a:r>
            <a:r>
              <a:rPr lang="zh-CN" altLang="en-US" sz="2400" dirty="0" smtClean="0">
                <a:latin typeface="+mn-ea"/>
              </a:rPr>
              <a:t>如果结果正确，会显示消息“</a:t>
            </a:r>
            <a:r>
              <a:rPr lang="en-US" altLang="zh-CN" sz="2400" dirty="0" smtClean="0">
                <a:latin typeface="+mn-ea"/>
              </a:rPr>
              <a:t>Simulation </a:t>
            </a:r>
            <a:r>
              <a:rPr lang="en-US" altLang="zh-CN" sz="2400" dirty="0">
                <a:latin typeface="+mn-ea"/>
              </a:rPr>
              <a:t>completely </a:t>
            </a:r>
            <a:r>
              <a:rPr lang="en-US" altLang="zh-CN" sz="2400" dirty="0" smtClean="0">
                <a:latin typeface="+mn-ea"/>
              </a:rPr>
              <a:t>successful</a:t>
            </a:r>
            <a:r>
              <a:rPr lang="zh-CN" altLang="en-US" sz="2400" dirty="0" smtClean="0">
                <a:latin typeface="+mn-ea"/>
              </a:rPr>
              <a:t>”，否则显示消息“</a:t>
            </a:r>
            <a:r>
              <a:rPr lang="en-US" altLang="zh-CN" sz="2400" dirty="0">
                <a:latin typeface="+mn-ea"/>
              </a:rPr>
              <a:t>Execution error happened!!!</a:t>
            </a:r>
            <a:r>
              <a:rPr lang="zh-CN" altLang="en-US" sz="2400" dirty="0" smtClean="0">
                <a:latin typeface="+mn-ea"/>
              </a:rPr>
              <a:t>”。</a:t>
            </a:r>
            <a:endParaRPr lang="en-US" altLang="zh-CN" sz="2400" dirty="0" smtClean="0">
              <a:latin typeface="+mn-ea"/>
            </a:endParaRPr>
          </a:p>
          <a:p>
            <a:endParaRPr lang="en-US" altLang="zh-CN" sz="2400" dirty="0">
              <a:latin typeface="+mn-ea"/>
            </a:endParaRPr>
          </a:p>
          <a:p>
            <a:r>
              <a:rPr lang="zh-CN" altLang="en-US" sz="2400" dirty="0" smtClean="0">
                <a:latin typeface="+mn-ea"/>
              </a:rPr>
              <a:t>重新执行：</a:t>
            </a:r>
            <a:r>
              <a:rPr lang="en-US" altLang="zh-CN" sz="2400" dirty="0" smtClean="0">
                <a:latin typeface="+mn-ea"/>
              </a:rPr>
              <a:t>restart</a:t>
            </a:r>
          </a:p>
          <a:p>
            <a:pPr marL="342900" indent="-342900">
              <a:buAutoNum type="arabicPeriod"/>
            </a:pPr>
            <a:endParaRPr lang="en-US" altLang="zh-CN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241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4609207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Arial" pitchFamily="34" charset="0"/>
              </a:rPr>
              <a:t>五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FPGA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测试（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RISC16+UART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通信）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33</a:t>
            </a:fld>
            <a:endParaRPr kumimoji="1" lang="ja-JP" altLang="en-US" dirty="0"/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34578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400" dirty="0" smtClean="0">
                <a:solidFill>
                  <a:srgbClr val="FF0000"/>
                </a:solidFill>
              </a:rPr>
              <a:t>RISC16+UART</a:t>
            </a:r>
            <a:r>
              <a:rPr lang="zh-CN" altLang="en-US" sz="2400" dirty="0" smtClean="0">
                <a:solidFill>
                  <a:srgbClr val="FF0000"/>
                </a:solidFill>
              </a:rPr>
              <a:t>通信平台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03848" y="3429000"/>
            <a:ext cx="1152128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RISC16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7223907" y="2788332"/>
            <a:ext cx="1152128" cy="14253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DATA</a:t>
            </a:r>
          </a:p>
          <a:p>
            <a:pPr algn="ctr"/>
            <a:r>
              <a:rPr lang="en-US" altLang="zh-CN" dirty="0" smtClean="0"/>
              <a:t>Memory</a:t>
            </a:r>
          </a:p>
          <a:p>
            <a:pPr algn="ctr"/>
            <a:r>
              <a:rPr lang="en-US" altLang="zh-CN" dirty="0" smtClean="0"/>
              <a:t>(</a:t>
            </a:r>
            <a:r>
              <a:rPr lang="en-US" altLang="zh-CN" dirty="0" err="1" smtClean="0"/>
              <a:t>DataRAM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27584" y="3429000"/>
            <a:ext cx="1296144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Instruction</a:t>
            </a:r>
          </a:p>
          <a:p>
            <a:pPr algn="ctr"/>
            <a:r>
              <a:rPr lang="en-US" altLang="zh-CN" dirty="0" smtClean="0"/>
              <a:t>Memory</a:t>
            </a:r>
          </a:p>
          <a:p>
            <a:pPr algn="ctr"/>
            <a:r>
              <a:rPr lang="en-US" altLang="zh-CN" dirty="0" smtClean="0"/>
              <a:t>(</a:t>
            </a:r>
            <a:r>
              <a:rPr lang="en-US" altLang="zh-CN" dirty="0" err="1" smtClean="0"/>
              <a:t>InstRAM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2123728" y="3933056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53"/>
          <p:cNvSpPr txBox="1"/>
          <p:nvPr/>
        </p:nvSpPr>
        <p:spPr>
          <a:xfrm>
            <a:off x="2267744" y="370222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InstAddr</a:t>
            </a:r>
            <a:endParaRPr lang="en-US" altLang="zh-CN" sz="1200" dirty="0" smtClean="0"/>
          </a:p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#32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123728" y="4797152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9"/>
          <p:cNvSpPr txBox="1"/>
          <p:nvPr/>
        </p:nvSpPr>
        <p:spPr>
          <a:xfrm>
            <a:off x="2267744" y="4509120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Inst </a:t>
            </a:r>
            <a:r>
              <a:rPr lang="zh-CN" altLang="en-US" sz="1200" dirty="0" smtClean="0"/>
              <a:t>（</a:t>
            </a:r>
            <a:r>
              <a:rPr lang="en-US" altLang="zh-CN" sz="1200" dirty="0" smtClean="0"/>
              <a:t>#16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355976" y="3717032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65"/>
          <p:cNvSpPr txBox="1"/>
          <p:nvPr/>
        </p:nvSpPr>
        <p:spPr>
          <a:xfrm>
            <a:off x="4499992" y="3501008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DAddr</a:t>
            </a:r>
            <a:endParaRPr lang="en-US" altLang="zh-CN" sz="1200" dirty="0" smtClean="0"/>
          </a:p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#32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4355976" y="4191471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68"/>
          <p:cNvSpPr txBox="1"/>
          <p:nvPr/>
        </p:nvSpPr>
        <p:spPr>
          <a:xfrm>
            <a:off x="4499992" y="3975447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DW</a:t>
            </a:r>
          </a:p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#1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355976" y="458112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72"/>
          <p:cNvSpPr txBox="1"/>
          <p:nvPr/>
        </p:nvSpPr>
        <p:spPr>
          <a:xfrm>
            <a:off x="4499992" y="436510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WData</a:t>
            </a:r>
            <a:endParaRPr lang="en-US" altLang="zh-CN" sz="1200" dirty="0" smtClean="0"/>
          </a:p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#32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355976" y="5055567"/>
            <a:ext cx="1080120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76"/>
          <p:cNvSpPr txBox="1"/>
          <p:nvPr/>
        </p:nvSpPr>
        <p:spPr>
          <a:xfrm>
            <a:off x="4499992" y="4839543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RData</a:t>
            </a:r>
            <a:endParaRPr lang="en-US" altLang="zh-CN" sz="1200" dirty="0" smtClean="0"/>
          </a:p>
          <a:p>
            <a:r>
              <a:rPr lang="zh-CN" altLang="en-US" sz="1200" dirty="0" smtClean="0"/>
              <a:t>（</a:t>
            </a:r>
            <a:r>
              <a:rPr lang="en-US" altLang="zh-CN" sz="1200" dirty="0" smtClean="0"/>
              <a:t>#32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4104612" y="1916832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79"/>
          <p:cNvSpPr txBox="1"/>
          <p:nvPr/>
        </p:nvSpPr>
        <p:spPr>
          <a:xfrm>
            <a:off x="3744572" y="1671191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CLK</a:t>
            </a:r>
            <a:endParaRPr lang="zh-CN" altLang="en-US" sz="1200" dirty="0"/>
          </a:p>
        </p:txBody>
      </p:sp>
      <p:sp>
        <p:nvSpPr>
          <p:cNvPr id="28" name="TextBox 181"/>
          <p:cNvSpPr txBox="1"/>
          <p:nvPr/>
        </p:nvSpPr>
        <p:spPr>
          <a:xfrm>
            <a:off x="4644008" y="1638294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 smtClean="0"/>
              <a:t>Rstn</a:t>
            </a:r>
            <a:endParaRPr lang="zh-CN" altLang="en-US" sz="1200" dirty="0"/>
          </a:p>
        </p:txBody>
      </p:sp>
      <p:sp>
        <p:nvSpPr>
          <p:cNvPr id="30" name="圆角矩形 29"/>
          <p:cNvSpPr/>
          <p:nvPr/>
        </p:nvSpPr>
        <p:spPr>
          <a:xfrm>
            <a:off x="539552" y="2348880"/>
            <a:ext cx="8136904" cy="38884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7219410" y="4372508"/>
            <a:ext cx="1152128" cy="14253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UART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5442069" y="2784630"/>
            <a:ext cx="828092" cy="3016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BUS</a:t>
            </a:r>
            <a:endParaRPr lang="zh-CN" altLang="en-US" dirty="0"/>
          </a:p>
        </p:txBody>
      </p:sp>
      <p:cxnSp>
        <p:nvCxnSpPr>
          <p:cNvPr id="52" name="直接箭头连接符 51"/>
          <p:cNvCxnSpPr/>
          <p:nvPr/>
        </p:nvCxnSpPr>
        <p:spPr>
          <a:xfrm>
            <a:off x="5004048" y="1916832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8306454" y="4940858"/>
            <a:ext cx="597052" cy="45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8388424" y="5217857"/>
            <a:ext cx="483067" cy="11343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176"/>
          <p:cNvSpPr txBox="1"/>
          <p:nvPr/>
        </p:nvSpPr>
        <p:spPr>
          <a:xfrm>
            <a:off x="8698285" y="4639652"/>
            <a:ext cx="482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TXD</a:t>
            </a:r>
            <a:endParaRPr lang="zh-CN" altLang="en-US" sz="1200" dirty="0"/>
          </a:p>
        </p:txBody>
      </p:sp>
      <p:sp>
        <p:nvSpPr>
          <p:cNvPr id="58" name="TextBox 176"/>
          <p:cNvSpPr txBox="1"/>
          <p:nvPr/>
        </p:nvSpPr>
        <p:spPr>
          <a:xfrm>
            <a:off x="8724406" y="5208002"/>
            <a:ext cx="482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R</a:t>
            </a:r>
            <a:r>
              <a:rPr lang="en-US" altLang="zh-CN" sz="1200" dirty="0" smtClean="0"/>
              <a:t>XD</a:t>
            </a:r>
            <a:endParaRPr lang="zh-CN" altLang="en-US" sz="1200" dirty="0"/>
          </a:p>
        </p:txBody>
      </p:sp>
      <p:sp>
        <p:nvSpPr>
          <p:cNvPr id="2" name="左右箭头 1"/>
          <p:cNvSpPr/>
          <p:nvPr/>
        </p:nvSpPr>
        <p:spPr>
          <a:xfrm>
            <a:off x="6270161" y="3284984"/>
            <a:ext cx="949249" cy="417240"/>
          </a:xfrm>
          <a:prstGeom prst="leftRightArrow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左右箭头 55"/>
          <p:cNvSpPr/>
          <p:nvPr/>
        </p:nvSpPr>
        <p:spPr>
          <a:xfrm>
            <a:off x="6291015" y="4932092"/>
            <a:ext cx="949249" cy="417240"/>
          </a:xfrm>
          <a:prstGeom prst="leftRightArrow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40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0" descr="C:\Users\Administrator\Desktop\未标题-1副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396"/>
            <a:ext cx="9217025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 descr="院徽、文字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25971"/>
            <a:ext cx="25161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250825" y="692696"/>
            <a:ext cx="4609207" cy="539750"/>
          </a:xfrm>
          <a:prstGeom prst="rect">
            <a:avLst/>
          </a:prstGeom>
          <a:solidFill>
            <a:srgbClr val="0099CC"/>
          </a:solidFill>
          <a:ln w="9525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Arial" pitchFamily="34" charset="0"/>
              </a:rPr>
              <a:t>五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FPGA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测试（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UART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  <a:sym typeface="Arial" pitchFamily="34" charset="0"/>
              </a:rPr>
              <a:t>通信）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  <a:sym typeface="Arial" pitchFamily="34" charset="0"/>
            </a:endParaRPr>
          </a:p>
        </p:txBody>
      </p:sp>
      <p:sp>
        <p:nvSpPr>
          <p:cNvPr id="14" name="日期占位符 2"/>
          <p:cNvSpPr txBox="1">
            <a:spLocks noGrp="1" noChangeArrowheads="1"/>
          </p:cNvSpPr>
          <p:nvPr/>
        </p:nvSpPr>
        <p:spPr bwMode="auto">
          <a:xfrm>
            <a:off x="8388424" y="6562725"/>
            <a:ext cx="79573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</a:rPr>
              <a:t>中南大学   </a:t>
            </a:r>
            <a:endParaRPr lang="zh-CN" altLang="en-US" dirty="0">
              <a:solidFill>
                <a:schemeClr val="bg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16016" y="65253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7B23BAD-B6E0-4C0C-B798-37936A02B701}" type="slidenum">
              <a:rPr kumimoji="1" lang="ja-JP" altLang="en-US" smtClean="0"/>
              <a:pPr/>
              <a:t>34</a:t>
            </a:fld>
            <a:endParaRPr kumimoji="1" lang="ja-JP" altLang="en-US" dirty="0"/>
          </a:p>
        </p:txBody>
      </p:sp>
      <p:sp>
        <p:nvSpPr>
          <p:cNvPr id="307" name="正方形/長方形 306"/>
          <p:cNvSpPr/>
          <p:nvPr/>
        </p:nvSpPr>
        <p:spPr>
          <a:xfrm>
            <a:off x="611560" y="1268760"/>
            <a:ext cx="11464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步骤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7564" y="1729009"/>
            <a:ext cx="81369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+mn-ea"/>
              </a:rPr>
              <a:t>1.</a:t>
            </a:r>
            <a:r>
              <a:rPr lang="zh-CN" altLang="en-US" dirty="0" smtClean="0">
                <a:latin typeface="+mn-ea"/>
              </a:rPr>
              <a:t>在</a:t>
            </a:r>
            <a:r>
              <a:rPr lang="en-US" altLang="zh-CN" dirty="0" smtClean="0">
                <a:latin typeface="+mn-ea"/>
              </a:rPr>
              <a:t>FPGA</a:t>
            </a:r>
            <a:r>
              <a:rPr lang="zh-CN" altLang="en-US" dirty="0" smtClean="0">
                <a:latin typeface="+mn-ea"/>
              </a:rPr>
              <a:t>子目</a:t>
            </a:r>
            <a:r>
              <a:rPr lang="zh-CN" altLang="en-US" dirty="0">
                <a:latin typeface="+mn-ea"/>
              </a:rPr>
              <a:t>录中建立</a:t>
            </a:r>
            <a:r>
              <a:rPr lang="en-US" altLang="zh-CN" dirty="0" err="1" smtClean="0">
                <a:latin typeface="+mn-ea"/>
              </a:rPr>
              <a:t>QuartusII</a:t>
            </a:r>
            <a:r>
              <a:rPr lang="zh-CN" altLang="en-US" dirty="0" smtClean="0">
                <a:latin typeface="+mn-ea"/>
              </a:rPr>
              <a:t>工程</a:t>
            </a:r>
            <a:r>
              <a:rPr lang="en-US" altLang="zh-CN" dirty="0" smtClean="0">
                <a:latin typeface="+mn-ea"/>
              </a:rPr>
              <a:t>RISC16_UART</a:t>
            </a:r>
            <a:r>
              <a:rPr lang="zh-CN" altLang="en-US" dirty="0" smtClean="0">
                <a:latin typeface="+mn-ea"/>
              </a:rPr>
              <a:t>；</a:t>
            </a:r>
            <a:endParaRPr lang="en-US" altLang="zh-CN" dirty="0" smtClean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2.</a:t>
            </a:r>
            <a:r>
              <a:rPr lang="zh-CN" altLang="en-US" dirty="0" smtClean="0">
                <a:latin typeface="+mn-ea"/>
              </a:rPr>
              <a:t>利用</a:t>
            </a:r>
            <a:r>
              <a:rPr lang="en-US" altLang="zh-CN" dirty="0" err="1" smtClean="0">
                <a:latin typeface="+mn-ea"/>
              </a:rPr>
              <a:t>MegaWizard</a:t>
            </a:r>
            <a:r>
              <a:rPr lang="en-US" altLang="zh-CN" dirty="0" smtClean="0">
                <a:latin typeface="+mn-ea"/>
              </a:rPr>
              <a:t> Plug-in Manager</a:t>
            </a:r>
            <a:r>
              <a:rPr lang="zh-CN" altLang="en-US" dirty="0" smtClean="0">
                <a:latin typeface="+mn-ea"/>
              </a:rPr>
              <a:t>定制</a:t>
            </a:r>
            <a:r>
              <a:rPr lang="en-US" altLang="zh-CN" dirty="0" err="1" smtClean="0">
                <a:latin typeface="+mn-ea"/>
              </a:rPr>
              <a:t>InstRAM</a:t>
            </a:r>
            <a:r>
              <a:rPr lang="en-US" altLang="zh-CN" dirty="0" smtClean="0">
                <a:latin typeface="+mn-ea"/>
              </a:rPr>
              <a:t>(1-port:ROM,256x16,</a:t>
            </a:r>
            <a:r>
              <a:rPr lang="zh-CN" altLang="en-US" dirty="0" smtClean="0">
                <a:latin typeface="+mn-ea"/>
              </a:rPr>
              <a:t>输出端口不用寄存器保存</a:t>
            </a:r>
            <a:r>
              <a:rPr lang="en-US" altLang="zh-CN" dirty="0" smtClean="0">
                <a:latin typeface="+mn-ea"/>
              </a:rPr>
              <a:t>),</a:t>
            </a:r>
            <a:r>
              <a:rPr lang="zh-CN" altLang="en-US" dirty="0" smtClean="0">
                <a:latin typeface="+mn-ea"/>
              </a:rPr>
              <a:t>并指定初始化文件</a:t>
            </a:r>
            <a:r>
              <a:rPr lang="en-US" altLang="zh-CN" dirty="0" err="1" smtClean="0">
                <a:latin typeface="+mn-ea"/>
              </a:rPr>
              <a:t>InstRAM.hex</a:t>
            </a:r>
            <a:r>
              <a:rPr lang="en-US" altLang="zh-CN" dirty="0" smtClean="0">
                <a:latin typeface="+mn-ea"/>
              </a:rPr>
              <a:t>.</a:t>
            </a:r>
          </a:p>
          <a:p>
            <a:r>
              <a:rPr lang="en-US" altLang="zh-CN" dirty="0" smtClean="0">
                <a:latin typeface="+mn-ea"/>
              </a:rPr>
              <a:t>3.</a:t>
            </a:r>
            <a:r>
              <a:rPr lang="zh-CN" altLang="en-US" dirty="0">
                <a:latin typeface="+mn-ea"/>
              </a:rPr>
              <a:t>利用</a:t>
            </a:r>
            <a:r>
              <a:rPr lang="en-US" altLang="zh-CN" dirty="0" err="1">
                <a:latin typeface="+mn-ea"/>
              </a:rPr>
              <a:t>MegaWizard</a:t>
            </a:r>
            <a:r>
              <a:rPr lang="en-US" altLang="zh-CN" dirty="0">
                <a:latin typeface="+mn-ea"/>
              </a:rPr>
              <a:t> Plug-in Manager</a:t>
            </a:r>
            <a:r>
              <a:rPr lang="zh-CN" altLang="en-US" dirty="0">
                <a:latin typeface="+mn-ea"/>
              </a:rPr>
              <a:t>定</a:t>
            </a:r>
            <a:r>
              <a:rPr lang="zh-CN" altLang="en-US" dirty="0" smtClean="0">
                <a:latin typeface="+mn-ea"/>
              </a:rPr>
              <a:t>制</a:t>
            </a:r>
            <a:r>
              <a:rPr lang="en-US" altLang="zh-CN" dirty="0" err="1" smtClean="0">
                <a:latin typeface="+mn-ea"/>
              </a:rPr>
              <a:t>DataRAM</a:t>
            </a:r>
            <a:r>
              <a:rPr lang="en-US" altLang="zh-CN" dirty="0" smtClean="0">
                <a:latin typeface="+mn-ea"/>
              </a:rPr>
              <a:t>(1-port:RAM,256x32</a:t>
            </a:r>
            <a:r>
              <a:rPr lang="zh-CN" altLang="en-US" dirty="0" smtClean="0">
                <a:latin typeface="+mn-ea"/>
              </a:rPr>
              <a:t>，输</a:t>
            </a:r>
            <a:r>
              <a:rPr lang="zh-CN" altLang="en-US" dirty="0">
                <a:latin typeface="+mn-ea"/>
              </a:rPr>
              <a:t>出端口不用寄存器保存</a:t>
            </a:r>
            <a:r>
              <a:rPr lang="en-US" altLang="zh-CN" dirty="0">
                <a:latin typeface="+mn-ea"/>
              </a:rPr>
              <a:t>),</a:t>
            </a:r>
            <a:r>
              <a:rPr lang="zh-CN" altLang="en-US" dirty="0">
                <a:latin typeface="+mn-ea"/>
              </a:rPr>
              <a:t>并指定初始化文</a:t>
            </a:r>
            <a:r>
              <a:rPr lang="zh-CN" altLang="en-US" dirty="0" smtClean="0">
                <a:latin typeface="+mn-ea"/>
              </a:rPr>
              <a:t>件</a:t>
            </a:r>
            <a:r>
              <a:rPr lang="en-US" altLang="zh-CN" dirty="0" err="1" smtClean="0">
                <a:latin typeface="+mn-ea"/>
              </a:rPr>
              <a:t>DataRAM.hex</a:t>
            </a:r>
            <a:r>
              <a:rPr lang="en-US" altLang="zh-CN" dirty="0">
                <a:latin typeface="+mn-ea"/>
              </a:rPr>
              <a:t>.</a:t>
            </a:r>
          </a:p>
          <a:p>
            <a:r>
              <a:rPr lang="en-US" altLang="zh-CN" dirty="0" smtClean="0">
                <a:latin typeface="+mn-ea"/>
              </a:rPr>
              <a:t>4.</a:t>
            </a:r>
            <a:r>
              <a:rPr lang="zh-CN" altLang="en-US" dirty="0">
                <a:latin typeface="+mn-ea"/>
              </a:rPr>
              <a:t>添</a:t>
            </a:r>
            <a:r>
              <a:rPr lang="zh-CN" altLang="en-US" dirty="0" smtClean="0">
                <a:latin typeface="+mn-ea"/>
              </a:rPr>
              <a:t>加所有设</a:t>
            </a:r>
            <a:r>
              <a:rPr lang="zh-CN" altLang="en-US" dirty="0">
                <a:latin typeface="+mn-ea"/>
              </a:rPr>
              <a:t>计文件（</a:t>
            </a:r>
            <a:r>
              <a:rPr lang="en-US" altLang="zh-CN" dirty="0" smtClean="0">
                <a:latin typeface="+mn-ea"/>
              </a:rPr>
              <a:t>RISC16,UART,BUS,InstRAM, </a:t>
            </a:r>
            <a:r>
              <a:rPr lang="en-US" altLang="zh-CN" dirty="0" err="1" smtClean="0">
                <a:latin typeface="+mn-ea"/>
              </a:rPr>
              <a:t>DataRAM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；</a:t>
            </a:r>
            <a:endParaRPr lang="en-US" altLang="zh-CN" dirty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5.</a:t>
            </a:r>
            <a:r>
              <a:rPr lang="zh-CN" altLang="en-US" dirty="0" smtClean="0">
                <a:latin typeface="+mn-ea"/>
              </a:rPr>
              <a:t>设计顶层模块</a:t>
            </a:r>
            <a:r>
              <a:rPr lang="en-US" altLang="zh-CN" dirty="0" smtClean="0">
                <a:latin typeface="+mn-ea"/>
              </a:rPr>
              <a:t>RISC16_UART</a:t>
            </a:r>
            <a:r>
              <a:rPr lang="zh-CN" altLang="en-US" dirty="0" smtClean="0">
                <a:latin typeface="+mn-ea"/>
              </a:rPr>
              <a:t>（代码</a:t>
            </a:r>
            <a:r>
              <a:rPr lang="zh-CN" altLang="en-US" dirty="0">
                <a:latin typeface="+mn-ea"/>
              </a:rPr>
              <a:t>方式</a:t>
            </a:r>
            <a:r>
              <a:rPr lang="zh-CN" altLang="en-US" dirty="0" smtClean="0">
                <a:latin typeface="+mn-ea"/>
              </a:rPr>
              <a:t>或原理图方式）</a:t>
            </a:r>
            <a:endParaRPr lang="en-US" altLang="zh-CN" dirty="0" smtClean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6.</a:t>
            </a:r>
            <a:r>
              <a:rPr lang="zh-CN" altLang="en-US" smtClean="0">
                <a:latin typeface="+mn-ea"/>
              </a:rPr>
              <a:t>引脚分配；</a:t>
            </a:r>
            <a:endParaRPr lang="en-US" altLang="zh-CN" dirty="0" smtClean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7.</a:t>
            </a:r>
            <a:r>
              <a:rPr lang="zh-CN" altLang="en-US" dirty="0" smtClean="0">
                <a:latin typeface="+mn-ea"/>
              </a:rPr>
              <a:t>在</a:t>
            </a:r>
            <a:r>
              <a:rPr lang="en-US" altLang="zh-CN" dirty="0" smtClean="0">
                <a:latin typeface="+mn-ea"/>
              </a:rPr>
              <a:t>Assignment&gt;Setting</a:t>
            </a:r>
            <a:r>
              <a:rPr lang="zh-CN" altLang="en-US" dirty="0" smtClean="0">
                <a:latin typeface="+mn-ea"/>
              </a:rPr>
              <a:t>中，勾选</a:t>
            </a:r>
            <a:r>
              <a:rPr lang="en-US" altLang="zh-CN" dirty="0" smtClean="0">
                <a:latin typeface="+mn-ea"/>
              </a:rPr>
              <a:t>Physical Synthesis Optimization&gt;Perform register retiming</a:t>
            </a:r>
            <a:r>
              <a:rPr lang="zh-CN" altLang="en-US" dirty="0" smtClean="0">
                <a:latin typeface="+mn-ea"/>
              </a:rPr>
              <a:t>及</a:t>
            </a:r>
            <a:r>
              <a:rPr lang="en-US" altLang="zh-CN" dirty="0" smtClean="0">
                <a:latin typeface="+mn-ea"/>
              </a:rPr>
              <a:t>Effort </a:t>
            </a:r>
            <a:r>
              <a:rPr lang="en-US" altLang="zh-CN" dirty="0" err="1" smtClean="0">
                <a:latin typeface="+mn-ea"/>
              </a:rPr>
              <a:t>level:Extra</a:t>
            </a:r>
            <a:r>
              <a:rPr lang="en-US" altLang="zh-CN" dirty="0" smtClean="0">
                <a:latin typeface="+mn-ea"/>
              </a:rPr>
              <a:t>; Analysis &amp; Synthesis Setting&gt;Optimization </a:t>
            </a:r>
            <a:r>
              <a:rPr lang="en-US" altLang="zh-CN" dirty="0" err="1" smtClean="0">
                <a:latin typeface="+mn-ea"/>
              </a:rPr>
              <a:t>Technique:Speed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进行编译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8. </a:t>
            </a:r>
            <a:r>
              <a:rPr lang="zh-CN" altLang="en-US" dirty="0" smtClean="0">
                <a:latin typeface="+mn-ea"/>
              </a:rPr>
              <a:t>配置</a:t>
            </a:r>
            <a:r>
              <a:rPr lang="en-US" altLang="zh-CN" dirty="0" smtClean="0">
                <a:latin typeface="+mn-ea"/>
              </a:rPr>
              <a:t>FPGA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zh-CN" dirty="0"/>
              <a:t>连接</a:t>
            </a:r>
            <a:r>
              <a:rPr lang="en-US" altLang="zh-CN" dirty="0"/>
              <a:t>RS232</a:t>
            </a:r>
            <a:r>
              <a:rPr lang="zh-CN" altLang="zh-CN" dirty="0"/>
              <a:t>电缆，运行串口通信</a:t>
            </a:r>
            <a:r>
              <a:rPr lang="en-US" altLang="zh-CN" dirty="0"/>
              <a:t>.exe,</a:t>
            </a:r>
            <a:r>
              <a:rPr lang="zh-CN" altLang="zh-CN" dirty="0"/>
              <a:t>设置串口（设备管理器中可查找串口号），波特率</a:t>
            </a:r>
            <a:r>
              <a:rPr lang="en-US" altLang="zh-CN" dirty="0"/>
              <a:t>4800</a:t>
            </a:r>
            <a:r>
              <a:rPr lang="zh-CN" altLang="zh-CN" dirty="0"/>
              <a:t>，数据位</a:t>
            </a:r>
            <a:r>
              <a:rPr lang="en-US" altLang="zh-CN" dirty="0"/>
              <a:t>8</a:t>
            </a:r>
            <a:r>
              <a:rPr lang="zh-CN" altLang="zh-CN" dirty="0"/>
              <a:t>， 校验位无，停止位</a:t>
            </a:r>
            <a:r>
              <a:rPr lang="en-US" altLang="zh-CN" dirty="0"/>
              <a:t>1</a:t>
            </a:r>
            <a:r>
              <a:rPr lang="zh-CN" altLang="zh-CN" dirty="0"/>
              <a:t>，不勾选校验，勾选</a:t>
            </a:r>
            <a:r>
              <a:rPr lang="en-US" altLang="zh-CN" dirty="0"/>
              <a:t>HEX</a:t>
            </a:r>
            <a:r>
              <a:rPr lang="zh-CN" altLang="zh-CN" dirty="0"/>
              <a:t>、自动换行、显示间隔等；点击“打开串口”，在发送栏输入数据“</a:t>
            </a:r>
            <a:r>
              <a:rPr lang="en-US" altLang="zh-CN" dirty="0"/>
              <a:t>00 01 02 03 04 05 06 07 08 09 0A 0B 0C 0D 0E 0F”,</a:t>
            </a:r>
            <a:r>
              <a:rPr lang="zh-CN" altLang="zh-CN" dirty="0"/>
              <a:t>点击发送，观察接受窗口是否能够接受</a:t>
            </a:r>
            <a:r>
              <a:rPr lang="zh-CN" altLang="zh-CN" dirty="0" smtClean="0"/>
              <a:t>到</a:t>
            </a:r>
            <a:r>
              <a:rPr lang="zh-CN" altLang="en-US" dirty="0"/>
              <a:t>每</a:t>
            </a:r>
            <a:r>
              <a:rPr lang="zh-CN" altLang="en-US" dirty="0" smtClean="0"/>
              <a:t>个字节</a:t>
            </a:r>
            <a:r>
              <a:rPr lang="en-US" altLang="zh-CN" dirty="0" smtClean="0"/>
              <a:t>+4</a:t>
            </a:r>
            <a:r>
              <a:rPr lang="zh-CN" altLang="en-US" dirty="0" smtClean="0"/>
              <a:t>后</a:t>
            </a:r>
            <a:r>
              <a:rPr lang="zh-CN" altLang="en-US" dirty="0"/>
              <a:t>结果</a:t>
            </a:r>
            <a:r>
              <a:rPr lang="zh-CN" altLang="zh-CN" dirty="0" smtClean="0"/>
              <a:t>。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81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4009</TotalTime>
  <Words>1719</Words>
  <Application>Microsoft Office PowerPoint</Application>
  <PresentationFormat>全屏显示(4:3)</PresentationFormat>
  <Paragraphs>591</Paragraphs>
  <Slides>34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MS Mincho</vt:lpstr>
      <vt:lpstr>ＭＳ Ｐゴシック</vt:lpstr>
      <vt:lpstr>等线</vt:lpstr>
      <vt:lpstr>宋体</vt:lpstr>
      <vt:lpstr>Arial</vt:lpstr>
      <vt:lpstr>Calibri</vt:lpstr>
      <vt:lpstr>Times New Roman</vt:lpstr>
      <vt:lpstr>Office テーマ</vt:lpstr>
      <vt:lpstr>Microsoft Word Picture</vt:lpstr>
      <vt:lpstr>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Jun</dc:creator>
  <cp:lastModifiedBy>张俊</cp:lastModifiedBy>
  <cp:revision>73</cp:revision>
  <dcterms:created xsi:type="dcterms:W3CDTF">2015-06-28T14:22:23Z</dcterms:created>
  <dcterms:modified xsi:type="dcterms:W3CDTF">2023-01-04T11:32:58Z</dcterms:modified>
</cp:coreProperties>
</file>